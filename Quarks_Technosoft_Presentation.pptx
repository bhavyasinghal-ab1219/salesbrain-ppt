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-1371600"/>
            <a:ext cx="6400800" cy="6400800"/>
          </a:xfrm>
          <a:prstGeom prst="ellipse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3200400"/>
            <a:ext cx="4114800" cy="4114800"/>
          </a:xfrm>
          <a:prstGeom prst="ellipse">
            <a:avLst/>
          </a:prstGeom>
          <a:solidFill>
            <a:srgbClr val="004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QUARKS TECHNOSOFT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PVT. LTD.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D4F8"/>
                </a:solidFill>
              </a:rPr>
              <a:t>Simplifying IT Consulting, Outsourcing &amp;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634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C200"/>
                </a:solidFill>
              </a:rPr>
              <a:t>17+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4F8"/>
                </a:solidFill>
              </a:rPr>
              <a:t>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46634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C200"/>
                </a:solidFill>
              </a:rPr>
              <a:t>225+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4F8"/>
                </a:solidFill>
              </a:rPr>
              <a:t>Clients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46634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C200"/>
                </a:solidFill>
              </a:rPr>
              <a:t>1000+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4F8"/>
                </a:solidFill>
              </a:rPr>
              <a:t>Experts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46634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C200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4F8"/>
                </a:solidFill>
              </a:rPr>
              <a:t>Continents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85"/>
                </a:solidFill>
              </a:rPr>
              <a:t>www.qtsolv.com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ABOUT QUARKS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1F44"/>
                </a:solidFill>
              </a:rPr>
              <a:t>Our Story &amp;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23344"/>
                </a:solidFill>
              </a:rPr>
              <a:t>Founded in 2012 by Vipin Vindal, an IIT alumnus, Quarks Technosoft Pvt. Ltd. was built with a singular vision — to harness digital transformation and help organizations thrive in an ever-evolving technology landscape.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223344"/>
                </a:solidFill>
              </a:rPr>
              <a:t>
Over 17 years of innovation, Quarks has grown into one of India's leading IT consulting, outsourcing, and software development companies — trusted by 225+ clients across the globe.</a:t>
            </a:r>
          </a:p>
          <a:p>
            <a:pPr algn="l">
              <a:spcBef>
                <a:spcPts val="400"/>
              </a:spcBef>
            </a:pPr>
            <a:r>
              <a:rPr sz="1200" b="0" i="1">
                <a:solidFill>
                  <a:srgbClr val="0078D4"/>
                </a:solidFill>
              </a:rPr>
              <a:t>
"We don't just believe in getting bigger — we believe in getting better. Aligning your success with your customers' success is the win-win we strive for."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051560"/>
            <a:ext cx="5303520" cy="5029200"/>
          </a:xfrm>
          <a:prstGeom prst="rect">
            <a:avLst/>
          </a:prstGeom>
          <a:solidFill>
            <a:srgbClr val="F0F7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1887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Key 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6A85"/>
                </a:solidFill>
              </a:rPr>
              <a:t>Founded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691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F44"/>
                </a:solidFill>
              </a:rPr>
              <a:t>2012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3591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6A85"/>
                </a:solidFill>
              </a:rPr>
              <a:t>Certifications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35915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F44"/>
                </a:solidFill>
              </a:rPr>
              <a:t>CMMI, ISO 9001, ISO 27001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02666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6A85"/>
                </a:solidFill>
              </a:rPr>
              <a:t>Recognition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302666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F44"/>
                </a:solidFill>
              </a:rPr>
              <a:t>Great Place to Work Certified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69417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6A85"/>
                </a:solidFill>
              </a:rPr>
              <a:t>Partnerships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69417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F44"/>
                </a:solidFill>
              </a:rPr>
              <a:t>Salesforce, Databricks Partner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3616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6A85"/>
                </a:solidFill>
              </a:rPr>
              <a:t>Global Presence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43616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F44"/>
                </a:solidFill>
              </a:rPr>
              <a:t>India, USA, Canada, Singapore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6A85"/>
                </a:solidFill>
              </a:rPr>
              <a:t>Contact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5029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F44"/>
                </a:solidFill>
              </a:rPr>
              <a:t>contact@qtsolv.com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OUR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F44"/>
                </a:solidFill>
              </a:rPr>
              <a:t>Next-Gen IT Services That Empower Businesses to Thrive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88720"/>
            <a:ext cx="2743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8D4"/>
                </a:solidFill>
              </a:rPr>
              <a:t>Product
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A85"/>
                </a:solidFill>
              </a:rPr>
              <a:t>End-to-end product development, design &amp; lifecycle management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188720"/>
            <a:ext cx="2743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2984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8D4"/>
                </a:solidFill>
              </a:rPr>
              <a:t>Quality
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5848" y="178308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A85"/>
                </a:solidFill>
              </a:rPr>
              <a:t>Rigorous testing, automation &amp; quality assurance frameworks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8776" y="1188720"/>
            <a:ext cx="2743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2984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8D4"/>
                </a:solidFill>
              </a:rPr>
              <a:t>Cloud &amp;
DevOps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178308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A85"/>
                </a:solidFill>
              </a:rPr>
              <a:t>Streamlined cloud solutions, CI/CD &amp; DevOps automation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98864" y="1188720"/>
            <a:ext cx="2743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36024" y="12984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8D4"/>
                </a:solidFill>
              </a:rPr>
              <a:t>Salesforce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6024" y="178308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A85"/>
                </a:solidFill>
              </a:rPr>
              <a:t>CRM consulting, implementation &amp; AI-driven customization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971800"/>
            <a:ext cx="2743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0815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8D4"/>
                </a:solidFill>
              </a:rPr>
              <a:t>Artificial
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56616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A85"/>
                </a:solidFill>
              </a:rPr>
              <a:t>AI/ML solutions for automation, insights &amp; decision-making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2971800"/>
            <a:ext cx="2743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55848" y="30815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8D4"/>
                </a:solidFill>
              </a:rPr>
              <a:t>Data
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5848" y="356616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A85"/>
                </a:solidFill>
              </a:rPr>
              <a:t>Big data pipelines, warehousing &amp; actionable analytics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8776" y="2971800"/>
            <a:ext cx="2743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0815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8D4"/>
                </a:solidFill>
              </a:rPr>
              <a:t>Cybersecurity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356616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A85"/>
                </a:solidFill>
              </a:rPr>
              <a:t>End-to-end threat protection &amp; digital defense strategies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98864" y="2971800"/>
            <a:ext cx="2743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36024" y="30815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8D4"/>
                </a:solidFill>
              </a:rPr>
              <a:t>Blockchain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6024" y="356616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A85"/>
                </a:solidFill>
              </a:rPr>
              <a:t>Transparent, secure &amp; decentralized business solutions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4754880"/>
            <a:ext cx="2743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86460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8D4"/>
                </a:solidFill>
              </a:rPr>
              <a:t>eCommerce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34924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A85"/>
                </a:solidFill>
              </a:rPr>
              <a:t>Scalable, personalized &amp; secure online store solutions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4754880"/>
            <a:ext cx="2743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55848" y="486460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8D4"/>
                </a:solidFill>
              </a:rPr>
              <a:t>Data Science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55848" y="534924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A85"/>
                </a:solidFill>
              </a:rPr>
              <a:t>Advanced analytics, ML models &amp; predictive intelligence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08776" y="4754880"/>
            <a:ext cx="2743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45936" y="486460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8D4"/>
                </a:solidFill>
              </a:rPr>
              <a:t>Data
Governance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5936" y="534924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A85"/>
                </a:solidFill>
              </a:rPr>
              <a:t>Data quality, security, compliance &amp; governance frameworks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98864" y="4754880"/>
            <a:ext cx="2743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36024" y="486460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8D4"/>
                </a:solidFill>
              </a:rPr>
              <a:t>CMS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36024" y="534924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A85"/>
                </a:solidFill>
              </a:rPr>
              <a:t>Expert content management across top-tier CMS platforms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5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INDUSTRIES WE 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Tailored Solutions Across Diverse Industry Verticals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2148840" cy="1051560"/>
          </a:xfrm>
          <a:prstGeom prst="rect">
            <a:avLst/>
          </a:prstGeom>
          <a:solidFill>
            <a:srgbClr val="0E2D60"/>
          </a:solidFill>
          <a:ln w="952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49047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Fintech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234440"/>
            <a:ext cx="2148840" cy="1051560"/>
          </a:xfrm>
          <a:prstGeom prst="rect">
            <a:avLst/>
          </a:prstGeom>
          <a:solidFill>
            <a:srgbClr val="0E2D60"/>
          </a:solidFill>
          <a:ln w="952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61488" y="149047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Retail &amp; E-Commerce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234440"/>
            <a:ext cx="2148840" cy="1051560"/>
          </a:xfrm>
          <a:prstGeom prst="rect">
            <a:avLst/>
          </a:prstGeom>
          <a:solidFill>
            <a:srgbClr val="0E2D60"/>
          </a:solidFill>
          <a:ln w="952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149047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Health &amp; Pharma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234440"/>
            <a:ext cx="2148840" cy="1051560"/>
          </a:xfrm>
          <a:prstGeom prst="rect">
            <a:avLst/>
          </a:prstGeom>
          <a:solidFill>
            <a:srgbClr val="0E2D60"/>
          </a:solidFill>
          <a:ln w="952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49047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Real Estate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80" y="1234440"/>
            <a:ext cx="2148840" cy="1051560"/>
          </a:xfrm>
          <a:prstGeom prst="rect">
            <a:avLst/>
          </a:prstGeom>
          <a:solidFill>
            <a:srgbClr val="0E2D60"/>
          </a:solidFill>
          <a:ln w="952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93808" y="149047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Manufacturing &amp; Logistics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560320"/>
            <a:ext cx="2148840" cy="1051560"/>
          </a:xfrm>
          <a:prstGeom prst="rect">
            <a:avLst/>
          </a:prstGeom>
          <a:solidFill>
            <a:srgbClr val="0E2D60"/>
          </a:solidFill>
          <a:ln w="952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81635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Telecom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560320"/>
            <a:ext cx="2148840" cy="1051560"/>
          </a:xfrm>
          <a:prstGeom prst="rect">
            <a:avLst/>
          </a:prstGeom>
          <a:solidFill>
            <a:srgbClr val="0E2D60"/>
          </a:solidFill>
          <a:ln w="952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1488" y="281635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Automotive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560320"/>
            <a:ext cx="2148840" cy="1051560"/>
          </a:xfrm>
          <a:prstGeom prst="rect">
            <a:avLst/>
          </a:prstGeom>
          <a:solidFill>
            <a:srgbClr val="0E2D60"/>
          </a:solidFill>
          <a:ln w="952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38928" y="281635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Insurance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2560320"/>
            <a:ext cx="2148840" cy="1051560"/>
          </a:xfrm>
          <a:prstGeom prst="rect">
            <a:avLst/>
          </a:prstGeom>
          <a:solidFill>
            <a:srgbClr val="0E2D60"/>
          </a:solidFill>
          <a:ln w="952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16368" y="281635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Media &amp; Entertainment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80" y="2560320"/>
            <a:ext cx="2148840" cy="1051560"/>
          </a:xfrm>
          <a:prstGeom prst="rect">
            <a:avLst/>
          </a:prstGeom>
          <a:solidFill>
            <a:srgbClr val="0E2D60"/>
          </a:solidFill>
          <a:ln w="952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93808" y="281635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Human Resources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86200"/>
            <a:ext cx="2148840" cy="1051560"/>
          </a:xfrm>
          <a:prstGeom prst="rect">
            <a:avLst/>
          </a:prstGeom>
          <a:solidFill>
            <a:srgbClr val="0E2D60"/>
          </a:solidFill>
          <a:ln w="952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414223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Education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886200"/>
            <a:ext cx="2148840" cy="1051560"/>
          </a:xfrm>
          <a:prstGeom prst="rect">
            <a:avLst/>
          </a:prstGeom>
          <a:solidFill>
            <a:srgbClr val="0E2D60"/>
          </a:solidFill>
          <a:ln w="952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61488" y="414223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Agriculture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886200"/>
            <a:ext cx="2148840" cy="1051560"/>
          </a:xfrm>
          <a:prstGeom prst="rect">
            <a:avLst/>
          </a:prstGeom>
          <a:solidFill>
            <a:srgbClr val="0E2D60"/>
          </a:solidFill>
          <a:ln w="952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38928" y="414223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Sustainability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3886200"/>
            <a:ext cx="2148840" cy="1051560"/>
          </a:xfrm>
          <a:prstGeom prst="rect">
            <a:avLst/>
          </a:prstGeom>
          <a:solidFill>
            <a:srgbClr val="0E2D60"/>
          </a:solidFill>
          <a:ln w="952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16368" y="414223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Consulting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3093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</a:rPr>
              <a:t>14 Industries  |  Serving clients across India, USA, Canada, Singapore &amp; beyond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ENGAGEMENT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F44"/>
                </a:solidFill>
              </a:rPr>
              <a:t>Flexible Collaboration Models Tailored to Your Business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520440" cy="914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Fixed Scope
Projects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3520440" cy="4114800"/>
          </a:xfrm>
          <a:prstGeom prst="rect">
            <a:avLst/>
          </a:prstGeom>
          <a:solidFill>
            <a:srgbClr val="F0F7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3344"/>
                </a:solidFill>
              </a:rPr>
              <a:t>▸  Cost predictability — no unexpected expenses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3344"/>
                </a:solidFill>
              </a:rPr>
              <a:t>▸  Pre-defined &amp; clear deliverable 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118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3344"/>
                </a:solidFill>
              </a:rPr>
              <a:t>▸  On-schedule delivery with milestones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519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3344"/>
                </a:solidFill>
              </a:rPr>
              <a:t>▸  Best for: well-scoped, time-bound projects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34440"/>
            <a:ext cx="3520440" cy="9144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32588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Managed
Services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194560"/>
            <a:ext cx="3520440" cy="4114800"/>
          </a:xfrm>
          <a:prstGeom prst="rect">
            <a:avLst/>
          </a:prstGeom>
          <a:solidFill>
            <a:srgbClr val="F0F7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331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3344"/>
                </a:solidFill>
              </a:rPr>
              <a:t>▸  Continuous 24/7 monitoring &amp;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971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3344"/>
                </a:solidFill>
              </a:rPr>
              <a:t>▸  Enhanced operational efficiency &amp; innovation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6118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3344"/>
                </a:solidFill>
              </a:rPr>
              <a:t>▸  Scales to accommodate fluctuating demands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2519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3344"/>
                </a:solidFill>
              </a:rPr>
              <a:t>▸  Best for: ongoing operations &amp; maintenance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234440"/>
            <a:ext cx="3520440" cy="914400"/>
          </a:xfrm>
          <a:prstGeom prst="rect">
            <a:avLst/>
          </a:prstGeom>
          <a:solidFill>
            <a:srgbClr val="02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32588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Staff
Augmentation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194560"/>
            <a:ext cx="3520440" cy="4114800"/>
          </a:xfrm>
          <a:prstGeom prst="rect">
            <a:avLst/>
          </a:prstGeom>
          <a:solidFill>
            <a:srgbClr val="F0F7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331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3344"/>
                </a:solidFill>
              </a:rPr>
              <a:t>▸  Diverse talent pool with specialized expertise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971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3344"/>
                </a:solidFill>
              </a:rPr>
              <a:t>▸  Eliminates overhead costs, maintains 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6118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3344"/>
                </a:solidFill>
              </a:rPr>
              <a:t>▸  Quick need-based scaling up or 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2519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3344"/>
                </a:solidFill>
              </a:rPr>
              <a:t>▸  Best for: teams needing on-demand talent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F44"/>
                </a:solidFill>
              </a:rPr>
              <a:t>Expertise Across All Leading Technologies &amp; Platforms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3749039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234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64592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85"/>
                </a:solidFill>
              </a:rPr>
              <a:t>Angular  ·  React  ·  Flutter  ·  HTML/CSS  ·  jQuery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143000"/>
            <a:ext cx="3749039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234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64592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85"/>
                </a:solidFill>
              </a:rPr>
              <a:t>Python  ·  Java  ·  PHP  ·  C++  ·  Swift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143000"/>
            <a:ext cx="3749039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234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</a:rPr>
              <a:t>Cloud &amp; DevOps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64592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85"/>
                </a:solidFill>
              </a:rPr>
              <a:t>AWS  ·  Azure  ·  Google Cloud  ·  Docker  ·  Kubernetes  ·  Jenkins  ·  Terraform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94760"/>
            <a:ext cx="3749039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3886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</a:rPr>
              <a:t>Testing &amp; QA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29768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85"/>
                </a:solidFill>
              </a:rPr>
              <a:t>Selenium  ·  JUnit  ·  TestComplete  ·  Kobiton  ·  Ansible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3794760"/>
            <a:ext cx="3749039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3886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</a:rPr>
              <a:t>CMS &amp; eCommerce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29768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85"/>
                </a:solidFill>
              </a:rPr>
              <a:t>WordPress  ·  Shopify  ·  Magento  ·  Drupal  ·  Wix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794760"/>
            <a:ext cx="3749039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3886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</a:rPr>
              <a:t>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429768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85"/>
                </a:solidFill>
              </a:rPr>
              <a:t>Figma  ·  Adobe XD  ·  Illustrator  ·  Photoshop  ·  Sketch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5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PARTNERSHIPS &amp; CERTIFICATIONS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Strategic Alliances That Power World-Class Technology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80160"/>
            <a:ext cx="3566160" cy="1828800"/>
          </a:xfrm>
          <a:prstGeom prst="rect">
            <a:avLst/>
          </a:prstGeom>
          <a:solidFill>
            <a:srgbClr val="0E2D60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200"/>
                </a:solidFill>
              </a:rPr>
              <a:t>Microsoft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0FF"/>
                </a:solidFill>
              </a:rPr>
              <a:t>Azure cloud infrastructure
&amp; enterprise solutions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280160"/>
            <a:ext cx="3566160" cy="1828800"/>
          </a:xfrm>
          <a:prstGeom prst="rect">
            <a:avLst/>
          </a:prstGeom>
          <a:solidFill>
            <a:srgbClr val="0E2D60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4630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200"/>
                </a:solidFill>
              </a:rPr>
              <a:t>AWS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9659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0FF"/>
                </a:solidFill>
              </a:rPr>
              <a:t>Cloud computing &amp;
infrastructure partner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319" y="1280160"/>
            <a:ext cx="3566160" cy="1828800"/>
          </a:xfrm>
          <a:prstGeom prst="rect">
            <a:avLst/>
          </a:prstGeom>
          <a:solidFill>
            <a:srgbClr val="0E2D60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199" y="14630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200"/>
                </a:solidFill>
              </a:rPr>
              <a:t>Salesforce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199" y="19659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0FF"/>
                </a:solidFill>
              </a:rPr>
              <a:t>Certified Salesforce
consulting &amp; development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520440"/>
            <a:ext cx="3566160" cy="1828800"/>
          </a:xfrm>
          <a:prstGeom prst="rect">
            <a:avLst/>
          </a:prstGeom>
          <a:solidFill>
            <a:srgbClr val="0E2D60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703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200"/>
                </a:solidFill>
              </a:rPr>
              <a:t>Databricks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062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0FF"/>
                </a:solidFill>
              </a:rPr>
              <a:t>Big data &amp; AI/ML
platform partnership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3520440"/>
            <a:ext cx="3566160" cy="1828800"/>
          </a:xfrm>
          <a:prstGeom prst="rect">
            <a:avLst/>
          </a:prstGeom>
          <a:solidFill>
            <a:srgbClr val="0E2D60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3703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200"/>
                </a:solidFill>
              </a:rPr>
              <a:t>Google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2062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0FF"/>
                </a:solidFill>
              </a:rPr>
              <a:t>GCP-powered cloud
solutions &amp; analytics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19" y="3520440"/>
            <a:ext cx="3566160" cy="1828800"/>
          </a:xfrm>
          <a:prstGeom prst="rect">
            <a:avLst/>
          </a:prstGeom>
          <a:solidFill>
            <a:srgbClr val="0E2D60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199" y="3703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200"/>
                </a:solidFill>
              </a:rPr>
              <a:t>Atlassian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199" y="42062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0FF"/>
                </a:solidFill>
              </a:rPr>
              <a:t>Project management &amp;
collaboration tooling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943600"/>
            <a:ext cx="11612880" cy="594360"/>
          </a:xfrm>
          <a:prstGeom prst="rect">
            <a:avLst/>
          </a:prstGeom>
          <a:solidFill>
            <a:srgbClr val="05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016752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Great Place to Work  ·  CMMI Certified  ·  ISO 9001:2015  ·  ISO 27001:2013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OUR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F44"/>
                </a:solidFill>
              </a:rPr>
              <a:t>225+ Happy Clients Across the Globe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194560" cy="777240"/>
          </a:xfrm>
          <a:prstGeom prst="rect">
            <a:avLst/>
          </a:prstGeom>
          <a:solidFill>
            <a:srgbClr val="F0F7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3716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F44"/>
                </a:solidFill>
              </a:rPr>
              <a:t>Tata Motors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188720"/>
            <a:ext cx="2194560" cy="777240"/>
          </a:xfrm>
          <a:prstGeom prst="rect">
            <a:avLst/>
          </a:prstGeom>
          <a:solidFill>
            <a:srgbClr val="F0F7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61488" y="13716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F44"/>
                </a:solidFill>
              </a:rPr>
              <a:t>Reliance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188720"/>
            <a:ext cx="2194560" cy="777240"/>
          </a:xfrm>
          <a:prstGeom prst="rect">
            <a:avLst/>
          </a:prstGeom>
          <a:solidFill>
            <a:srgbClr val="F0F7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13716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F44"/>
                </a:solidFill>
              </a:rPr>
              <a:t>Flipkart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188720"/>
            <a:ext cx="2194560" cy="777240"/>
          </a:xfrm>
          <a:prstGeom prst="rect">
            <a:avLst/>
          </a:prstGeom>
          <a:solidFill>
            <a:srgbClr val="F0F7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3716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F44"/>
                </a:solidFill>
              </a:rPr>
              <a:t>Cars24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80" y="1188720"/>
            <a:ext cx="2194560" cy="777240"/>
          </a:xfrm>
          <a:prstGeom prst="rect">
            <a:avLst/>
          </a:prstGeom>
          <a:solidFill>
            <a:srgbClr val="F0F7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93808" y="13716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F44"/>
                </a:solidFill>
              </a:rPr>
              <a:t>Razorpay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194560"/>
            <a:ext cx="2194560" cy="777240"/>
          </a:xfrm>
          <a:prstGeom prst="rect">
            <a:avLst/>
          </a:prstGeom>
          <a:solidFill>
            <a:srgbClr val="F0F7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377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F44"/>
                </a:solidFill>
              </a:rPr>
              <a:t>Infosys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194560"/>
            <a:ext cx="2194560" cy="777240"/>
          </a:xfrm>
          <a:prstGeom prst="rect">
            <a:avLst/>
          </a:prstGeom>
          <a:solidFill>
            <a:srgbClr val="F0F7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1488" y="2377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F44"/>
                </a:solidFill>
              </a:rPr>
              <a:t>Deloitte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194560"/>
            <a:ext cx="2194560" cy="777240"/>
          </a:xfrm>
          <a:prstGeom prst="rect">
            <a:avLst/>
          </a:prstGeom>
          <a:solidFill>
            <a:srgbClr val="F0F7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38928" y="2377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F44"/>
                </a:solidFill>
              </a:rPr>
              <a:t>BCG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2194560"/>
            <a:ext cx="2194560" cy="777240"/>
          </a:xfrm>
          <a:prstGeom prst="rect">
            <a:avLst/>
          </a:prstGeom>
          <a:solidFill>
            <a:srgbClr val="F0F7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16368" y="2377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F44"/>
                </a:solidFill>
              </a:rPr>
              <a:t>PwC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80" y="2194560"/>
            <a:ext cx="2194560" cy="777240"/>
          </a:xfrm>
          <a:prstGeom prst="rect">
            <a:avLst/>
          </a:prstGeom>
          <a:solidFill>
            <a:srgbClr val="F0F7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93808" y="2377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F44"/>
                </a:solidFill>
              </a:rPr>
              <a:t>Accenture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200400"/>
            <a:ext cx="2194560" cy="777240"/>
          </a:xfrm>
          <a:prstGeom prst="rect">
            <a:avLst/>
          </a:prstGeom>
          <a:solidFill>
            <a:srgbClr val="F0F7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33832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F44"/>
                </a:solidFill>
              </a:rPr>
              <a:t>Adobe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200400"/>
            <a:ext cx="2194560" cy="777240"/>
          </a:xfrm>
          <a:prstGeom prst="rect">
            <a:avLst/>
          </a:prstGeom>
          <a:solidFill>
            <a:srgbClr val="F0F7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61488" y="33832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F44"/>
                </a:solidFill>
              </a:rPr>
              <a:t>Autodesk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200400"/>
            <a:ext cx="2194560" cy="777240"/>
          </a:xfrm>
          <a:prstGeom prst="rect">
            <a:avLst/>
          </a:prstGeom>
          <a:solidFill>
            <a:srgbClr val="F0F7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38928" y="33832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F44"/>
                </a:solidFill>
              </a:rPr>
              <a:t>Airtel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3200400"/>
            <a:ext cx="2194560" cy="777240"/>
          </a:xfrm>
          <a:prstGeom prst="rect">
            <a:avLst/>
          </a:prstGeom>
          <a:solidFill>
            <a:srgbClr val="F0F7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16368" y="33832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F44"/>
                </a:solidFill>
              </a:rPr>
              <a:t>Vodafone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84080" y="3200400"/>
            <a:ext cx="2194560" cy="777240"/>
          </a:xfrm>
          <a:prstGeom prst="rect">
            <a:avLst/>
          </a:prstGeom>
          <a:solidFill>
            <a:srgbClr val="F0F7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93808" y="33832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F44"/>
                </a:solidFill>
              </a:rPr>
              <a:t>JioCinema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206240"/>
            <a:ext cx="2194560" cy="777240"/>
          </a:xfrm>
          <a:prstGeom prst="rect">
            <a:avLst/>
          </a:prstGeom>
          <a:solidFill>
            <a:srgbClr val="F0F7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43891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F44"/>
                </a:solidFill>
              </a:rPr>
              <a:t>Delhivery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4206240"/>
            <a:ext cx="2194560" cy="777240"/>
          </a:xfrm>
          <a:prstGeom prst="rect">
            <a:avLst/>
          </a:prstGeom>
          <a:solidFill>
            <a:srgbClr val="F0F7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61488" y="43891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F44"/>
                </a:solidFill>
              </a:rPr>
              <a:t>ShipRocket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206240"/>
            <a:ext cx="2194560" cy="777240"/>
          </a:xfrm>
          <a:prstGeom prst="rect">
            <a:avLst/>
          </a:prstGeom>
          <a:solidFill>
            <a:srgbClr val="F0F7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38928" y="43891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F44"/>
                </a:solidFill>
              </a:rPr>
              <a:t>Physics Wallah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06640" y="4206240"/>
            <a:ext cx="2194560" cy="777240"/>
          </a:xfrm>
          <a:prstGeom prst="rect">
            <a:avLst/>
          </a:prstGeom>
          <a:solidFill>
            <a:srgbClr val="F0F7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16368" y="43891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F44"/>
                </a:solidFill>
              </a:rPr>
              <a:t>CaratLane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84080" y="4206240"/>
            <a:ext cx="2194560" cy="777240"/>
          </a:xfrm>
          <a:prstGeom prst="rect">
            <a:avLst/>
          </a:prstGeom>
          <a:solidFill>
            <a:srgbClr val="F0F7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93808" y="43891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F44"/>
                </a:solidFill>
              </a:rPr>
              <a:t>BigBasket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212080"/>
            <a:ext cx="2194560" cy="777240"/>
          </a:xfrm>
          <a:prstGeom prst="rect">
            <a:avLst/>
          </a:prstGeom>
          <a:solidFill>
            <a:srgbClr val="F0F7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4048" y="53949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F44"/>
                </a:solidFill>
              </a:rPr>
              <a:t>Ola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51760" y="5212080"/>
            <a:ext cx="2194560" cy="777240"/>
          </a:xfrm>
          <a:prstGeom prst="rect">
            <a:avLst/>
          </a:prstGeom>
          <a:solidFill>
            <a:srgbClr val="F0F7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61488" y="53949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F44"/>
                </a:solidFill>
              </a:rPr>
              <a:t>Godrej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0" y="5212080"/>
            <a:ext cx="2194560" cy="777240"/>
          </a:xfrm>
          <a:prstGeom prst="rect">
            <a:avLst/>
          </a:prstGeom>
          <a:solidFill>
            <a:srgbClr val="F0F7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38928" y="53949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F44"/>
                </a:solidFill>
              </a:rPr>
              <a:t>Magicbricks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06640" y="5212080"/>
            <a:ext cx="2194560" cy="777240"/>
          </a:xfrm>
          <a:prstGeom prst="rect">
            <a:avLst/>
          </a:prstGeom>
          <a:solidFill>
            <a:srgbClr val="F0F7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16368" y="53949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F44"/>
                </a:solidFill>
              </a:rPr>
              <a:t>MeraPashu360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784080" y="5212080"/>
            <a:ext cx="2194560" cy="777240"/>
          </a:xfrm>
          <a:prstGeom prst="rect">
            <a:avLst/>
          </a:prstGeom>
          <a:solidFill>
            <a:srgbClr val="F0F7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93808" y="53949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F44"/>
                </a:solidFill>
              </a:rPr>
              <a:t>BYJUS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62636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6A85"/>
                </a:solidFill>
              </a:rPr>
              <a:t>...and many more across Fintech, Healthcare, EdTech, Real Estate &amp; Government sectors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GLOBAL PRESENCE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F44"/>
                </a:solidFill>
              </a:rPr>
              <a:t>Offices Across India, North America &amp; Asia-Pacific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27432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3716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</a:rPr>
              <a:t>Noida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8288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A85"/>
                </a:solidFill>
              </a:rPr>
              <a:t>C-43, Sector 62, Noida – 201301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234440"/>
            <a:ext cx="27432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79" y="13716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</a:rPr>
              <a:t>New Delhi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18288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A85"/>
                </a:solidFill>
              </a:rPr>
              <a:t>Jasola District Centre, New Delhi – 110025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27432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</a:rPr>
              <a:t>Bengaluru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288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A85"/>
                </a:solidFill>
              </a:rPr>
              <a:t>12th Main Road, Sector-6, Bengaluru – 560102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9720" y="1234440"/>
            <a:ext cx="27432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3716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</a:rPr>
              <a:t>Jaipur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8288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A85"/>
                </a:solidFill>
              </a:rPr>
              <a:t>Gaurav Tower, Malviya Nagar, Jaipur – 302017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11880"/>
            <a:ext cx="27432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37490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</a:rPr>
              <a:t>Pune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420624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A85"/>
                </a:solidFill>
              </a:rPr>
              <a:t>Nyati Empress, Viman Nagar, Pune – 411014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3611880"/>
            <a:ext cx="27432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79" y="37490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</a:rPr>
              <a:t>New York, USA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79" y="420624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A85"/>
                </a:solidFill>
              </a:rPr>
              <a:t>169 Madison Ave STE 11691, NY – 10016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611880"/>
            <a:ext cx="27432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7490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</a:rPr>
              <a:t>Mississauga, 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20624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A85"/>
                </a:solidFill>
              </a:rPr>
              <a:t>4 Robert Speck Pkwy, Suite 1501, L4Z 1S1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89720" y="3611880"/>
            <a:ext cx="27432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37490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</a:rPr>
              <a:t>Singapore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420624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A85"/>
                </a:solidFill>
              </a:rPr>
              <a:t>28C Stanley Street, Singapore – 068737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114800"/>
            <a:ext cx="4572000" cy="4572000"/>
          </a:xfrm>
          <a:prstGeom prst="ellipse">
            <a:avLst/>
          </a:prstGeom>
          <a:solidFill>
            <a:srgbClr val="08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08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Let's Build Something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B4D8"/>
                </a:solidFill>
              </a:rPr>
              <a:t>Extraordinary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546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0D4F8"/>
                </a:solidFill>
              </a:rPr>
              <a:t>Revolutionizing Future Digitally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3931920"/>
            <a:ext cx="2743200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400507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Visit: www.qtsolv.com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3931920"/>
            <a:ext cx="2743200" cy="640080"/>
          </a:xfrm>
          <a:prstGeom prst="rect">
            <a:avLst/>
          </a:prstGeom>
          <a:solidFill>
            <a:srgbClr val="02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400507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Email: contact@qtsolv.com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8463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6A85"/>
                </a:solidFill>
              </a:rPr>
              <a:t>Offices in India  ·  USA  ·  Canada  ·  Singapore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25780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88AA"/>
                </a:solidFill>
              </a:rPr>
              <a:t>CMMI  ·  ISO 9001  ·  ISO 27001  ·  Great Place to 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