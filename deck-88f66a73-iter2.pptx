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Autodesk stands at the threshold of a new era where AI doesn't just assist design but transforms how design software itself is built and delivered. Over the next few slides, we'll walk through the journey from today's challenges to a proven path forward. Let's start with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this deck not as a presentation but as a guided journey — starting with where Autodesk is right now and ending with a concrete path forward. We'll move from your current reality, through the friction points, into a proven approach, and land on actionable next steps. Let's begin with the first stop: understanding Autodesk's world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laid out the roadmap — now let's step into Autodesk's world. The reality is that baking intelligence into decades-old design platforms isn't just a technical challenge, it's a structural one. And as we'll see next, three specific forces are working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Autodesk is wrestling with three challenges that look distinct but share a common root cause. AI/ML integration, cloud scalability, and test automation all bottleneck at the same place — manual, fragmented processes that throttle innovation speed. What if these challenges aren't separate problems, but one systemic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unpacked the three villains slowing Autodesk down — fragmented AI integration, cloud scalability gaps, and manual testing across complex product portfolios. But here's the aha moment: those aren't three separate problems. They're symptoms of one missing layer — an integrated partner who can orchestrate AI, platform engineering, and quality automation together. Let me show you what that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laid out the three mountains Autodesk is climbing—AI integration, platform scale, and interoperability—so the real question is whether to tackle each separately or unify them under one partner. Quarks brings all three disciplines together, and Tata Motors proved the model works: regression cycles collapsed from three days to two and a half hours. Now let's look at the specific capabilities that make this integrated approach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get specific about what we bring to Autodesk's table. Each of these twelve capabilities maps directly to one of the three challenges we just discussed — AI/ML integration, platform scalability, and quality automation. Notice the signals: GenAI and AI/ML are hot in 2026, while platform engineering and performance testing are rising fast as Autodesk's user base grows. But capabilities are only as powerful as the technologies behind them — so let's look at our full tech stack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slide highlighted the specific capabilities we map to Autodesk's three challenge areas. This is the full engineering stack behind those promises — nine capabilities spanning AI, cloud, quality, data, and product engineering, all under one roof with no handoffs. But a technology stack is only as credible as the outcomes it has produced, so let's move to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shown you the depth of our technology stack across AI, cloud, and quality engineering. Now it's time to move from capabilities to evidence. The next slide walks you through a case study from Tata Motors — a platform with the same kind of diverse product formats and interoperability headaches Autodesk faces today — where we turned a three-day manual regression cycle into two and a half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Tata Motors faced a challenge Autodesk knows well — a complex platform with diverse product formats requiring extensive regression testing. We delivered a 96% reduction in regression time and cut defect escape to 0.3%, and that same integrated quality engineering model maps directly to Autodesk's CAD and 3D interoperability challenges. Now that the proof is on the table, let's look at how easy it is to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Tata Motors proved the model works under pressure — now the question is simply how Autodesk wants to start. These three paths aren't rigid packages; they're flexible entry points designed to meet you exactly where you are today. Pick the one that feels right, and we'll shape everything else around your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laid out three ways Autodesk can start working with Quarks — each low-risk and tailored to your AI, cloud, and quality engineering needs. Now let's talk about the simplest first step to get that momentum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walked through how Quarks can accelerate Autodesk's AI/ML integration, scale your cloud-native platforms, and automate quality engineering across your complex CAD and 3D design portfolio. The next step is simple — book a 30-minute scoping session with our AI/ML and platform engineering leads, and we'll arrive with a tailored capability assessment mapped to your top three integration priorities. The calendar link is live and our team is ready to move. Let's turn this vision into your next release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365760" y="4754880"/>
            <a:ext cx="8412480" cy="0"/>
          </a:xfrm>
          <a:prstGeom prst="line">
            <a:avLst/>
          </a:prstGeom>
          <a:noFill/>
          <a:ln w="6350">
            <a:solidFill>
              <a:srgbClr val="047857"/>
            </a:solidFill>
            <a:prstDash val="solid"/>
          </a:ln>
        </p:spPr>
      </p:sp>
      <p:sp>
        <p:nvSpPr>
          <p:cNvPr id="3" name="Text 1"/>
          <p:cNvSpPr/>
          <p:nvPr/>
        </p:nvSpPr>
        <p:spPr>
          <a:xfrm>
            <a:off x="457200" y="4828032"/>
            <a:ext cx="2743200" cy="182880"/>
          </a:xfrm>
          <a:prstGeom prst="rect">
            <a:avLst/>
          </a:prstGeom>
          <a:noFill/>
          <a:ln/>
        </p:spPr>
        <p:txBody>
          <a:bodyPr wrap="square" rtlCol="0" anchor="ctr"/>
          <a:lstStyle/>
          <a:p>
            <a:pPr algn="l" indent="0" marL="0">
              <a:buNone/>
            </a:pPr>
            <a:r>
              <a:rPr lang="en-US" sz="1000" dirty="0">
                <a:solidFill>
                  <a:srgbClr val="047857"/>
                </a:solidFill>
                <a:latin typeface="Calibri" pitchFamily="34" charset="0"/>
                <a:ea typeface="Calibri" pitchFamily="34" charset="-122"/>
                <a:cs typeface="Calibri" pitchFamily="34" charset="-120"/>
              </a:rPr>
              <a:t>Quarks Technosoft Pvt. Ltd.</a:t>
            </a:r>
            <a:endParaRPr lang="en-US" sz="1000" dirty="0"/>
          </a:p>
        </p:txBody>
      </p:sp>
      <p:sp>
        <p:nvSpPr>
          <p:cNvPr id="4" name="Text 2"/>
          <p:cNvSpPr/>
          <p:nvPr/>
        </p:nvSpPr>
        <p:spPr>
          <a:xfrm>
            <a:off x="5943600" y="4828032"/>
            <a:ext cx="2011680" cy="18288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www.qtsolv.com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4754880"/>
            <a:ext cx="8412480" cy="0"/>
          </a:xfrm>
          <a:prstGeom prst="line">
            <a:avLst/>
          </a:prstGeom>
          <a:noFill/>
          <a:ln w="6350">
            <a:solidFill>
              <a:srgbClr val="047857"/>
            </a:solidFill>
            <a:prstDash val="solid"/>
          </a:ln>
        </p:spPr>
      </p:sp>
      <p:sp>
        <p:nvSpPr>
          <p:cNvPr id="3" name="Text 1"/>
          <p:cNvSpPr/>
          <p:nvPr/>
        </p:nvSpPr>
        <p:spPr>
          <a:xfrm>
            <a:off x="457200" y="4828032"/>
            <a:ext cx="2743200" cy="182880"/>
          </a:xfrm>
          <a:prstGeom prst="rect">
            <a:avLst/>
          </a:prstGeom>
          <a:noFill/>
          <a:ln/>
        </p:spPr>
        <p:txBody>
          <a:bodyPr wrap="square" rtlCol="0" anchor="ctr"/>
          <a:lstStyle/>
          <a:p>
            <a:pPr algn="l" indent="0" marL="0">
              <a:buNone/>
            </a:pPr>
            <a:r>
              <a:rPr lang="en-US" sz="1000" dirty="0">
                <a:solidFill>
                  <a:srgbClr val="C8D8E8"/>
                </a:solidFill>
                <a:latin typeface="Calibri" pitchFamily="34" charset="0"/>
                <a:ea typeface="Calibri" pitchFamily="34" charset="-122"/>
                <a:cs typeface="Calibri" pitchFamily="34" charset="-120"/>
              </a:rPr>
              <a:t>Quarks Technosoft Pvt. Ltd.</a:t>
            </a:r>
            <a:endParaRPr lang="en-US" sz="1000" dirty="0"/>
          </a:p>
        </p:txBody>
      </p:sp>
      <p:sp>
        <p:nvSpPr>
          <p:cNvPr id="4" name="Text 2"/>
          <p:cNvSpPr/>
          <p:nvPr/>
        </p:nvSpPr>
        <p:spPr>
          <a:xfrm>
            <a:off x="5943600" y="4828032"/>
            <a:ext cx="2011680" cy="182880"/>
          </a:xfrm>
          <a:prstGeom prst="rect">
            <a:avLst/>
          </a:prstGeom>
          <a:noFill/>
          <a:ln/>
        </p:spPr>
        <p:txBody>
          <a:bodyPr wrap="square" rtlCol="0" anchor="ctr"/>
          <a:lstStyle/>
          <a:p>
            <a:pPr algn="r" indent="0" marL="0">
              <a:buNone/>
            </a:pPr>
            <a:r>
              <a:rPr lang="en-US" sz="1000" dirty="0">
                <a:solidFill>
                  <a:srgbClr val="C8D8E8"/>
                </a:solidFill>
                <a:latin typeface="Calibri" pitchFamily="34" charset="0"/>
                <a:ea typeface="Calibri" pitchFamily="34" charset="-122"/>
                <a:cs typeface="Calibri" pitchFamily="34" charset="-120"/>
              </a:rPr>
              <a:t>www.qtsolv.com</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0" y="-1371600"/>
            <a:ext cx="5303520" cy="5303520"/>
          </a:xfrm>
          <a:prstGeom prst="ellipse">
            <a:avLst/>
          </a:prstGeom>
          <a:solidFill>
            <a:srgbClr val="0060B8">
              <a:alpha val="40000"/>
            </a:srgbClr>
          </a:solidFill>
          <a:ln/>
        </p:spPr>
      </p:sp>
      <p:sp>
        <p:nvSpPr>
          <p:cNvPr id="3" name="Shape 1"/>
          <p:cNvSpPr/>
          <p:nvPr/>
        </p:nvSpPr>
        <p:spPr>
          <a:xfrm>
            <a:off x="8686800" y="2011680"/>
            <a:ext cx="3657600" cy="3657600"/>
          </a:xfrm>
          <a:prstGeom prst="ellipse">
            <a:avLst/>
          </a:prstGeom>
          <a:solidFill>
            <a:srgbClr val="021A3A">
              <a:alpha val="60000"/>
            </a:srgbClr>
          </a:solidFill>
          <a:ln/>
        </p:spPr>
      </p:sp>
      <p:sp>
        <p:nvSpPr>
          <p:cNvPr id="4" name="Text 2"/>
          <p:cNvSpPr/>
          <p:nvPr/>
        </p:nvSpPr>
        <p:spPr>
          <a:xfrm>
            <a:off x="548640" y="640080"/>
            <a:ext cx="5486400" cy="274320"/>
          </a:xfrm>
          <a:prstGeom prst="rect">
            <a:avLst/>
          </a:prstGeom>
          <a:noFill/>
          <a:ln/>
        </p:spPr>
        <p:txBody>
          <a:bodyPr wrap="square" lIns="0" tIns="0" rIns="0" bIns="0" rtlCol="0" anchor="ctr"/>
          <a:lstStyle/>
          <a:p>
            <a:pPr algn="l" indent="0" marL="0">
              <a:buNone/>
            </a:pPr>
            <a:r>
              <a:rPr lang="en-US" sz="1000" b="1" spc="400" kern="0" dirty="0">
                <a:solidFill>
                  <a:srgbClr val="E8B84B"/>
                </a:solidFill>
                <a:latin typeface="Calibri" pitchFamily="34" charset="0"/>
                <a:ea typeface="Calibri" pitchFamily="34" charset="-122"/>
                <a:cs typeface="Calibri" pitchFamily="34" charset="-120"/>
              </a:rPr>
              <a:t>SALES PRESENTATION</a:t>
            </a:r>
            <a:endParaRPr lang="en-US" sz="1000" dirty="0"/>
          </a:p>
        </p:txBody>
      </p:sp>
      <p:sp>
        <p:nvSpPr>
          <p:cNvPr id="5" name="Text 3"/>
          <p:cNvSpPr/>
          <p:nvPr/>
        </p:nvSpPr>
        <p:spPr>
          <a:xfrm>
            <a:off x="457200" y="914400"/>
            <a:ext cx="6400800" cy="1645920"/>
          </a:xfrm>
          <a:prstGeom prst="rect">
            <a:avLst/>
          </a:prstGeom>
          <a:noFill/>
          <a:ln/>
        </p:spPr>
        <p:txBody>
          <a:bodyPr wrap="square" lIns="0" tIns="0" rIns="0" bIns="0" rtlCol="0" anchor="t"/>
          <a:lstStyle/>
          <a:p>
            <a:pPr algn="l" indent="0" marL="0">
              <a:buNone/>
            </a:pPr>
            <a:r>
              <a:rPr lang="en-US" sz="4000" b="1" dirty="0">
                <a:solidFill>
                  <a:srgbClr val="F8F9FA"/>
                </a:solidFill>
                <a:latin typeface="Calibri" pitchFamily="34" charset="0"/>
                <a:ea typeface="Calibri" pitchFamily="34" charset="-122"/>
                <a:cs typeface="Calibri" pitchFamily="34" charset="-120"/>
              </a:rPr>
              <a:t>Powering Autodesk's Next Era of Design Intelligence</a:t>
            </a:r>
            <a:endParaRPr lang="en-US" sz="4000" dirty="0"/>
          </a:p>
        </p:txBody>
      </p:sp>
      <p:sp>
        <p:nvSpPr>
          <p:cNvPr id="6" name="Shape 4"/>
          <p:cNvSpPr/>
          <p:nvPr/>
        </p:nvSpPr>
        <p:spPr>
          <a:xfrm>
            <a:off x="457200" y="2514600"/>
            <a:ext cx="3657600" cy="36576"/>
          </a:xfrm>
          <a:prstGeom prst="rect">
            <a:avLst/>
          </a:prstGeom>
          <a:solidFill>
            <a:srgbClr val="059669"/>
          </a:solidFill>
          <a:ln/>
        </p:spPr>
      </p:sp>
      <p:sp>
        <p:nvSpPr>
          <p:cNvPr id="7" name="Text 5"/>
          <p:cNvSpPr/>
          <p:nvPr/>
        </p:nvSpPr>
        <p:spPr>
          <a:xfrm>
            <a:off x="457200" y="2606040"/>
            <a:ext cx="5486400" cy="457200"/>
          </a:xfrm>
          <a:prstGeom prst="rect">
            <a:avLst/>
          </a:prstGeom>
          <a:noFill/>
          <a:ln/>
        </p:spPr>
        <p:txBody>
          <a:bodyPr wrap="square" lIns="0" tIns="0" rIns="0" bIns="0" rtlCol="0" anchor="ctr"/>
          <a:lstStyle/>
          <a:p>
            <a:pPr algn="l" indent="0" marL="0">
              <a:buNone/>
            </a:pPr>
            <a:r>
              <a:rPr lang="en-US" sz="1600" dirty="0">
                <a:solidFill>
                  <a:srgbClr val="C8D8E8"/>
                </a:solidFill>
                <a:latin typeface="Calibri Light" pitchFamily="34" charset="0"/>
                <a:ea typeface="Calibri Light" pitchFamily="34" charset="-122"/>
                <a:cs typeface="Calibri Light" pitchFamily="34" charset="-120"/>
              </a:rPr>
              <a:t>A strategic partnership with Quarks for AI-powered innovation.</a:t>
            </a:r>
            <a:endParaRPr lang="en-US" sz="1600" dirty="0"/>
          </a:p>
        </p:txBody>
      </p:sp>
      <p:sp>
        <p:nvSpPr>
          <p:cNvPr id="8" name="Shape 6"/>
          <p:cNvSpPr/>
          <p:nvPr/>
        </p:nvSpPr>
        <p:spPr>
          <a:xfrm>
            <a:off x="457200" y="3108960"/>
            <a:ext cx="7315200" cy="777240"/>
          </a:xfrm>
          <a:prstGeom prst="rect">
            <a:avLst/>
          </a:prstGeom>
          <a:solidFill>
            <a:srgbClr val="E8B84B">
              <a:alpha val="15000"/>
            </a:srgbClr>
          </a:solidFill>
          <a:ln w="12700">
            <a:solidFill>
              <a:srgbClr val="E8B84B"/>
            </a:solidFill>
            <a:prstDash val="solid"/>
          </a:ln>
        </p:spPr>
      </p:sp>
      <p:sp>
        <p:nvSpPr>
          <p:cNvPr id="9" name="Text 7"/>
          <p:cNvSpPr/>
          <p:nvPr/>
        </p:nvSpPr>
        <p:spPr>
          <a:xfrm>
            <a:off x="457200" y="3090672"/>
            <a:ext cx="2438400" cy="475488"/>
          </a:xfrm>
          <a:prstGeom prst="rect">
            <a:avLst/>
          </a:prstGeom>
          <a:noFill/>
          <a:ln/>
        </p:spPr>
        <p:txBody>
          <a:bodyPr wrap="square" lIns="0" tIns="0" rIns="0" bIns="0" rtlCol="0" anchor="b"/>
          <a:lstStyle/>
          <a:p>
            <a:pPr algn="ctr" indent="0" marL="0">
              <a:buNone/>
            </a:pPr>
            <a:r>
              <a:rPr lang="en-US" sz="2600" b="1" dirty="0">
                <a:solidFill>
                  <a:srgbClr val="E8B84B"/>
                </a:solidFill>
                <a:latin typeface="Cambria" pitchFamily="34" charset="0"/>
                <a:ea typeface="Cambria" pitchFamily="34" charset="-122"/>
                <a:cs typeface="Cambria" pitchFamily="34" charset="-120"/>
              </a:rPr>
              <a:t>17+</a:t>
            </a:r>
            <a:endParaRPr lang="en-US" sz="2600" dirty="0"/>
          </a:p>
        </p:txBody>
      </p:sp>
      <p:sp>
        <p:nvSpPr>
          <p:cNvPr id="10" name="Text 8"/>
          <p:cNvSpPr/>
          <p:nvPr/>
        </p:nvSpPr>
        <p:spPr>
          <a:xfrm>
            <a:off x="457200" y="3566160"/>
            <a:ext cx="2438400" cy="274320"/>
          </a:xfrm>
          <a:prstGeom prst="rect">
            <a:avLst/>
          </a:prstGeom>
          <a:noFill/>
          <a:ln/>
        </p:spPr>
        <p:txBody>
          <a:bodyPr wrap="square" lIns="0" tIns="0" rIns="0" bIns="0" rtlCol="0" anchor="t">
            <a:normAutofit/>
          </a:bodyPr>
          <a:lstStyle/>
          <a:p>
            <a:pPr algn="ctr" indent="0" marL="0">
              <a:buNone/>
            </a:pPr>
            <a:r>
              <a:rPr lang="en-US" sz="900" dirty="0">
                <a:solidFill>
                  <a:srgbClr val="C8D8E8"/>
                </a:solidFill>
                <a:latin typeface="Calibri" pitchFamily="34" charset="0"/>
                <a:ea typeface="Calibri" pitchFamily="34" charset="-122"/>
                <a:cs typeface="Calibri" pitchFamily="34" charset="-120"/>
              </a:rPr>
              <a:t>Years</a:t>
            </a:r>
            <a:endParaRPr lang="en-US" sz="900" dirty="0"/>
          </a:p>
        </p:txBody>
      </p:sp>
      <p:sp>
        <p:nvSpPr>
          <p:cNvPr id="11" name="Text 9"/>
          <p:cNvSpPr/>
          <p:nvPr/>
        </p:nvSpPr>
        <p:spPr>
          <a:xfrm>
            <a:off x="2895600" y="3090672"/>
            <a:ext cx="2438400" cy="475488"/>
          </a:xfrm>
          <a:prstGeom prst="rect">
            <a:avLst/>
          </a:prstGeom>
          <a:noFill/>
          <a:ln/>
        </p:spPr>
        <p:txBody>
          <a:bodyPr wrap="square" lIns="0" tIns="0" rIns="0" bIns="0" rtlCol="0" anchor="b"/>
          <a:lstStyle/>
          <a:p>
            <a:pPr algn="ctr" indent="0" marL="0">
              <a:buNone/>
            </a:pPr>
            <a:r>
              <a:rPr lang="en-US" sz="2600" b="1" dirty="0">
                <a:solidFill>
                  <a:srgbClr val="E8B84B"/>
                </a:solidFill>
                <a:latin typeface="Cambria" pitchFamily="34" charset="0"/>
                <a:ea typeface="Cambria" pitchFamily="34" charset="-122"/>
                <a:cs typeface="Cambria" pitchFamily="34" charset="-120"/>
              </a:rPr>
              <a:t>500+</a:t>
            </a:r>
            <a:endParaRPr lang="en-US" sz="2600" dirty="0"/>
          </a:p>
        </p:txBody>
      </p:sp>
      <p:sp>
        <p:nvSpPr>
          <p:cNvPr id="12" name="Text 10"/>
          <p:cNvSpPr/>
          <p:nvPr/>
        </p:nvSpPr>
        <p:spPr>
          <a:xfrm>
            <a:off x="2895600" y="3566160"/>
            <a:ext cx="2438400" cy="274320"/>
          </a:xfrm>
          <a:prstGeom prst="rect">
            <a:avLst/>
          </a:prstGeom>
          <a:noFill/>
          <a:ln/>
        </p:spPr>
        <p:txBody>
          <a:bodyPr wrap="square" lIns="0" tIns="0" rIns="0" bIns="0" rtlCol="0" anchor="t">
            <a:normAutofit/>
          </a:bodyPr>
          <a:lstStyle/>
          <a:p>
            <a:pPr algn="ctr" indent="0" marL="0">
              <a:buNone/>
            </a:pPr>
            <a:r>
              <a:rPr lang="en-US" sz="900" dirty="0">
                <a:solidFill>
                  <a:srgbClr val="C8D8E8"/>
                </a:solidFill>
                <a:latin typeface="Calibri" pitchFamily="34" charset="0"/>
                <a:ea typeface="Calibri" pitchFamily="34" charset="-122"/>
                <a:cs typeface="Calibri" pitchFamily="34" charset="-120"/>
              </a:rPr>
              <a:t>Clients</a:t>
            </a:r>
            <a:endParaRPr lang="en-US" sz="900" dirty="0"/>
          </a:p>
        </p:txBody>
      </p:sp>
      <p:sp>
        <p:nvSpPr>
          <p:cNvPr id="13" name="Text 11"/>
          <p:cNvSpPr/>
          <p:nvPr/>
        </p:nvSpPr>
        <p:spPr>
          <a:xfrm>
            <a:off x="5334000" y="3090672"/>
            <a:ext cx="2438400" cy="475488"/>
          </a:xfrm>
          <a:prstGeom prst="rect">
            <a:avLst/>
          </a:prstGeom>
          <a:noFill/>
          <a:ln/>
        </p:spPr>
        <p:txBody>
          <a:bodyPr wrap="square" lIns="0" tIns="0" rIns="0" bIns="0" rtlCol="0" anchor="b"/>
          <a:lstStyle/>
          <a:p>
            <a:pPr algn="ctr" indent="0" marL="0">
              <a:buNone/>
            </a:pPr>
            <a:r>
              <a:rPr lang="en-US" sz="2600" b="1" dirty="0">
                <a:solidFill>
                  <a:srgbClr val="E8B84B"/>
                </a:solidFill>
                <a:latin typeface="Cambria" pitchFamily="34" charset="0"/>
                <a:ea typeface="Cambria" pitchFamily="34" charset="-122"/>
                <a:cs typeface="Cambria" pitchFamily="34" charset="-120"/>
              </a:rPr>
              <a:t>2000+</a:t>
            </a:r>
            <a:endParaRPr lang="en-US" sz="2600" dirty="0"/>
          </a:p>
        </p:txBody>
      </p:sp>
      <p:sp>
        <p:nvSpPr>
          <p:cNvPr id="14" name="Text 12"/>
          <p:cNvSpPr/>
          <p:nvPr/>
        </p:nvSpPr>
        <p:spPr>
          <a:xfrm>
            <a:off x="5334000" y="3566160"/>
            <a:ext cx="2438400" cy="274320"/>
          </a:xfrm>
          <a:prstGeom prst="rect">
            <a:avLst/>
          </a:prstGeom>
          <a:noFill/>
          <a:ln/>
        </p:spPr>
        <p:txBody>
          <a:bodyPr wrap="square" lIns="0" tIns="0" rIns="0" bIns="0" rtlCol="0" anchor="t">
            <a:normAutofit/>
          </a:bodyPr>
          <a:lstStyle/>
          <a:p>
            <a:pPr algn="ctr" indent="0" marL="0">
              <a:buNone/>
            </a:pPr>
            <a:r>
              <a:rPr lang="en-US" sz="900" dirty="0">
                <a:solidFill>
                  <a:srgbClr val="C8D8E8"/>
                </a:solidFill>
                <a:latin typeface="Calibri" pitchFamily="34" charset="0"/>
                <a:ea typeface="Calibri" pitchFamily="34" charset="-122"/>
                <a:cs typeface="Calibri" pitchFamily="34" charset="-120"/>
              </a:rPr>
              <a:t>Engineers</a:t>
            </a:r>
            <a:endParaRPr lang="en-US" sz="900" dirty="0"/>
          </a:p>
        </p:txBody>
      </p:sp>
      <p:sp>
        <p:nvSpPr>
          <p:cNvPr id="15" name="Shape 13"/>
          <p:cNvSpPr/>
          <p:nvPr/>
        </p:nvSpPr>
        <p:spPr>
          <a:xfrm>
            <a:off x="548640" y="3977640"/>
            <a:ext cx="2926080" cy="411480"/>
          </a:xfrm>
          <a:prstGeom prst="roundRect">
            <a:avLst>
              <a:gd name="adj" fmla="val 17778"/>
            </a:avLst>
          </a:prstGeom>
          <a:solidFill>
            <a:srgbClr val="E8B84B"/>
          </a:solidFill>
          <a:ln w="12700">
            <a:solidFill>
              <a:srgbClr val="E8B84B"/>
            </a:solidFill>
            <a:prstDash val="solid"/>
          </a:ln>
        </p:spPr>
      </p:sp>
      <p:sp>
        <p:nvSpPr>
          <p:cNvPr id="16" name="Text 14"/>
          <p:cNvSpPr/>
          <p:nvPr/>
        </p:nvSpPr>
        <p:spPr>
          <a:xfrm>
            <a:off x="548640" y="3977640"/>
            <a:ext cx="2926080" cy="411480"/>
          </a:xfrm>
          <a:prstGeom prst="rect">
            <a:avLst/>
          </a:prstGeom>
          <a:noFill/>
          <a:ln/>
        </p:spPr>
        <p:txBody>
          <a:bodyPr wrap="square" lIns="0" tIns="0" rIns="0" bIns="0" rtlCol="0" anchor="ctr">
            <a:normAutofit/>
          </a:bodyPr>
          <a:lstStyle/>
          <a:p>
            <a:pPr algn="ctr" indent="0" marL="0">
              <a:buNone/>
            </a:pPr>
            <a:r>
              <a:rPr lang="en-US" sz="1100" b="1" dirty="0">
                <a:solidFill>
                  <a:srgbClr val="0D1B2A"/>
                </a:solidFill>
                <a:latin typeface="Calibri" pitchFamily="34" charset="0"/>
                <a:ea typeface="Calibri" pitchFamily="34" charset="-122"/>
                <a:cs typeface="Calibri" pitchFamily="34" charset="-120"/>
              </a:rPr>
              <a:t>Prepared for Autodesk</a:t>
            </a:r>
            <a:endParaRPr lang="en-US" sz="1100" dirty="0"/>
          </a:p>
        </p:txBody>
      </p:sp>
      <p:sp>
        <p:nvSpPr>
          <p:cNvPr id="17" name="Text 15"/>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C8D8E8"/>
                </a:solidFill>
                <a:latin typeface="Calibri" pitchFamily="34" charset="0"/>
                <a:ea typeface="Calibri" pitchFamily="34" charset="-122"/>
                <a:cs typeface="Calibri" pitchFamily="34" charset="-120"/>
              </a:rPr>
              <a:t>1 / 13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59669">
              <a:alpha val="6000"/>
            </a:srgbClr>
          </a:solidFill>
          <a:ln w="12700">
            <a:solidFill>
              <a:srgbClr val="059669"/>
            </a:solidFill>
            <a:prstDash val="solid"/>
          </a:ln>
        </p:spPr>
      </p:sp>
      <p:sp>
        <p:nvSpPr>
          <p:cNvPr id="3" name="Shape 1"/>
          <p:cNvSpPr/>
          <p:nvPr/>
        </p:nvSpPr>
        <p:spPr>
          <a:xfrm>
            <a:off x="0" y="0"/>
            <a:ext cx="9144000" cy="475488"/>
          </a:xfrm>
          <a:prstGeom prst="rect">
            <a:avLst/>
          </a:prstGeom>
          <a:solidFill>
            <a:srgbClr val="0D1B2A"/>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AGENDA</a:t>
            </a:r>
            <a:endParaRPr lang="en-US" sz="1100" dirty="0"/>
          </a:p>
        </p:txBody>
      </p:sp>
      <p:sp>
        <p:nvSpPr>
          <p:cNvPr id="5" name="Text 3"/>
          <p:cNvSpPr/>
          <p:nvPr/>
        </p:nvSpPr>
        <p:spPr>
          <a:xfrm>
            <a:off x="457200" y="548640"/>
            <a:ext cx="8229600" cy="777240"/>
          </a:xfrm>
          <a:prstGeom prst="rect">
            <a:avLst/>
          </a:prstGeom>
          <a:noFill/>
          <a:ln/>
        </p:spPr>
        <p:txBody>
          <a:bodyPr wrap="square" lIns="0" tIns="0" rIns="0" bIns="0" rtlCol="0" anchor="t">
            <a:normAutofit/>
          </a:bodyPr>
          <a:lstStyle/>
          <a:p>
            <a:pPr algn="l" indent="0" marL="0">
              <a:buNone/>
            </a:pPr>
            <a:r>
              <a:rPr lang="en-US" sz="2200" b="1" dirty="0">
                <a:solidFill>
                  <a:srgbClr val="1A1A2E"/>
                </a:solidFill>
                <a:latin typeface="Cambria" pitchFamily="34" charset="0"/>
                <a:ea typeface="Cambria" pitchFamily="34" charset="-122"/>
                <a:cs typeface="Cambria" pitchFamily="34" charset="-120"/>
              </a:rPr>
              <a:t>From Vision to AI-Powered Design Leadership</a:t>
            </a:r>
            <a:endParaRPr lang="en-US" sz="2200" dirty="0"/>
          </a:p>
        </p:txBody>
      </p:sp>
      <p:sp>
        <p:nvSpPr>
          <p:cNvPr id="6" name="Text 4"/>
          <p:cNvSpPr/>
          <p:nvPr/>
        </p:nvSpPr>
        <p:spPr>
          <a:xfrm>
            <a:off x="457200" y="1371600"/>
            <a:ext cx="8229600" cy="320040"/>
          </a:xfrm>
          <a:prstGeom prst="rect">
            <a:avLst/>
          </a:prstGeom>
          <a:noFill/>
          <a:ln/>
        </p:spPr>
        <p:txBody>
          <a:bodyPr wrap="square" lIns="0" tIns="0" rIns="0" bIns="0" rtlCol="0" anchor="t">
            <a:normAutofit/>
          </a:bodyPr>
          <a:lstStyle/>
          <a:p>
            <a:pPr algn="l" indent="0" marL="0">
              <a:buNone/>
            </a:pPr>
            <a:r>
              <a:rPr lang="en-US" sz="1300" i="1" dirty="0">
                <a:solidFill>
                  <a:srgbClr val="047857"/>
                </a:solidFill>
                <a:latin typeface="Calibri" pitchFamily="34" charset="0"/>
                <a:ea typeface="Calibri" pitchFamily="34" charset="-122"/>
                <a:cs typeface="Calibri" pitchFamily="34" charset="-120"/>
              </a:rPr>
              <a:t>A guided journey — not a pitch — through where Autodesk is today and where you're going next.</a:t>
            </a:r>
            <a:endParaRPr lang="en-US" sz="1300" dirty="0"/>
          </a:p>
        </p:txBody>
      </p:sp>
      <p:sp>
        <p:nvSpPr>
          <p:cNvPr id="7" name="Shape 5"/>
          <p:cNvSpPr/>
          <p:nvPr/>
        </p:nvSpPr>
        <p:spPr>
          <a:xfrm>
            <a:off x="457200" y="1837944"/>
            <a:ext cx="402336" cy="402336"/>
          </a:xfrm>
          <a:prstGeom prst="ellipse">
            <a:avLst/>
          </a:prstGeom>
          <a:solidFill>
            <a:srgbClr val="059669"/>
          </a:solidFill>
          <a:ln w="12700">
            <a:solidFill>
              <a:srgbClr val="059669"/>
            </a:solidFill>
            <a:prstDash val="solid"/>
          </a:ln>
        </p:spPr>
      </p:sp>
      <p:sp>
        <p:nvSpPr>
          <p:cNvPr id="8" name="Text 6"/>
          <p:cNvSpPr/>
          <p:nvPr/>
        </p:nvSpPr>
        <p:spPr>
          <a:xfrm>
            <a:off x="457200" y="18379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Shape 7"/>
          <p:cNvSpPr/>
          <p:nvPr/>
        </p:nvSpPr>
        <p:spPr>
          <a:xfrm>
            <a:off x="960120" y="1783080"/>
            <a:ext cx="3383280" cy="512064"/>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4000"/>
              </a:srgbClr>
            </a:outerShdw>
          </a:effectLst>
        </p:spPr>
      </p:sp>
      <p:sp>
        <p:nvSpPr>
          <p:cNvPr id="10" name="Text 8"/>
          <p:cNvSpPr/>
          <p:nvPr/>
        </p:nvSpPr>
        <p:spPr>
          <a:xfrm>
            <a:off x="1097280" y="1783080"/>
            <a:ext cx="3108960" cy="512064"/>
          </a:xfrm>
          <a:prstGeom prst="rect">
            <a:avLst/>
          </a:prstGeom>
          <a:noFill/>
          <a:ln/>
        </p:spPr>
        <p:txBody>
          <a:bodyPr wrap="square" lIns="0" tIns="0" rIns="0" bIns="0" rtlCol="0" anchor="ctr">
            <a:normAutofit/>
          </a:bodyPr>
          <a:lstStyle/>
          <a:p>
            <a:pPr indent="0" marL="0">
              <a:buNone/>
            </a:pPr>
            <a:r>
              <a:rPr lang="en-US" sz="1400" dirty="0">
                <a:solidFill>
                  <a:srgbClr val="64748B"/>
                </a:solidFill>
                <a:latin typeface="Calibri" pitchFamily="34" charset="0"/>
                <a:ea typeface="Calibri" pitchFamily="34" charset="-122"/>
                <a:cs typeface="Calibri" pitchFamily="34" charset="-120"/>
              </a:rPr>
              <a:t>First, we'll explore Autodesk's world — the ambition and the friction</a:t>
            </a:r>
            <a:endParaRPr lang="en-US" sz="1400" dirty="0"/>
          </a:p>
        </p:txBody>
      </p:sp>
      <p:sp>
        <p:nvSpPr>
          <p:cNvPr id="11" name="Shape 9"/>
          <p:cNvSpPr/>
          <p:nvPr/>
        </p:nvSpPr>
        <p:spPr>
          <a:xfrm>
            <a:off x="457200" y="2752344"/>
            <a:ext cx="402336" cy="402336"/>
          </a:xfrm>
          <a:prstGeom prst="ellipse">
            <a:avLst/>
          </a:prstGeom>
          <a:solidFill>
            <a:srgbClr val="059669"/>
          </a:solidFill>
          <a:ln w="12700">
            <a:solidFill>
              <a:srgbClr val="059669"/>
            </a:solidFill>
            <a:prstDash val="solid"/>
          </a:ln>
        </p:spPr>
      </p:sp>
      <p:sp>
        <p:nvSpPr>
          <p:cNvPr id="12" name="Text 10"/>
          <p:cNvSpPr/>
          <p:nvPr/>
        </p:nvSpPr>
        <p:spPr>
          <a:xfrm>
            <a:off x="457200" y="2752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Shape 11"/>
          <p:cNvSpPr/>
          <p:nvPr/>
        </p:nvSpPr>
        <p:spPr>
          <a:xfrm>
            <a:off x="960120" y="2697480"/>
            <a:ext cx="3383280" cy="512064"/>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4000"/>
              </a:srgbClr>
            </a:outerShdw>
          </a:effectLst>
        </p:spPr>
      </p:sp>
      <p:sp>
        <p:nvSpPr>
          <p:cNvPr id="14" name="Text 12"/>
          <p:cNvSpPr/>
          <p:nvPr/>
        </p:nvSpPr>
        <p:spPr>
          <a:xfrm>
            <a:off x="1097280" y="2697480"/>
            <a:ext cx="3108960" cy="512064"/>
          </a:xfrm>
          <a:prstGeom prst="rect">
            <a:avLst/>
          </a:prstGeom>
          <a:noFill/>
          <a:ln/>
        </p:spPr>
        <p:txBody>
          <a:bodyPr wrap="square" lIns="0" tIns="0" rIns="0" bIns="0" rtlCol="0" anchor="ctr">
            <a:normAutofit/>
          </a:bodyPr>
          <a:lstStyle/>
          <a:p>
            <a:pPr indent="0" marL="0">
              <a:buNone/>
            </a:pPr>
            <a:r>
              <a:rPr lang="en-US" sz="1400" dirty="0">
                <a:solidFill>
                  <a:srgbClr val="64748B"/>
                </a:solidFill>
                <a:latin typeface="Calibri" pitchFamily="34" charset="0"/>
                <a:ea typeface="Calibri" pitchFamily="34" charset="-122"/>
                <a:cs typeface="Calibri" pitchFamily="34" charset="-120"/>
              </a:rPr>
              <a:t>Then we'll name what's slowing you down — manual testing, platform complexity</a:t>
            </a:r>
            <a:endParaRPr lang="en-US" sz="1400" dirty="0"/>
          </a:p>
        </p:txBody>
      </p:sp>
      <p:sp>
        <p:nvSpPr>
          <p:cNvPr id="15" name="Shape 13"/>
          <p:cNvSpPr/>
          <p:nvPr/>
        </p:nvSpPr>
        <p:spPr>
          <a:xfrm>
            <a:off x="457200" y="3666744"/>
            <a:ext cx="402336" cy="402336"/>
          </a:xfrm>
          <a:prstGeom prst="ellipse">
            <a:avLst/>
          </a:prstGeom>
          <a:solidFill>
            <a:srgbClr val="059669"/>
          </a:solidFill>
          <a:ln w="12700">
            <a:solidFill>
              <a:srgbClr val="059669"/>
            </a:solidFill>
            <a:prstDash val="solid"/>
          </a:ln>
        </p:spPr>
      </p:sp>
      <p:sp>
        <p:nvSpPr>
          <p:cNvPr id="16" name="Text 14"/>
          <p:cNvSpPr/>
          <p:nvPr/>
        </p:nvSpPr>
        <p:spPr>
          <a:xfrm>
            <a:off x="457200" y="36667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Shape 15"/>
          <p:cNvSpPr/>
          <p:nvPr/>
        </p:nvSpPr>
        <p:spPr>
          <a:xfrm>
            <a:off x="960120" y="3611880"/>
            <a:ext cx="3383280" cy="512064"/>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4000"/>
              </a:srgbClr>
            </a:outerShdw>
          </a:effectLst>
        </p:spPr>
      </p:sp>
      <p:sp>
        <p:nvSpPr>
          <p:cNvPr id="18" name="Text 16"/>
          <p:cNvSpPr/>
          <p:nvPr/>
        </p:nvSpPr>
        <p:spPr>
          <a:xfrm>
            <a:off x="1097280" y="3611880"/>
            <a:ext cx="3108960" cy="512064"/>
          </a:xfrm>
          <a:prstGeom prst="rect">
            <a:avLst/>
          </a:prstGeom>
          <a:noFill/>
          <a:ln/>
        </p:spPr>
        <p:txBody>
          <a:bodyPr wrap="square" lIns="0" tIns="0" rIns="0" bIns="0" rtlCol="0" anchor="ctr">
            <a:normAutofit/>
          </a:bodyPr>
          <a:lstStyle/>
          <a:p>
            <a:pPr indent="0" marL="0">
              <a:buNone/>
            </a:pPr>
            <a:r>
              <a:rPr lang="en-US" sz="1400" dirty="0">
                <a:solidFill>
                  <a:srgbClr val="64748B"/>
                </a:solidFill>
                <a:latin typeface="Calibri" pitchFamily="34" charset="0"/>
                <a:ea typeface="Calibri" pitchFamily="34" charset="-122"/>
                <a:cs typeface="Calibri" pitchFamily="34" charset="-120"/>
              </a:rPr>
              <a:t>Next, a new path forward — AI orchestration, cloud-native scale, quality automation</a:t>
            </a:r>
            <a:endParaRPr lang="en-US" sz="1400" dirty="0"/>
          </a:p>
        </p:txBody>
      </p:sp>
      <p:sp>
        <p:nvSpPr>
          <p:cNvPr id="19" name="Shape 17"/>
          <p:cNvSpPr/>
          <p:nvPr/>
        </p:nvSpPr>
        <p:spPr>
          <a:xfrm>
            <a:off x="4800600" y="1837944"/>
            <a:ext cx="402336" cy="402336"/>
          </a:xfrm>
          <a:prstGeom prst="ellipse">
            <a:avLst/>
          </a:prstGeom>
          <a:solidFill>
            <a:srgbClr val="059669"/>
          </a:solidFill>
          <a:ln w="12700">
            <a:solidFill>
              <a:srgbClr val="059669"/>
            </a:solidFill>
            <a:prstDash val="solid"/>
          </a:ln>
        </p:spPr>
      </p:sp>
      <p:sp>
        <p:nvSpPr>
          <p:cNvPr id="20" name="Text 18"/>
          <p:cNvSpPr/>
          <p:nvPr/>
        </p:nvSpPr>
        <p:spPr>
          <a:xfrm>
            <a:off x="4800600" y="18379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Shape 19"/>
          <p:cNvSpPr/>
          <p:nvPr/>
        </p:nvSpPr>
        <p:spPr>
          <a:xfrm>
            <a:off x="5303520" y="1783080"/>
            <a:ext cx="3383280" cy="512064"/>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4000"/>
              </a:srgbClr>
            </a:outerShdw>
          </a:effectLst>
        </p:spPr>
      </p:sp>
      <p:sp>
        <p:nvSpPr>
          <p:cNvPr id="22" name="Text 20"/>
          <p:cNvSpPr/>
          <p:nvPr/>
        </p:nvSpPr>
        <p:spPr>
          <a:xfrm>
            <a:off x="5440680" y="1783080"/>
            <a:ext cx="3108960" cy="512064"/>
          </a:xfrm>
          <a:prstGeom prst="rect">
            <a:avLst/>
          </a:prstGeom>
          <a:noFill/>
          <a:ln/>
        </p:spPr>
        <p:txBody>
          <a:bodyPr wrap="square" lIns="0" tIns="0" rIns="0" bIns="0" rtlCol="0" anchor="ctr">
            <a:normAutofit/>
          </a:bodyPr>
          <a:lstStyle/>
          <a:p>
            <a:pPr indent="0" marL="0">
              <a:buNone/>
            </a:pPr>
            <a:r>
              <a:rPr lang="en-US" sz="1400" dirty="0">
                <a:solidFill>
                  <a:srgbClr val="64748B"/>
                </a:solidFill>
                <a:latin typeface="Calibri" pitchFamily="34" charset="0"/>
                <a:ea typeface="Calibri" pitchFamily="34" charset="-122"/>
                <a:cs typeface="Calibri" pitchFamily="34" charset="-120"/>
              </a:rPr>
              <a:t>Then, proof it works — real results from complex platform delivery</a:t>
            </a:r>
            <a:endParaRPr lang="en-US" sz="1400" dirty="0"/>
          </a:p>
        </p:txBody>
      </p:sp>
      <p:sp>
        <p:nvSpPr>
          <p:cNvPr id="23" name="Shape 21"/>
          <p:cNvSpPr/>
          <p:nvPr/>
        </p:nvSpPr>
        <p:spPr>
          <a:xfrm>
            <a:off x="4800600" y="2752344"/>
            <a:ext cx="402336" cy="402336"/>
          </a:xfrm>
          <a:prstGeom prst="ellipse">
            <a:avLst/>
          </a:prstGeom>
          <a:solidFill>
            <a:srgbClr val="059669"/>
          </a:solidFill>
          <a:ln w="12700">
            <a:solidFill>
              <a:srgbClr val="059669"/>
            </a:solidFill>
            <a:prstDash val="solid"/>
          </a:ln>
        </p:spPr>
      </p:sp>
      <p:sp>
        <p:nvSpPr>
          <p:cNvPr id="24" name="Text 22"/>
          <p:cNvSpPr/>
          <p:nvPr/>
        </p:nvSpPr>
        <p:spPr>
          <a:xfrm>
            <a:off x="4800600" y="2752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5" name="Shape 23"/>
          <p:cNvSpPr/>
          <p:nvPr/>
        </p:nvSpPr>
        <p:spPr>
          <a:xfrm>
            <a:off x="5303520" y="2697480"/>
            <a:ext cx="3383280" cy="512064"/>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4000"/>
              </a:srgbClr>
            </a:outerShdw>
          </a:effectLst>
        </p:spPr>
      </p:sp>
      <p:sp>
        <p:nvSpPr>
          <p:cNvPr id="26" name="Text 24"/>
          <p:cNvSpPr/>
          <p:nvPr/>
        </p:nvSpPr>
        <p:spPr>
          <a:xfrm>
            <a:off x="5440680" y="2697480"/>
            <a:ext cx="3108960" cy="512064"/>
          </a:xfrm>
          <a:prstGeom prst="rect">
            <a:avLst/>
          </a:prstGeom>
          <a:noFill/>
          <a:ln/>
        </p:spPr>
        <p:txBody>
          <a:bodyPr wrap="square" lIns="0" tIns="0" rIns="0" bIns="0" rtlCol="0" anchor="ctr">
            <a:normAutofit/>
          </a:bodyPr>
          <a:lstStyle/>
          <a:p>
            <a:pPr indent="0" marL="0">
              <a:buNone/>
            </a:pPr>
            <a:r>
              <a:rPr lang="en-US" sz="1400" dirty="0">
                <a:solidFill>
                  <a:srgbClr val="64748B"/>
                </a:solidFill>
                <a:latin typeface="Calibri" pitchFamily="34" charset="0"/>
                <a:ea typeface="Calibri" pitchFamily="34" charset="-122"/>
                <a:cs typeface="Calibri" pitchFamily="34" charset="-120"/>
              </a:rPr>
              <a:t>Finally, choose your starting point and walk away with clear next steps</a:t>
            </a:r>
            <a:endParaRPr lang="en-US" sz="1400" dirty="0"/>
          </a:p>
        </p:txBody>
      </p:sp>
      <p:sp>
        <p:nvSpPr>
          <p:cNvPr id="27" name="Text 25"/>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2 / 13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0" y="91440"/>
            <a:ext cx="4572000" cy="3200400"/>
          </a:xfrm>
          <a:prstGeom prst="rect">
            <a:avLst/>
          </a:prstGeom>
          <a:noFill/>
          <a:ln/>
        </p:spPr>
        <p:txBody>
          <a:bodyPr wrap="square" lIns="0" tIns="0" rIns="0" bIns="0" rtlCol="0" anchor="ctr"/>
          <a:lstStyle/>
          <a:p>
            <a:pPr algn="r" indent="0" marL="0">
              <a:buNone/>
            </a:pPr>
            <a:r>
              <a:rPr lang="en-US" sz="16000" b="1" dirty="0">
                <a:solidFill>
                  <a:srgbClr val="059669">
                    <a:alpha val="15000"/>
                  </a:srgbClr>
                </a:solidFill>
                <a:latin typeface="Calibri" pitchFamily="34" charset="0"/>
                <a:ea typeface="Calibri" pitchFamily="34" charset="-122"/>
                <a:cs typeface="Calibri" pitchFamily="34" charset="-120"/>
              </a:rPr>
              <a:t>03</a:t>
            </a:r>
            <a:endParaRPr lang="en-US" sz="16000" dirty="0"/>
          </a:p>
        </p:txBody>
      </p:sp>
      <p:sp>
        <p:nvSpPr>
          <p:cNvPr id="3" name="Shape 1"/>
          <p:cNvSpPr/>
          <p:nvPr/>
        </p:nvSpPr>
        <p:spPr>
          <a:xfrm>
            <a:off x="548640" y="1097280"/>
            <a:ext cx="54864" cy="2560320"/>
          </a:xfrm>
          <a:prstGeom prst="rect">
            <a:avLst/>
          </a:prstGeom>
          <a:solidFill>
            <a:srgbClr val="059669"/>
          </a:solidFill>
          <a:ln/>
        </p:spPr>
      </p:sp>
      <p:sp>
        <p:nvSpPr>
          <p:cNvPr id="4" name="Text 2"/>
          <p:cNvSpPr/>
          <p:nvPr/>
        </p:nvSpPr>
        <p:spPr>
          <a:xfrm>
            <a:off x="822960" y="1188720"/>
            <a:ext cx="7772400" cy="320040"/>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SECTION</a:t>
            </a:r>
            <a:endParaRPr lang="en-US" sz="1100" dirty="0"/>
          </a:p>
        </p:txBody>
      </p:sp>
      <p:sp>
        <p:nvSpPr>
          <p:cNvPr id="5" name="Text 3"/>
          <p:cNvSpPr/>
          <p:nvPr/>
        </p:nvSpPr>
        <p:spPr>
          <a:xfrm>
            <a:off x="822960" y="1600200"/>
            <a:ext cx="7772400" cy="1645920"/>
          </a:xfrm>
          <a:prstGeom prst="rect">
            <a:avLst/>
          </a:prstGeom>
          <a:noFill/>
          <a:ln/>
        </p:spPr>
        <p:txBody>
          <a:bodyPr wrap="square" lIns="0" tIns="0" rIns="0" bIns="0" rtlCol="0" anchor="t"/>
          <a:lstStyle/>
          <a:p>
            <a:pPr algn="l" indent="0" marL="0">
              <a:buNone/>
            </a:pPr>
            <a:r>
              <a:rPr lang="en-US" sz="2600" b="1" spc="200" kern="0" dirty="0">
                <a:solidFill>
                  <a:srgbClr val="F8F9FA"/>
                </a:solidFill>
                <a:latin typeface="Calibri" pitchFamily="34" charset="0"/>
                <a:ea typeface="Calibri" pitchFamily="34" charset="-122"/>
                <a:cs typeface="Calibri" pitchFamily="34" charset="-120"/>
              </a:rPr>
              <a:t>WHY AUTODESK STRUGGLES WITH AI/ML &amp; SCALE</a:t>
            </a:r>
            <a:endParaRPr lang="en-US" sz="2600" dirty="0"/>
          </a:p>
        </p:txBody>
      </p:sp>
      <p:sp>
        <p:nvSpPr>
          <p:cNvPr id="6" name="Text 4"/>
          <p:cNvSpPr/>
          <p:nvPr/>
        </p:nvSpPr>
        <p:spPr>
          <a:xfrm>
            <a:off x="822960" y="3337560"/>
            <a:ext cx="7315200" cy="548640"/>
          </a:xfrm>
          <a:prstGeom prst="rect">
            <a:avLst/>
          </a:prstGeom>
          <a:noFill/>
          <a:ln/>
        </p:spPr>
        <p:txBody>
          <a:bodyPr wrap="square" lIns="0" tIns="0" rIns="0" bIns="0" rtlCol="0" anchor="ctr"/>
          <a:lstStyle/>
          <a:p>
            <a:pPr algn="l" indent="0" marL="0">
              <a:buNone/>
            </a:pPr>
            <a:r>
              <a:rPr lang="en-US" sz="1400" i="1" dirty="0">
                <a:solidFill>
                  <a:srgbClr val="C8D8E8"/>
                </a:solidFill>
                <a:latin typeface="Calibri Light" pitchFamily="34" charset="0"/>
                <a:ea typeface="Calibri Light" pitchFamily="34" charset="-122"/>
                <a:cs typeface="Calibri Light" pitchFamily="34" charset="-120"/>
              </a:rPr>
              <a:t>Integrating intelligence into legacy-rich design platforms is uniquely complex.</a:t>
            </a:r>
            <a:endParaRPr lang="en-US" sz="1400" dirty="0"/>
          </a:p>
        </p:txBody>
      </p:sp>
      <p:sp>
        <p:nvSpPr>
          <p:cNvPr id="7" name="Text 5"/>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C8D8E8"/>
                </a:solidFill>
                <a:latin typeface="Calibri" pitchFamily="34" charset="0"/>
                <a:ea typeface="Calibri" pitchFamily="34" charset="-122"/>
                <a:cs typeface="Calibri" pitchFamily="34" charset="-120"/>
              </a:rPr>
              <a:t>3 / 13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59669">
              <a:alpha val="6000"/>
            </a:srgbClr>
          </a:solidFill>
          <a:ln w="12700">
            <a:solidFill>
              <a:srgbClr val="059669"/>
            </a:solidFill>
            <a:prstDash val="solid"/>
          </a:ln>
        </p:spPr>
      </p:sp>
      <p:sp>
        <p:nvSpPr>
          <p:cNvPr id="3" name="Shape 1"/>
          <p:cNvSpPr/>
          <p:nvPr/>
        </p:nvSpPr>
        <p:spPr>
          <a:xfrm>
            <a:off x="0" y="0"/>
            <a:ext cx="9144000" cy="475488"/>
          </a:xfrm>
          <a:prstGeom prst="rect">
            <a:avLst/>
          </a:prstGeom>
          <a:solidFill>
            <a:srgbClr val="0D1B2A"/>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CHALLENGES</a:t>
            </a:r>
            <a:endParaRPr lang="en-US" sz="1100" dirty="0"/>
          </a:p>
        </p:txBody>
      </p:sp>
      <p:sp>
        <p:nvSpPr>
          <p:cNvPr id="5" name="Text 3"/>
          <p:cNvSpPr/>
          <p:nvPr/>
        </p:nvSpPr>
        <p:spPr>
          <a:xfrm>
            <a:off x="457200" y="548640"/>
            <a:ext cx="8229600" cy="777240"/>
          </a:xfrm>
          <a:prstGeom prst="rect">
            <a:avLst/>
          </a:prstGeom>
          <a:noFill/>
          <a:ln/>
        </p:spPr>
        <p:txBody>
          <a:bodyPr wrap="square" lIns="0" tIns="0" rIns="0" bIns="0" rtlCol="0" anchor="t">
            <a:normAutofit/>
          </a:bodyPr>
          <a:lstStyle/>
          <a:p>
            <a:pPr algn="l" indent="0" marL="0">
              <a:buNone/>
            </a:pPr>
            <a:r>
              <a:rPr lang="en-US" sz="2200" b="1" dirty="0">
                <a:solidFill>
                  <a:srgbClr val="1A1A2E"/>
                </a:solidFill>
                <a:latin typeface="Cambria" pitchFamily="34" charset="0"/>
                <a:ea typeface="Cambria" pitchFamily="34" charset="-122"/>
                <a:cs typeface="Cambria" pitchFamily="34" charset="-120"/>
              </a:rPr>
              <a:t>Three Villains Draining Autodesk's Innovation Velocity</a:t>
            </a:r>
            <a:endParaRPr lang="en-US" sz="2200" dirty="0"/>
          </a:p>
        </p:txBody>
      </p:sp>
      <p:sp>
        <p:nvSpPr>
          <p:cNvPr id="6" name="Shape 4"/>
          <p:cNvSpPr/>
          <p:nvPr/>
        </p:nvSpPr>
        <p:spPr>
          <a:xfrm>
            <a:off x="457200" y="1417320"/>
            <a:ext cx="3977640" cy="28346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7" name="Shape 5"/>
          <p:cNvSpPr/>
          <p:nvPr/>
        </p:nvSpPr>
        <p:spPr>
          <a:xfrm>
            <a:off x="457200" y="1417320"/>
            <a:ext cx="54864" cy="2834640"/>
          </a:xfrm>
          <a:prstGeom prst="rect">
            <a:avLst/>
          </a:prstGeom>
          <a:solidFill>
            <a:srgbClr val="059669"/>
          </a:solidFill>
          <a:ln w="12700">
            <a:solidFill>
              <a:srgbClr val="059669"/>
            </a:solidFill>
            <a:prstDash val="solid"/>
          </a:ln>
        </p:spPr>
      </p:sp>
      <p:sp>
        <p:nvSpPr>
          <p:cNvPr id="8" name="Text 6"/>
          <p:cNvSpPr/>
          <p:nvPr/>
        </p:nvSpPr>
        <p:spPr>
          <a:xfrm>
            <a:off x="685800" y="1554480"/>
            <a:ext cx="3611880" cy="2560320"/>
          </a:xfrm>
          <a:prstGeom prst="rect">
            <a:avLst/>
          </a:prstGeom>
          <a:noFill/>
          <a:ln/>
        </p:spPr>
        <p:txBody>
          <a:bodyPr wrap="square" rtlCol="0" anchor="t">
            <a:normAutofit/>
          </a:bodyPr>
          <a:lstStyle/>
          <a:p>
            <a:pPr marL="342900" indent="-342900">
              <a:spcAft>
                <a:spcPts val="1000"/>
              </a:spcAft>
              <a:buSzPct val="100000"/>
              <a:buChar char="•"/>
            </a:pPr>
            <a:r>
              <a:rPr lang="en-US" sz="1500" dirty="0">
                <a:solidFill>
                  <a:srgbClr val="64748B"/>
                </a:solidFill>
                <a:latin typeface="Calibri" pitchFamily="34" charset="0"/>
                <a:ea typeface="Calibri" pitchFamily="34" charset="-122"/>
                <a:cs typeface="Calibri" pitchFamily="34" charset="-120"/>
              </a:rPr>
              <a:t>Embedding AI/ML into design platforms risks breaking workflows engineers trust daily</a:t>
            </a:r>
            <a:endParaRPr lang="en-US" sz="1500" dirty="0"/>
          </a:p>
          <a:p>
            <a:pPr marL="342900" indent="-342900">
              <a:spcAft>
                <a:spcPts val="1000"/>
              </a:spcAft>
              <a:buSzPct val="100000"/>
              <a:buChar char="•"/>
            </a:pPr>
            <a:r>
              <a:rPr lang="en-US" sz="1500" dirty="0">
                <a:solidFill>
                  <a:srgbClr val="64748B"/>
                </a:solidFill>
                <a:latin typeface="Calibri" pitchFamily="34" charset="0"/>
                <a:ea typeface="Calibri" pitchFamily="34" charset="-122"/>
                <a:cs typeface="Calibri" pitchFamily="34" charset="-120"/>
              </a:rPr>
              <a:t>Kubernetes and cloud-native platforms strain under explosive global SaaS demand</a:t>
            </a:r>
            <a:endParaRPr lang="en-US" sz="1500" dirty="0"/>
          </a:p>
          <a:p>
            <a:pPr marL="342900" indent="-342900">
              <a:spcAft>
                <a:spcPts val="1000"/>
              </a:spcAft>
              <a:buSzPct val="100000"/>
              <a:buChar char="•"/>
            </a:pPr>
            <a:r>
              <a:rPr lang="en-US" sz="1500" dirty="0">
                <a:solidFill>
                  <a:srgbClr val="64748B"/>
                </a:solidFill>
                <a:latin typeface="Calibri" pitchFamily="34" charset="0"/>
                <a:ea typeface="Calibri" pitchFamily="34" charset="-122"/>
                <a:cs typeface="Calibri" pitchFamily="34" charset="-120"/>
              </a:rPr>
              <a:t>Diverse CAD and 3D format interoperability demands relentless manual testing cycles</a:t>
            </a:r>
            <a:endParaRPr lang="en-US" sz="1500" dirty="0"/>
          </a:p>
        </p:txBody>
      </p:sp>
      <p:sp>
        <p:nvSpPr>
          <p:cNvPr id="9" name="Shape 7"/>
          <p:cNvSpPr/>
          <p:nvPr/>
        </p:nvSpPr>
        <p:spPr>
          <a:xfrm>
            <a:off x="4709160" y="1417320"/>
            <a:ext cx="3977640" cy="28346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10" name="Shape 8"/>
          <p:cNvSpPr/>
          <p:nvPr/>
        </p:nvSpPr>
        <p:spPr>
          <a:xfrm>
            <a:off x="4709160" y="1234440"/>
            <a:ext cx="3977640" cy="54864"/>
          </a:xfrm>
          <a:prstGeom prst="rect">
            <a:avLst/>
          </a:prstGeom>
          <a:solidFill>
            <a:srgbClr val="E8B84B"/>
          </a:solidFill>
          <a:ln w="12700">
            <a:solidFill>
              <a:srgbClr val="E8B84B"/>
            </a:solidFill>
            <a:prstDash val="solid"/>
          </a:ln>
        </p:spPr>
      </p:sp>
      <p:sp>
        <p:nvSpPr>
          <p:cNvPr id="11" name="Text 9"/>
          <p:cNvSpPr/>
          <p:nvPr/>
        </p:nvSpPr>
        <p:spPr>
          <a:xfrm>
            <a:off x="4709160" y="1828800"/>
            <a:ext cx="3977640" cy="1280160"/>
          </a:xfrm>
          <a:prstGeom prst="rect">
            <a:avLst/>
          </a:prstGeom>
          <a:noFill/>
          <a:ln/>
        </p:spPr>
        <p:txBody>
          <a:bodyPr wrap="square" lIns="0" tIns="0" rIns="0" bIns="0" rtlCol="0" anchor="ctr">
            <a:normAutofit/>
          </a:bodyPr>
          <a:lstStyle/>
          <a:p>
            <a:pPr algn="ctr" indent="0" marL="0">
              <a:buNone/>
            </a:pPr>
            <a:r>
              <a:rPr lang="en-US" sz="5600" b="1" dirty="0">
                <a:solidFill>
                  <a:srgbClr val="059669"/>
                </a:solidFill>
                <a:latin typeface="Cambria" pitchFamily="34" charset="0"/>
                <a:ea typeface="Cambria" pitchFamily="34" charset="-122"/>
                <a:cs typeface="Cambria" pitchFamily="34" charset="-120"/>
              </a:rPr>
              <a:t>3 days</a:t>
            </a:r>
            <a:endParaRPr lang="en-US" sz="5600" dirty="0"/>
          </a:p>
        </p:txBody>
      </p:sp>
      <p:sp>
        <p:nvSpPr>
          <p:cNvPr id="12" name="Text 10"/>
          <p:cNvSpPr/>
          <p:nvPr/>
        </p:nvSpPr>
        <p:spPr>
          <a:xfrm>
            <a:off x="4709160" y="3200400"/>
            <a:ext cx="3977640" cy="457200"/>
          </a:xfrm>
          <a:prstGeom prst="rect">
            <a:avLst/>
          </a:prstGeom>
          <a:noFill/>
          <a:ln/>
        </p:spPr>
        <p:txBody>
          <a:bodyPr wrap="square" lIns="0" tIns="0" rIns="0" bIns="0" rtlCol="0" anchor="ctr">
            <a:normAutofit/>
          </a:bodyPr>
          <a:lstStyle/>
          <a:p>
            <a:pPr algn="ctr" indent="0" marL="0">
              <a:buNone/>
            </a:pPr>
            <a:r>
              <a:rPr lang="en-US" sz="1300" dirty="0">
                <a:solidFill>
                  <a:srgbClr val="64748B"/>
                </a:solidFill>
                <a:latin typeface="Calibri" pitchFamily="34" charset="0"/>
                <a:ea typeface="Calibri" pitchFamily="34" charset="-122"/>
                <a:cs typeface="Calibri" pitchFamily="34" charset="-120"/>
              </a:rPr>
              <a:t>manual regression across CAD and 3D formats</a:t>
            </a:r>
            <a:endParaRPr lang="en-US" sz="1300" dirty="0"/>
          </a:p>
        </p:txBody>
      </p:sp>
      <p:sp>
        <p:nvSpPr>
          <p:cNvPr id="13" name="Text 11"/>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4 / 13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0" y="91440"/>
            <a:ext cx="4572000" cy="3200400"/>
          </a:xfrm>
          <a:prstGeom prst="rect">
            <a:avLst/>
          </a:prstGeom>
          <a:noFill/>
          <a:ln/>
        </p:spPr>
        <p:txBody>
          <a:bodyPr wrap="square" lIns="0" tIns="0" rIns="0" bIns="0" rtlCol="0" anchor="ctr"/>
          <a:lstStyle/>
          <a:p>
            <a:pPr algn="r" indent="0" marL="0">
              <a:buNone/>
            </a:pPr>
            <a:r>
              <a:rPr lang="en-US" sz="16000" b="1" dirty="0">
                <a:solidFill>
                  <a:srgbClr val="059669">
                    <a:alpha val="15000"/>
                  </a:srgbClr>
                </a:solidFill>
                <a:latin typeface="Calibri" pitchFamily="34" charset="0"/>
                <a:ea typeface="Calibri" pitchFamily="34" charset="-122"/>
                <a:cs typeface="Calibri" pitchFamily="34" charset="-120"/>
              </a:rPr>
              <a:t>05</a:t>
            </a:r>
            <a:endParaRPr lang="en-US" sz="16000" dirty="0"/>
          </a:p>
        </p:txBody>
      </p:sp>
      <p:sp>
        <p:nvSpPr>
          <p:cNvPr id="3" name="Shape 1"/>
          <p:cNvSpPr/>
          <p:nvPr/>
        </p:nvSpPr>
        <p:spPr>
          <a:xfrm>
            <a:off x="548640" y="1097280"/>
            <a:ext cx="54864" cy="2560320"/>
          </a:xfrm>
          <a:prstGeom prst="rect">
            <a:avLst/>
          </a:prstGeom>
          <a:solidFill>
            <a:srgbClr val="059669"/>
          </a:solidFill>
          <a:ln/>
        </p:spPr>
      </p:sp>
      <p:sp>
        <p:nvSpPr>
          <p:cNvPr id="4" name="Text 2"/>
          <p:cNvSpPr/>
          <p:nvPr/>
        </p:nvSpPr>
        <p:spPr>
          <a:xfrm>
            <a:off x="822960" y="1188720"/>
            <a:ext cx="7772400" cy="320040"/>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SECTION</a:t>
            </a:r>
            <a:endParaRPr lang="en-US" sz="1100" dirty="0"/>
          </a:p>
        </p:txBody>
      </p:sp>
      <p:sp>
        <p:nvSpPr>
          <p:cNvPr id="5" name="Text 3"/>
          <p:cNvSpPr/>
          <p:nvPr/>
        </p:nvSpPr>
        <p:spPr>
          <a:xfrm>
            <a:off x="822960" y="1600200"/>
            <a:ext cx="7772400" cy="1645920"/>
          </a:xfrm>
          <a:prstGeom prst="rect">
            <a:avLst/>
          </a:prstGeom>
          <a:noFill/>
          <a:ln/>
        </p:spPr>
        <p:txBody>
          <a:bodyPr wrap="square" lIns="0" tIns="0" rIns="0" bIns="0" rtlCol="0" anchor="t"/>
          <a:lstStyle/>
          <a:p>
            <a:pPr algn="l" indent="0" marL="0">
              <a:buNone/>
            </a:pPr>
            <a:r>
              <a:rPr lang="en-US" sz="2600" b="1" spc="200" kern="0" dirty="0">
                <a:solidFill>
                  <a:srgbClr val="F8F9FA"/>
                </a:solidFill>
                <a:latin typeface="Calibri" pitchFamily="34" charset="0"/>
                <a:ea typeface="Calibri" pitchFamily="34" charset="-122"/>
                <a:cs typeface="Calibri" pitchFamily="34" charset="-120"/>
              </a:rPr>
              <a:t>WHAT IF AUTODESK'S THREE BATTLES WERE ONE?</a:t>
            </a:r>
            <a:endParaRPr lang="en-US" sz="2600" dirty="0"/>
          </a:p>
        </p:txBody>
      </p:sp>
      <p:sp>
        <p:nvSpPr>
          <p:cNvPr id="6" name="Text 4"/>
          <p:cNvSpPr/>
          <p:nvPr/>
        </p:nvSpPr>
        <p:spPr>
          <a:xfrm>
            <a:off x="822960" y="3337560"/>
            <a:ext cx="7315200" cy="548640"/>
          </a:xfrm>
          <a:prstGeom prst="rect">
            <a:avLst/>
          </a:prstGeom>
          <a:noFill/>
          <a:ln/>
        </p:spPr>
        <p:txBody>
          <a:bodyPr wrap="square" lIns="0" tIns="0" rIns="0" bIns="0" rtlCol="0" anchor="ctr"/>
          <a:lstStyle/>
          <a:p>
            <a:pPr algn="l" indent="0" marL="0">
              <a:buNone/>
            </a:pPr>
            <a:r>
              <a:rPr lang="en-US" sz="1400" i="1" dirty="0">
                <a:solidFill>
                  <a:srgbClr val="C8D8E8"/>
                </a:solidFill>
                <a:latin typeface="Calibri Light" pitchFamily="34" charset="0"/>
                <a:ea typeface="Calibri Light" pitchFamily="34" charset="-122"/>
                <a:cs typeface="Calibri Light" pitchFamily="34" charset="-120"/>
              </a:rPr>
              <a:t>The shift from fragmented tooling to an integrated AI, platform, and quality engineering partnership.</a:t>
            </a:r>
            <a:endParaRPr lang="en-US" sz="1400" dirty="0"/>
          </a:p>
        </p:txBody>
      </p:sp>
      <p:sp>
        <p:nvSpPr>
          <p:cNvPr id="7" name="Text 5"/>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C8D8E8"/>
                </a:solidFill>
                <a:latin typeface="Calibri" pitchFamily="34" charset="0"/>
                <a:ea typeface="Calibri" pitchFamily="34" charset="-122"/>
                <a:cs typeface="Calibri" pitchFamily="34" charset="-120"/>
              </a:rPr>
              <a:t>5 / 13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59669">
              <a:alpha val="6000"/>
            </a:srgbClr>
          </a:solidFill>
          <a:ln w="12700">
            <a:solidFill>
              <a:srgbClr val="059669"/>
            </a:solidFill>
            <a:prstDash val="solid"/>
          </a:ln>
        </p:spPr>
      </p:sp>
      <p:sp>
        <p:nvSpPr>
          <p:cNvPr id="3" name="Shape 1"/>
          <p:cNvSpPr/>
          <p:nvPr/>
        </p:nvSpPr>
        <p:spPr>
          <a:xfrm>
            <a:off x="0" y="0"/>
            <a:ext cx="9144000" cy="475488"/>
          </a:xfrm>
          <a:prstGeom prst="rect">
            <a:avLst/>
          </a:prstGeom>
          <a:solidFill>
            <a:srgbClr val="0D1B2A"/>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OUR APPROACH</a:t>
            </a:r>
            <a:endParaRPr lang="en-US" sz="1100" dirty="0"/>
          </a:p>
        </p:txBody>
      </p:sp>
      <p:sp>
        <p:nvSpPr>
          <p:cNvPr id="5" name="Text 3"/>
          <p:cNvSpPr/>
          <p:nvPr/>
        </p:nvSpPr>
        <p:spPr>
          <a:xfrm>
            <a:off x="457200" y="548640"/>
            <a:ext cx="8229600" cy="777240"/>
          </a:xfrm>
          <a:prstGeom prst="rect">
            <a:avLst/>
          </a:prstGeom>
          <a:noFill/>
          <a:ln/>
        </p:spPr>
        <p:txBody>
          <a:bodyPr wrap="square" lIns="0" tIns="0" rIns="0" bIns="0" rtlCol="0" anchor="t">
            <a:normAutofit/>
          </a:bodyPr>
          <a:lstStyle/>
          <a:p>
            <a:pPr algn="l" indent="0" marL="0">
              <a:buNone/>
            </a:pPr>
            <a:r>
              <a:rPr lang="en-US" sz="2200" b="1" dirty="0">
                <a:solidFill>
                  <a:srgbClr val="1A1A2E"/>
                </a:solidFill>
                <a:latin typeface="Cambria" pitchFamily="34" charset="0"/>
                <a:ea typeface="Cambria" pitchFamily="34" charset="-122"/>
                <a:cs typeface="Cambria" pitchFamily="34" charset="-120"/>
              </a:rPr>
              <a:t>Why Autodesk Needs One Partner, Not Three Vendors</a:t>
            </a:r>
            <a:endParaRPr lang="en-US" sz="2200" dirty="0"/>
          </a:p>
        </p:txBody>
      </p:sp>
      <p:sp>
        <p:nvSpPr>
          <p:cNvPr id="6" name="Shape 4"/>
          <p:cNvSpPr/>
          <p:nvPr/>
        </p:nvSpPr>
        <p:spPr>
          <a:xfrm>
            <a:off x="457200" y="1417320"/>
            <a:ext cx="3977640" cy="28346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7" name="Shape 5"/>
          <p:cNvSpPr/>
          <p:nvPr/>
        </p:nvSpPr>
        <p:spPr>
          <a:xfrm>
            <a:off x="457200" y="1417320"/>
            <a:ext cx="54864" cy="2834640"/>
          </a:xfrm>
          <a:prstGeom prst="rect">
            <a:avLst/>
          </a:prstGeom>
          <a:solidFill>
            <a:srgbClr val="059669"/>
          </a:solidFill>
          <a:ln w="12700">
            <a:solidFill>
              <a:srgbClr val="059669"/>
            </a:solidFill>
            <a:prstDash val="solid"/>
          </a:ln>
        </p:spPr>
      </p:sp>
      <p:sp>
        <p:nvSpPr>
          <p:cNvPr id="8" name="Text 6"/>
          <p:cNvSpPr/>
          <p:nvPr/>
        </p:nvSpPr>
        <p:spPr>
          <a:xfrm>
            <a:off x="685800" y="1554480"/>
            <a:ext cx="3611880" cy="2560320"/>
          </a:xfrm>
          <a:prstGeom prst="rect">
            <a:avLst/>
          </a:prstGeom>
          <a:noFill/>
          <a:ln/>
        </p:spPr>
        <p:txBody>
          <a:bodyPr wrap="square" rtlCol="0" anchor="t">
            <a:normAutofit/>
          </a:bodyPr>
          <a:lstStyle/>
          <a:p>
            <a:pPr marL="342900" indent="-342900">
              <a:spcAft>
                <a:spcPts val="1000"/>
              </a:spcAft>
              <a:buSzPct val="100000"/>
              <a:buChar char="•"/>
            </a:pPr>
            <a:r>
              <a:rPr lang="en-US" sz="1500" dirty="0">
                <a:solidFill>
                  <a:srgbClr val="64748B"/>
                </a:solidFill>
                <a:latin typeface="Calibri" pitchFamily="34" charset="0"/>
                <a:ea typeface="Calibri" pitchFamily="34" charset="-122"/>
                <a:cs typeface="Calibri" pitchFamily="34" charset="-120"/>
              </a:rPr>
              <a:t>AI/ML integration powered by MLOps pipelines and generative AI expertise</a:t>
            </a:r>
            <a:endParaRPr lang="en-US" sz="1500" dirty="0"/>
          </a:p>
          <a:p>
            <a:pPr marL="342900" indent="-342900">
              <a:spcAft>
                <a:spcPts val="1000"/>
              </a:spcAft>
              <a:buSzPct val="100000"/>
              <a:buChar char="•"/>
            </a:pPr>
            <a:r>
              <a:rPr lang="en-US" sz="1500" dirty="0">
                <a:solidFill>
                  <a:srgbClr val="64748B"/>
                </a:solidFill>
                <a:latin typeface="Calibri" pitchFamily="34" charset="0"/>
                <a:ea typeface="Calibri" pitchFamily="34" charset="-122"/>
                <a:cs typeface="Calibri" pitchFamily="34" charset="-120"/>
              </a:rPr>
              <a:t>Cloud-native infrastructure optimized for Kubernetes-scale SaaS platform growth</a:t>
            </a:r>
            <a:endParaRPr lang="en-US" sz="1500" dirty="0"/>
          </a:p>
          <a:p>
            <a:pPr marL="342900" indent="-342900">
              <a:spcAft>
                <a:spcPts val="1000"/>
              </a:spcAft>
              <a:buSzPct val="100000"/>
              <a:buChar char="•"/>
            </a:pPr>
            <a:r>
              <a:rPr lang="en-US" sz="1500" dirty="0">
                <a:solidFill>
                  <a:srgbClr val="64748B"/>
                </a:solidFill>
                <a:latin typeface="Calibri" pitchFamily="34" charset="0"/>
                <a:ea typeface="Calibri" pitchFamily="34" charset="-122"/>
                <a:cs typeface="Calibri" pitchFamily="34" charset="-120"/>
              </a:rPr>
              <a:t>Automated regression across diverse CAD and 3D formats eliminates manual bottlenecks</a:t>
            </a:r>
            <a:endParaRPr lang="en-US" sz="1500" dirty="0"/>
          </a:p>
          <a:p>
            <a:pPr marL="342900" indent="-342900">
              <a:spcAft>
                <a:spcPts val="1000"/>
              </a:spcAft>
              <a:buSzPct val="100000"/>
              <a:buChar char="•"/>
            </a:pPr>
            <a:r>
              <a:rPr lang="en-US" sz="1500" dirty="0">
                <a:solidFill>
                  <a:srgbClr val="64748B"/>
                </a:solidFill>
                <a:latin typeface="Calibri" pitchFamily="34" charset="0"/>
                <a:ea typeface="Calibri" pitchFamily="34" charset="-122"/>
                <a:cs typeface="Calibri" pitchFamily="34" charset="-120"/>
              </a:rPr>
              <a:t>One accountable partner unifying all three—no handoffs, no gaps, no delays</a:t>
            </a:r>
            <a:endParaRPr lang="en-US" sz="1500" dirty="0"/>
          </a:p>
        </p:txBody>
      </p:sp>
      <p:sp>
        <p:nvSpPr>
          <p:cNvPr id="9" name="Shape 7"/>
          <p:cNvSpPr/>
          <p:nvPr/>
        </p:nvSpPr>
        <p:spPr>
          <a:xfrm>
            <a:off x="4709160" y="1417320"/>
            <a:ext cx="3977640" cy="28346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10" name="Shape 8"/>
          <p:cNvSpPr/>
          <p:nvPr/>
        </p:nvSpPr>
        <p:spPr>
          <a:xfrm>
            <a:off x="4709160" y="1234440"/>
            <a:ext cx="3977640" cy="54864"/>
          </a:xfrm>
          <a:prstGeom prst="rect">
            <a:avLst/>
          </a:prstGeom>
          <a:solidFill>
            <a:srgbClr val="E8B84B"/>
          </a:solidFill>
          <a:ln w="12700">
            <a:solidFill>
              <a:srgbClr val="E8B84B"/>
            </a:solidFill>
            <a:prstDash val="solid"/>
          </a:ln>
        </p:spPr>
      </p:sp>
      <p:sp>
        <p:nvSpPr>
          <p:cNvPr id="11" name="Text 9"/>
          <p:cNvSpPr/>
          <p:nvPr/>
        </p:nvSpPr>
        <p:spPr>
          <a:xfrm>
            <a:off x="4709160" y="1828800"/>
            <a:ext cx="3977640" cy="1280160"/>
          </a:xfrm>
          <a:prstGeom prst="rect">
            <a:avLst/>
          </a:prstGeom>
          <a:noFill/>
          <a:ln/>
        </p:spPr>
        <p:txBody>
          <a:bodyPr wrap="square" lIns="0" tIns="0" rIns="0" bIns="0" rtlCol="0" anchor="ctr">
            <a:normAutofit/>
          </a:bodyPr>
          <a:lstStyle/>
          <a:p>
            <a:pPr algn="ctr" indent="0" marL="0">
              <a:buNone/>
            </a:pPr>
            <a:r>
              <a:rPr lang="en-US" sz="5600" b="1" dirty="0">
                <a:solidFill>
                  <a:srgbClr val="059669"/>
                </a:solidFill>
                <a:latin typeface="Cambria" pitchFamily="34" charset="0"/>
                <a:ea typeface="Cambria" pitchFamily="34" charset="-122"/>
                <a:cs typeface="Cambria" pitchFamily="34" charset="-120"/>
              </a:rPr>
              <a:t>96%</a:t>
            </a:r>
            <a:endParaRPr lang="en-US" sz="5600" dirty="0"/>
          </a:p>
        </p:txBody>
      </p:sp>
      <p:sp>
        <p:nvSpPr>
          <p:cNvPr id="12" name="Text 10"/>
          <p:cNvSpPr/>
          <p:nvPr/>
        </p:nvSpPr>
        <p:spPr>
          <a:xfrm>
            <a:off x="4709160" y="3200400"/>
            <a:ext cx="3977640" cy="457200"/>
          </a:xfrm>
          <a:prstGeom prst="rect">
            <a:avLst/>
          </a:prstGeom>
          <a:noFill/>
          <a:ln/>
        </p:spPr>
        <p:txBody>
          <a:bodyPr wrap="square" lIns="0" tIns="0" rIns="0" bIns="0" rtlCol="0" anchor="ctr">
            <a:normAutofit/>
          </a:bodyPr>
          <a:lstStyle/>
          <a:p>
            <a:pPr algn="ctr" indent="0" marL="0">
              <a:buNone/>
            </a:pPr>
            <a:r>
              <a:rPr lang="en-US" sz="1300" dirty="0">
                <a:solidFill>
                  <a:srgbClr val="64748B"/>
                </a:solidFill>
                <a:latin typeface="Calibri" pitchFamily="34" charset="0"/>
                <a:ea typeface="Calibri" pitchFamily="34" charset="-122"/>
                <a:cs typeface="Calibri" pitchFamily="34" charset="-120"/>
              </a:rPr>
              <a:t>regression time reduction at Tata Motors</a:t>
            </a:r>
            <a:endParaRPr lang="en-US" sz="1300" dirty="0"/>
          </a:p>
        </p:txBody>
      </p:sp>
      <p:sp>
        <p:nvSpPr>
          <p:cNvPr id="13" name="Text 11"/>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6 / 13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1B2A"/>
          </a:solidFill>
          <a:ln/>
        </p:spPr>
      </p:sp>
      <p:sp>
        <p:nvSpPr>
          <p:cNvPr id="3" name="Text 1"/>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OUR SERVICES</a:t>
            </a:r>
            <a:endParaRPr lang="en-US" sz="1100" dirty="0"/>
          </a:p>
        </p:txBody>
      </p:sp>
      <p:sp>
        <p:nvSpPr>
          <p:cNvPr id="4" name="Text 2"/>
          <p:cNvSpPr/>
          <p:nvPr/>
        </p:nvSpPr>
        <p:spPr>
          <a:xfrm>
            <a:off x="457200" y="594360"/>
            <a:ext cx="8229600" cy="502920"/>
          </a:xfrm>
          <a:prstGeom prst="rect">
            <a:avLst/>
          </a:prstGeom>
          <a:noFill/>
          <a:ln/>
        </p:spPr>
        <p:txBody>
          <a:bodyPr wrap="square" lIns="0" tIns="0" rIns="0" bIns="0" rtlCol="0" anchor="ctr"/>
          <a:lstStyle/>
          <a:p>
            <a:pPr algn="l" indent="0" marL="0">
              <a:buNone/>
            </a:pPr>
            <a:r>
              <a:rPr lang="en-US" sz="3200" b="1" dirty="0">
                <a:solidFill>
                  <a:srgbClr val="1A1A2E"/>
                </a:solidFill>
                <a:latin typeface="Calibri" pitchFamily="34" charset="0"/>
                <a:ea typeface="Calibri" pitchFamily="34" charset="-122"/>
                <a:cs typeface="Calibri" pitchFamily="34" charset="-120"/>
              </a:rPr>
              <a:t>The Matched Toolkit for Autodesk's Three Battlegrounds</a:t>
            </a:r>
            <a:endParaRPr lang="en-US" sz="3200" dirty="0"/>
          </a:p>
        </p:txBody>
      </p:sp>
      <p:sp>
        <p:nvSpPr>
          <p:cNvPr id="5" name="Text 3"/>
          <p:cNvSpPr/>
          <p:nvPr/>
        </p:nvSpPr>
        <p:spPr>
          <a:xfrm>
            <a:off x="457200" y="1005840"/>
            <a:ext cx="8229600" cy="274320"/>
          </a:xfrm>
          <a:prstGeom prst="rect">
            <a:avLst/>
          </a:prstGeom>
          <a:noFill/>
          <a:ln/>
        </p:spPr>
        <p:txBody>
          <a:bodyPr wrap="square" lIns="0" tIns="0" rIns="0" bIns="0" rtlCol="0" anchor="ctr"/>
          <a:lstStyle/>
          <a:p>
            <a:pPr algn="l" indent="0" marL="0">
              <a:buNone/>
            </a:pPr>
            <a:r>
              <a:rPr lang="en-US" sz="1300" i="1" dirty="0">
                <a:solidFill>
                  <a:srgbClr val="047857"/>
                </a:solidFill>
                <a:latin typeface="Calibri Light" pitchFamily="34" charset="0"/>
                <a:ea typeface="Calibri Light" pitchFamily="34" charset="-122"/>
                <a:cs typeface="Calibri Light" pitchFamily="34" charset="-120"/>
              </a:rPr>
              <a:t>Each service maps directly to an AI/ML, platform scalability, or quality challenge Autodesk faces right now.</a:t>
            </a:r>
            <a:endParaRPr lang="en-US" sz="1300" dirty="0"/>
          </a:p>
        </p:txBody>
      </p:sp>
      <p:sp>
        <p:nvSpPr>
          <p:cNvPr id="6" name="Shape 4"/>
          <p:cNvSpPr/>
          <p:nvPr/>
        </p:nvSpPr>
        <p:spPr>
          <a:xfrm>
            <a:off x="457200" y="1783080"/>
            <a:ext cx="1933956"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621792" y="1911096"/>
            <a:ext cx="292608" cy="292608"/>
          </a:xfrm>
          <a:prstGeom prst="ellipse">
            <a:avLst/>
          </a:prstGeom>
          <a:solidFill>
            <a:srgbClr val="059669"/>
          </a:solidFill>
          <a:ln/>
        </p:spPr>
      </p:sp>
      <p:pic>
        <p:nvPicPr>
          <p:cNvPr id="8" name="Image 0" descr="preencoded.png">    </p:cNvPr>
          <p:cNvPicPr>
            <a:picLocks noChangeAspect="1"/>
          </p:cNvPicPr>
          <p:nvPr/>
        </p:nvPicPr>
        <p:blipFill>
          <a:blip r:embed="rId1"/>
          <a:stretch>
            <a:fillRect/>
          </a:stretch>
        </p:blipFill>
        <p:spPr>
          <a:xfrm>
            <a:off x="649224" y="1938528"/>
            <a:ext cx="237744" cy="237744"/>
          </a:xfrm>
          <a:prstGeom prst="rect">
            <a:avLst/>
          </a:prstGeom>
        </p:spPr>
      </p:pic>
      <p:sp>
        <p:nvSpPr>
          <p:cNvPr id="9" name="Text 6"/>
          <p:cNvSpPr/>
          <p:nvPr/>
        </p:nvSpPr>
        <p:spPr>
          <a:xfrm>
            <a:off x="1051560" y="1874520"/>
            <a:ext cx="1248156"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AI/ML</a:t>
            </a:r>
            <a:endParaRPr lang="en-US" sz="1100" dirty="0"/>
          </a:p>
        </p:txBody>
      </p:sp>
      <p:sp>
        <p:nvSpPr>
          <p:cNvPr id="10" name="Text 7"/>
          <p:cNvSpPr/>
          <p:nvPr/>
        </p:nvSpPr>
        <p:spPr>
          <a:xfrm>
            <a:off x="1051560" y="2167128"/>
            <a:ext cx="1248156"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Accelerate model development and MLOps pipelines for Autodesk's design intelligence features…</a:t>
            </a:r>
            <a:endParaRPr lang="en-US" sz="1100" dirty="0"/>
          </a:p>
        </p:txBody>
      </p:sp>
      <p:sp>
        <p:nvSpPr>
          <p:cNvPr id="11" name="Shape 8"/>
          <p:cNvSpPr/>
          <p:nvPr/>
        </p:nvSpPr>
        <p:spPr>
          <a:xfrm>
            <a:off x="2555748" y="1783080"/>
            <a:ext cx="1933956"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12" name="Shape 9"/>
          <p:cNvSpPr/>
          <p:nvPr/>
        </p:nvSpPr>
        <p:spPr>
          <a:xfrm>
            <a:off x="2720340" y="1911096"/>
            <a:ext cx="292608" cy="292608"/>
          </a:xfrm>
          <a:prstGeom prst="ellipse">
            <a:avLst/>
          </a:prstGeom>
          <a:solidFill>
            <a:srgbClr val="059669"/>
          </a:solidFill>
          <a:ln/>
        </p:spPr>
      </p:sp>
      <p:pic>
        <p:nvPicPr>
          <p:cNvPr id="13" name="Image 1" descr="preencoded.png">    </p:cNvPr>
          <p:cNvPicPr>
            <a:picLocks noChangeAspect="1"/>
          </p:cNvPicPr>
          <p:nvPr/>
        </p:nvPicPr>
        <p:blipFill>
          <a:blip r:embed="rId2"/>
          <a:stretch>
            <a:fillRect/>
          </a:stretch>
        </p:blipFill>
        <p:spPr>
          <a:xfrm>
            <a:off x="2747772" y="1938528"/>
            <a:ext cx="237744" cy="237744"/>
          </a:xfrm>
          <a:prstGeom prst="rect">
            <a:avLst/>
          </a:prstGeom>
        </p:spPr>
      </p:pic>
      <p:sp>
        <p:nvSpPr>
          <p:cNvPr id="14" name="Text 10"/>
          <p:cNvSpPr/>
          <p:nvPr/>
        </p:nvSpPr>
        <p:spPr>
          <a:xfrm>
            <a:off x="3150108" y="1874520"/>
            <a:ext cx="1248156"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GenAI</a:t>
            </a:r>
            <a:endParaRPr lang="en-US" sz="1100" dirty="0"/>
          </a:p>
        </p:txBody>
      </p:sp>
      <p:sp>
        <p:nvSpPr>
          <p:cNvPr id="15" name="Text 11"/>
          <p:cNvSpPr/>
          <p:nvPr/>
        </p:nvSpPr>
        <p:spPr>
          <a:xfrm>
            <a:off x="3150108" y="2167128"/>
            <a:ext cx="1248156"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Embed generative AI into CAD workflows to automate design suggestions and…</a:t>
            </a:r>
            <a:endParaRPr lang="en-US" sz="1100" dirty="0"/>
          </a:p>
        </p:txBody>
      </p:sp>
      <p:sp>
        <p:nvSpPr>
          <p:cNvPr id="16" name="Shape 12"/>
          <p:cNvSpPr/>
          <p:nvPr/>
        </p:nvSpPr>
        <p:spPr>
          <a:xfrm>
            <a:off x="4654296" y="1783080"/>
            <a:ext cx="1933956"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17" name="Shape 13"/>
          <p:cNvSpPr/>
          <p:nvPr/>
        </p:nvSpPr>
        <p:spPr>
          <a:xfrm>
            <a:off x="4818888" y="1911096"/>
            <a:ext cx="292608" cy="292608"/>
          </a:xfrm>
          <a:prstGeom prst="ellipse">
            <a:avLst/>
          </a:prstGeom>
          <a:solidFill>
            <a:srgbClr val="059669"/>
          </a:solidFill>
          <a:ln/>
        </p:spPr>
      </p:sp>
      <p:pic>
        <p:nvPicPr>
          <p:cNvPr id="18" name="Image 2" descr="preencoded.png">    </p:cNvPr>
          <p:cNvPicPr>
            <a:picLocks noChangeAspect="1"/>
          </p:cNvPicPr>
          <p:nvPr/>
        </p:nvPicPr>
        <p:blipFill>
          <a:blip r:embed="rId3"/>
          <a:stretch>
            <a:fillRect/>
          </a:stretch>
        </p:blipFill>
        <p:spPr>
          <a:xfrm>
            <a:off x="4846320" y="1938528"/>
            <a:ext cx="237744" cy="237744"/>
          </a:xfrm>
          <a:prstGeom prst="rect">
            <a:avLst/>
          </a:prstGeom>
        </p:spPr>
      </p:pic>
      <p:sp>
        <p:nvSpPr>
          <p:cNvPr id="19" name="Text 14"/>
          <p:cNvSpPr/>
          <p:nvPr/>
        </p:nvSpPr>
        <p:spPr>
          <a:xfrm>
            <a:off x="5248656" y="1874520"/>
            <a:ext cx="1248156"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Cloud and DevOps</a:t>
            </a:r>
            <a:endParaRPr lang="en-US" sz="1100" dirty="0"/>
          </a:p>
        </p:txBody>
      </p:sp>
      <p:sp>
        <p:nvSpPr>
          <p:cNvPr id="20" name="Text 15"/>
          <p:cNvSpPr/>
          <p:nvPr/>
        </p:nvSpPr>
        <p:spPr>
          <a:xfrm>
            <a:off x="5248656" y="2167128"/>
            <a:ext cx="1248156"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Optimize cloud-native infrastructure and CI/CD pipelines for global SaaS…</a:t>
            </a:r>
            <a:endParaRPr lang="en-US" sz="1100" dirty="0"/>
          </a:p>
        </p:txBody>
      </p:sp>
      <p:sp>
        <p:nvSpPr>
          <p:cNvPr id="21" name="Shape 16"/>
          <p:cNvSpPr/>
          <p:nvPr/>
        </p:nvSpPr>
        <p:spPr>
          <a:xfrm>
            <a:off x="6752844" y="1783080"/>
            <a:ext cx="1933956"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22" name="Shape 17"/>
          <p:cNvSpPr/>
          <p:nvPr/>
        </p:nvSpPr>
        <p:spPr>
          <a:xfrm>
            <a:off x="6917436" y="1911096"/>
            <a:ext cx="292608" cy="292608"/>
          </a:xfrm>
          <a:prstGeom prst="ellipse">
            <a:avLst/>
          </a:prstGeom>
          <a:solidFill>
            <a:srgbClr val="059669"/>
          </a:solidFill>
          <a:ln/>
        </p:spPr>
      </p:sp>
      <p:pic>
        <p:nvPicPr>
          <p:cNvPr id="23" name="Image 3" descr="preencoded.png">    </p:cNvPr>
          <p:cNvPicPr>
            <a:picLocks noChangeAspect="1"/>
          </p:cNvPicPr>
          <p:nvPr/>
        </p:nvPicPr>
        <p:blipFill>
          <a:blip r:embed="rId4"/>
          <a:stretch>
            <a:fillRect/>
          </a:stretch>
        </p:blipFill>
        <p:spPr>
          <a:xfrm>
            <a:off x="6944868" y="1938528"/>
            <a:ext cx="237744" cy="237744"/>
          </a:xfrm>
          <a:prstGeom prst="rect">
            <a:avLst/>
          </a:prstGeom>
        </p:spPr>
      </p:pic>
      <p:sp>
        <p:nvSpPr>
          <p:cNvPr id="24" name="Text 18"/>
          <p:cNvSpPr/>
          <p:nvPr/>
        </p:nvSpPr>
        <p:spPr>
          <a:xfrm>
            <a:off x="7347204" y="1874520"/>
            <a:ext cx="1248156"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Platform Engineering</a:t>
            </a:r>
            <a:endParaRPr lang="en-US" sz="1100" dirty="0"/>
          </a:p>
        </p:txBody>
      </p:sp>
      <p:sp>
        <p:nvSpPr>
          <p:cNvPr id="25" name="Text 19"/>
          <p:cNvSpPr/>
          <p:nvPr/>
        </p:nvSpPr>
        <p:spPr>
          <a:xfrm>
            <a:off x="7347204" y="2167128"/>
            <a:ext cx="1248156"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Build Kubernetes-based big data platforms that scale with Autodesk's growing…</a:t>
            </a:r>
            <a:endParaRPr lang="en-US" sz="1100" dirty="0"/>
          </a:p>
        </p:txBody>
      </p:sp>
      <p:sp>
        <p:nvSpPr>
          <p:cNvPr id="26" name="Shape 20"/>
          <p:cNvSpPr/>
          <p:nvPr/>
        </p:nvSpPr>
        <p:spPr>
          <a:xfrm>
            <a:off x="457200" y="2545080"/>
            <a:ext cx="1933956"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27" name="Shape 21"/>
          <p:cNvSpPr/>
          <p:nvPr/>
        </p:nvSpPr>
        <p:spPr>
          <a:xfrm>
            <a:off x="621792" y="2673096"/>
            <a:ext cx="292608" cy="292608"/>
          </a:xfrm>
          <a:prstGeom prst="ellipse">
            <a:avLst/>
          </a:prstGeom>
          <a:solidFill>
            <a:srgbClr val="059669"/>
          </a:solidFill>
          <a:ln/>
        </p:spPr>
      </p:sp>
      <p:pic>
        <p:nvPicPr>
          <p:cNvPr id="28" name="Image 4" descr="preencoded.png">    </p:cNvPr>
          <p:cNvPicPr>
            <a:picLocks noChangeAspect="1"/>
          </p:cNvPicPr>
          <p:nvPr/>
        </p:nvPicPr>
        <p:blipFill>
          <a:blip r:embed="rId5"/>
          <a:stretch>
            <a:fillRect/>
          </a:stretch>
        </p:blipFill>
        <p:spPr>
          <a:xfrm>
            <a:off x="649224" y="2700528"/>
            <a:ext cx="237744" cy="237744"/>
          </a:xfrm>
          <a:prstGeom prst="rect">
            <a:avLst/>
          </a:prstGeom>
        </p:spPr>
      </p:pic>
      <p:sp>
        <p:nvSpPr>
          <p:cNvPr id="29" name="Text 22"/>
          <p:cNvSpPr/>
          <p:nvPr/>
        </p:nvSpPr>
        <p:spPr>
          <a:xfrm>
            <a:off x="1051560" y="2636520"/>
            <a:ext cx="1248156"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Quality Engineering</a:t>
            </a:r>
            <a:endParaRPr lang="en-US" sz="1100" dirty="0"/>
          </a:p>
        </p:txBody>
      </p:sp>
      <p:sp>
        <p:nvSpPr>
          <p:cNvPr id="30" name="Text 23"/>
          <p:cNvSpPr/>
          <p:nvPr/>
        </p:nvSpPr>
        <p:spPr>
          <a:xfrm>
            <a:off x="1051560" y="2929128"/>
            <a:ext cx="1248156"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Reduce defect escape across complex CAD and 3D design product…</a:t>
            </a:r>
            <a:endParaRPr lang="en-US" sz="1100" dirty="0"/>
          </a:p>
        </p:txBody>
      </p:sp>
      <p:sp>
        <p:nvSpPr>
          <p:cNvPr id="31" name="Shape 24"/>
          <p:cNvSpPr/>
          <p:nvPr/>
        </p:nvSpPr>
        <p:spPr>
          <a:xfrm>
            <a:off x="2555748" y="2545080"/>
            <a:ext cx="1933956"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32" name="Shape 25"/>
          <p:cNvSpPr/>
          <p:nvPr/>
        </p:nvSpPr>
        <p:spPr>
          <a:xfrm>
            <a:off x="2720340" y="2673096"/>
            <a:ext cx="292608" cy="292608"/>
          </a:xfrm>
          <a:prstGeom prst="ellipse">
            <a:avLst/>
          </a:prstGeom>
          <a:solidFill>
            <a:srgbClr val="059669"/>
          </a:solidFill>
          <a:ln/>
        </p:spPr>
      </p:sp>
      <p:pic>
        <p:nvPicPr>
          <p:cNvPr id="33" name="Image 5" descr="preencoded.png">    </p:cNvPr>
          <p:cNvPicPr>
            <a:picLocks noChangeAspect="1"/>
          </p:cNvPicPr>
          <p:nvPr/>
        </p:nvPicPr>
        <p:blipFill>
          <a:blip r:embed="rId6"/>
          <a:stretch>
            <a:fillRect/>
          </a:stretch>
        </p:blipFill>
        <p:spPr>
          <a:xfrm>
            <a:off x="2747772" y="2700528"/>
            <a:ext cx="237744" cy="237744"/>
          </a:xfrm>
          <a:prstGeom prst="rect">
            <a:avLst/>
          </a:prstGeom>
        </p:spPr>
      </p:pic>
      <p:sp>
        <p:nvSpPr>
          <p:cNvPr id="34" name="Text 26"/>
          <p:cNvSpPr/>
          <p:nvPr/>
        </p:nvSpPr>
        <p:spPr>
          <a:xfrm>
            <a:off x="3150108" y="2636520"/>
            <a:ext cx="1248156"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QA Automation</a:t>
            </a:r>
            <a:endParaRPr lang="en-US" sz="1100" dirty="0"/>
          </a:p>
        </p:txBody>
      </p:sp>
      <p:sp>
        <p:nvSpPr>
          <p:cNvPr id="35" name="Text 27"/>
          <p:cNvSpPr/>
          <p:nvPr/>
        </p:nvSpPr>
        <p:spPr>
          <a:xfrm>
            <a:off x="3150108" y="2929128"/>
            <a:ext cx="1248156"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Automate regression testing to cut Autodesk's release cycles from days…</a:t>
            </a:r>
            <a:endParaRPr lang="en-US" sz="1100" dirty="0"/>
          </a:p>
        </p:txBody>
      </p:sp>
      <p:sp>
        <p:nvSpPr>
          <p:cNvPr id="36" name="Shape 28"/>
          <p:cNvSpPr/>
          <p:nvPr/>
        </p:nvSpPr>
        <p:spPr>
          <a:xfrm>
            <a:off x="4654296" y="2545080"/>
            <a:ext cx="1933956"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37" name="Shape 29"/>
          <p:cNvSpPr/>
          <p:nvPr/>
        </p:nvSpPr>
        <p:spPr>
          <a:xfrm>
            <a:off x="4818888" y="2673096"/>
            <a:ext cx="292608" cy="292608"/>
          </a:xfrm>
          <a:prstGeom prst="ellipse">
            <a:avLst/>
          </a:prstGeom>
          <a:solidFill>
            <a:srgbClr val="059669"/>
          </a:solidFill>
          <a:ln/>
        </p:spPr>
      </p:sp>
      <p:pic>
        <p:nvPicPr>
          <p:cNvPr id="38" name="Image 6" descr="preencoded.png">    </p:cNvPr>
          <p:cNvPicPr>
            <a:picLocks noChangeAspect="1"/>
          </p:cNvPicPr>
          <p:nvPr/>
        </p:nvPicPr>
        <p:blipFill>
          <a:blip r:embed="rId7"/>
          <a:stretch>
            <a:fillRect/>
          </a:stretch>
        </p:blipFill>
        <p:spPr>
          <a:xfrm>
            <a:off x="4846320" y="2700528"/>
            <a:ext cx="237744" cy="237744"/>
          </a:xfrm>
          <a:prstGeom prst="rect">
            <a:avLst/>
          </a:prstGeom>
        </p:spPr>
      </p:pic>
      <p:sp>
        <p:nvSpPr>
          <p:cNvPr id="39" name="Text 30"/>
          <p:cNvSpPr/>
          <p:nvPr/>
        </p:nvSpPr>
        <p:spPr>
          <a:xfrm>
            <a:off x="5248656" y="2636520"/>
            <a:ext cx="1248156"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Performance Testing</a:t>
            </a:r>
            <a:endParaRPr lang="en-US" sz="1100" dirty="0"/>
          </a:p>
        </p:txBody>
      </p:sp>
      <p:sp>
        <p:nvSpPr>
          <p:cNvPr id="40" name="Text 31"/>
          <p:cNvSpPr/>
          <p:nvPr/>
        </p:nvSpPr>
        <p:spPr>
          <a:xfrm>
            <a:off x="5248656" y="2929128"/>
            <a:ext cx="1248156"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Validate interoperability across diverse 3D design formats and large-scale assemblies…</a:t>
            </a:r>
            <a:endParaRPr lang="en-US" sz="1100" dirty="0"/>
          </a:p>
        </p:txBody>
      </p:sp>
      <p:sp>
        <p:nvSpPr>
          <p:cNvPr id="41" name="Shape 32"/>
          <p:cNvSpPr/>
          <p:nvPr/>
        </p:nvSpPr>
        <p:spPr>
          <a:xfrm>
            <a:off x="6752844" y="2545080"/>
            <a:ext cx="1933956"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42" name="Shape 33"/>
          <p:cNvSpPr/>
          <p:nvPr/>
        </p:nvSpPr>
        <p:spPr>
          <a:xfrm>
            <a:off x="6917436" y="2673096"/>
            <a:ext cx="292608" cy="292608"/>
          </a:xfrm>
          <a:prstGeom prst="ellipse">
            <a:avLst/>
          </a:prstGeom>
          <a:solidFill>
            <a:srgbClr val="059669"/>
          </a:solidFill>
          <a:ln/>
        </p:spPr>
      </p:sp>
      <p:pic>
        <p:nvPicPr>
          <p:cNvPr id="43" name="Image 7" descr="preencoded.png">    </p:cNvPr>
          <p:cNvPicPr>
            <a:picLocks noChangeAspect="1"/>
          </p:cNvPicPr>
          <p:nvPr/>
        </p:nvPicPr>
        <p:blipFill>
          <a:blip r:embed="rId8"/>
          <a:stretch>
            <a:fillRect/>
          </a:stretch>
        </p:blipFill>
        <p:spPr>
          <a:xfrm>
            <a:off x="6944868" y="2700528"/>
            <a:ext cx="237744" cy="237744"/>
          </a:xfrm>
          <a:prstGeom prst="rect">
            <a:avLst/>
          </a:prstGeom>
        </p:spPr>
      </p:pic>
      <p:sp>
        <p:nvSpPr>
          <p:cNvPr id="44" name="Text 34"/>
          <p:cNvSpPr/>
          <p:nvPr/>
        </p:nvSpPr>
        <p:spPr>
          <a:xfrm>
            <a:off x="7347204" y="2636520"/>
            <a:ext cx="1248156"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Data Engineering</a:t>
            </a:r>
            <a:endParaRPr lang="en-US" sz="1100" dirty="0"/>
          </a:p>
        </p:txBody>
      </p:sp>
      <p:sp>
        <p:nvSpPr>
          <p:cNvPr id="45" name="Text 35"/>
          <p:cNvSpPr/>
          <p:nvPr/>
        </p:nvSpPr>
        <p:spPr>
          <a:xfrm>
            <a:off x="7347204" y="2929128"/>
            <a:ext cx="1248156"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Build robust real-time analytics platforms for data-driven design decisions [Core/enduring]</a:t>
            </a:r>
            <a:endParaRPr lang="en-US" sz="1100" dirty="0"/>
          </a:p>
        </p:txBody>
      </p:sp>
      <p:sp>
        <p:nvSpPr>
          <p:cNvPr id="46" name="Shape 36"/>
          <p:cNvSpPr/>
          <p:nvPr/>
        </p:nvSpPr>
        <p:spPr>
          <a:xfrm>
            <a:off x="457200" y="3307080"/>
            <a:ext cx="1933956"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47" name="Shape 37"/>
          <p:cNvSpPr/>
          <p:nvPr/>
        </p:nvSpPr>
        <p:spPr>
          <a:xfrm>
            <a:off x="621792" y="3435096"/>
            <a:ext cx="292608" cy="292608"/>
          </a:xfrm>
          <a:prstGeom prst="ellipse">
            <a:avLst/>
          </a:prstGeom>
          <a:solidFill>
            <a:srgbClr val="059669"/>
          </a:solidFill>
          <a:ln/>
        </p:spPr>
      </p:sp>
      <p:pic>
        <p:nvPicPr>
          <p:cNvPr id="48" name="Image 8" descr="preencoded.png">    </p:cNvPr>
          <p:cNvPicPr>
            <a:picLocks noChangeAspect="1"/>
          </p:cNvPicPr>
          <p:nvPr/>
        </p:nvPicPr>
        <p:blipFill>
          <a:blip r:embed="rId9"/>
          <a:stretch>
            <a:fillRect/>
          </a:stretch>
        </p:blipFill>
        <p:spPr>
          <a:xfrm>
            <a:off x="649224" y="3462528"/>
            <a:ext cx="237744" cy="237744"/>
          </a:xfrm>
          <a:prstGeom prst="rect">
            <a:avLst/>
          </a:prstGeom>
        </p:spPr>
      </p:pic>
      <p:sp>
        <p:nvSpPr>
          <p:cNvPr id="49" name="Text 38"/>
          <p:cNvSpPr/>
          <p:nvPr/>
        </p:nvSpPr>
        <p:spPr>
          <a:xfrm>
            <a:off x="1051560" y="3398520"/>
            <a:ext cx="1248156"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Product Engineering</a:t>
            </a:r>
            <a:endParaRPr lang="en-US" sz="1100" dirty="0"/>
          </a:p>
        </p:txBody>
      </p:sp>
      <p:sp>
        <p:nvSpPr>
          <p:cNvPr id="50" name="Text 39"/>
          <p:cNvSpPr/>
          <p:nvPr/>
        </p:nvSpPr>
        <p:spPr>
          <a:xfrm>
            <a:off x="1051560" y="3691128"/>
            <a:ext cx="1248156"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Augment product squads with backend API and cloud-native development expertise…</a:t>
            </a:r>
            <a:endParaRPr lang="en-US" sz="1100" dirty="0"/>
          </a:p>
        </p:txBody>
      </p:sp>
      <p:sp>
        <p:nvSpPr>
          <p:cNvPr id="51" name="Shape 40"/>
          <p:cNvSpPr/>
          <p:nvPr/>
        </p:nvSpPr>
        <p:spPr>
          <a:xfrm>
            <a:off x="2555748" y="3307080"/>
            <a:ext cx="1933956"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52" name="Shape 41"/>
          <p:cNvSpPr/>
          <p:nvPr/>
        </p:nvSpPr>
        <p:spPr>
          <a:xfrm>
            <a:off x="2720340" y="3435096"/>
            <a:ext cx="292608" cy="292608"/>
          </a:xfrm>
          <a:prstGeom prst="ellipse">
            <a:avLst/>
          </a:prstGeom>
          <a:solidFill>
            <a:srgbClr val="059669"/>
          </a:solidFill>
          <a:ln/>
        </p:spPr>
      </p:sp>
      <p:pic>
        <p:nvPicPr>
          <p:cNvPr id="53" name="Image 9" descr="preencoded.png">    </p:cNvPr>
          <p:cNvPicPr>
            <a:picLocks noChangeAspect="1"/>
          </p:cNvPicPr>
          <p:nvPr/>
        </p:nvPicPr>
        <p:blipFill>
          <a:blip r:embed="rId10"/>
          <a:stretch>
            <a:fillRect/>
          </a:stretch>
        </p:blipFill>
        <p:spPr>
          <a:xfrm>
            <a:off x="2747772" y="3462528"/>
            <a:ext cx="237744" cy="237744"/>
          </a:xfrm>
          <a:prstGeom prst="rect">
            <a:avLst/>
          </a:prstGeom>
        </p:spPr>
      </p:pic>
      <p:sp>
        <p:nvSpPr>
          <p:cNvPr id="54" name="Text 42"/>
          <p:cNvSpPr/>
          <p:nvPr/>
        </p:nvSpPr>
        <p:spPr>
          <a:xfrm>
            <a:off x="3150108" y="3398520"/>
            <a:ext cx="1248156"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Staff Augmentation</a:t>
            </a:r>
            <a:endParaRPr lang="en-US" sz="1100" dirty="0"/>
          </a:p>
        </p:txBody>
      </p:sp>
      <p:sp>
        <p:nvSpPr>
          <p:cNvPr id="55" name="Text 43"/>
          <p:cNvSpPr/>
          <p:nvPr/>
        </p:nvSpPr>
        <p:spPr>
          <a:xfrm>
            <a:off x="3150108" y="3691128"/>
            <a:ext cx="1248156"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On-demand specialist talent to scale Autodesk's engineering teams instantly [Core/enduring]</a:t>
            </a:r>
            <a:endParaRPr lang="en-US" sz="1100" dirty="0"/>
          </a:p>
        </p:txBody>
      </p:sp>
      <p:sp>
        <p:nvSpPr>
          <p:cNvPr id="56" name="Shape 44"/>
          <p:cNvSpPr/>
          <p:nvPr/>
        </p:nvSpPr>
        <p:spPr>
          <a:xfrm>
            <a:off x="4654296" y="3307080"/>
            <a:ext cx="1933956"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57" name="Shape 45"/>
          <p:cNvSpPr/>
          <p:nvPr/>
        </p:nvSpPr>
        <p:spPr>
          <a:xfrm>
            <a:off x="4818888" y="3435096"/>
            <a:ext cx="292608" cy="292608"/>
          </a:xfrm>
          <a:prstGeom prst="ellipse">
            <a:avLst/>
          </a:prstGeom>
          <a:solidFill>
            <a:srgbClr val="059669"/>
          </a:solidFill>
          <a:ln/>
        </p:spPr>
      </p:sp>
      <p:pic>
        <p:nvPicPr>
          <p:cNvPr id="58" name="Image 10" descr="preencoded.png">    </p:cNvPr>
          <p:cNvPicPr>
            <a:picLocks noChangeAspect="1"/>
          </p:cNvPicPr>
          <p:nvPr/>
        </p:nvPicPr>
        <p:blipFill>
          <a:blip r:embed="rId11"/>
          <a:stretch>
            <a:fillRect/>
          </a:stretch>
        </p:blipFill>
        <p:spPr>
          <a:xfrm>
            <a:off x="4846320" y="3462528"/>
            <a:ext cx="237744" cy="237744"/>
          </a:xfrm>
          <a:prstGeom prst="rect">
            <a:avLst/>
          </a:prstGeom>
        </p:spPr>
      </p:pic>
      <p:sp>
        <p:nvSpPr>
          <p:cNvPr id="59" name="Text 46"/>
          <p:cNvSpPr/>
          <p:nvPr/>
        </p:nvSpPr>
        <p:spPr>
          <a:xfrm>
            <a:off x="5248656" y="3398520"/>
            <a:ext cx="1248156"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Managed Services</a:t>
            </a:r>
            <a:endParaRPr lang="en-US" sz="1100" dirty="0"/>
          </a:p>
        </p:txBody>
      </p:sp>
      <p:sp>
        <p:nvSpPr>
          <p:cNvPr id="60" name="Text 47"/>
          <p:cNvSpPr/>
          <p:nvPr/>
        </p:nvSpPr>
        <p:spPr>
          <a:xfrm>
            <a:off x="5248656" y="3691128"/>
            <a:ext cx="1248156"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24/7 monitoring and proactive support for Autodesk's global SaaS infrastructure…</a:t>
            </a:r>
            <a:endParaRPr lang="en-US" sz="1100" dirty="0"/>
          </a:p>
        </p:txBody>
      </p:sp>
      <p:sp>
        <p:nvSpPr>
          <p:cNvPr id="61" name="Shape 48"/>
          <p:cNvSpPr/>
          <p:nvPr/>
        </p:nvSpPr>
        <p:spPr>
          <a:xfrm>
            <a:off x="6752844" y="3307080"/>
            <a:ext cx="1933956"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62" name="Shape 49"/>
          <p:cNvSpPr/>
          <p:nvPr/>
        </p:nvSpPr>
        <p:spPr>
          <a:xfrm>
            <a:off x="6917436" y="3435096"/>
            <a:ext cx="292608" cy="292608"/>
          </a:xfrm>
          <a:prstGeom prst="ellipse">
            <a:avLst/>
          </a:prstGeom>
          <a:solidFill>
            <a:srgbClr val="059669"/>
          </a:solidFill>
          <a:ln/>
        </p:spPr>
      </p:sp>
      <p:pic>
        <p:nvPicPr>
          <p:cNvPr id="63" name="Image 11" descr="preencoded.png">    </p:cNvPr>
          <p:cNvPicPr>
            <a:picLocks noChangeAspect="1"/>
          </p:cNvPicPr>
          <p:nvPr/>
        </p:nvPicPr>
        <p:blipFill>
          <a:blip r:embed="rId12"/>
          <a:stretch>
            <a:fillRect/>
          </a:stretch>
        </p:blipFill>
        <p:spPr>
          <a:xfrm>
            <a:off x="6944868" y="3462528"/>
            <a:ext cx="237744" cy="237744"/>
          </a:xfrm>
          <a:prstGeom prst="rect">
            <a:avLst/>
          </a:prstGeom>
        </p:spPr>
      </p:pic>
      <p:sp>
        <p:nvSpPr>
          <p:cNvPr id="64" name="Text 50"/>
          <p:cNvSpPr/>
          <p:nvPr/>
        </p:nvSpPr>
        <p:spPr>
          <a:xfrm>
            <a:off x="7347204" y="3398520"/>
            <a:ext cx="1248156"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DevOps</a:t>
            </a:r>
            <a:endParaRPr lang="en-US" sz="1100" dirty="0"/>
          </a:p>
        </p:txBody>
      </p:sp>
      <p:sp>
        <p:nvSpPr>
          <p:cNvPr id="65" name="Text 51"/>
          <p:cNvSpPr/>
          <p:nvPr/>
        </p:nvSpPr>
        <p:spPr>
          <a:xfrm>
            <a:off x="7347204" y="3691128"/>
            <a:ext cx="1248156"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Streamline deployment pipelines and infrastructure automation for faster release cadence [Core/enduring]</a:t>
            </a:r>
            <a:endParaRPr lang="en-US" sz="1100" dirty="0"/>
          </a:p>
        </p:txBody>
      </p:sp>
      <p:sp>
        <p:nvSpPr>
          <p:cNvPr id="66" name="Text 52"/>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7 / 13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D1B2A"/>
          </a:solidFill>
          <a:ln/>
        </p:spPr>
      </p:sp>
      <p:sp>
        <p:nvSpPr>
          <p:cNvPr id="3" name="Text 1"/>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TECHNOLOGY</a:t>
            </a:r>
            <a:endParaRPr lang="en-US" sz="1100" dirty="0"/>
          </a:p>
        </p:txBody>
      </p:sp>
      <p:sp>
        <p:nvSpPr>
          <p:cNvPr id="4" name="Text 2"/>
          <p:cNvSpPr/>
          <p:nvPr/>
        </p:nvSpPr>
        <p:spPr>
          <a:xfrm>
            <a:off x="457200" y="594360"/>
            <a:ext cx="8229600" cy="502920"/>
          </a:xfrm>
          <a:prstGeom prst="rect">
            <a:avLst/>
          </a:prstGeom>
          <a:noFill/>
          <a:ln/>
        </p:spPr>
        <p:txBody>
          <a:bodyPr wrap="square" lIns="0" tIns="0" rIns="0" bIns="0" rtlCol="0" anchor="ctr"/>
          <a:lstStyle/>
          <a:p>
            <a:pPr algn="l" indent="0" marL="0">
              <a:buNone/>
            </a:pPr>
            <a:r>
              <a:rPr lang="en-US" sz="3200" b="1" dirty="0">
                <a:solidFill>
                  <a:srgbClr val="1A1A2E"/>
                </a:solidFill>
                <a:latin typeface="Calibri" pitchFamily="34" charset="0"/>
                <a:ea typeface="Calibri" pitchFamily="34" charset="-122"/>
                <a:cs typeface="Calibri" pitchFamily="34" charset="-120"/>
              </a:rPr>
              <a:t>The Full Engineering Stack Behind Autodesk's Leap</a:t>
            </a:r>
            <a:endParaRPr lang="en-US" sz="3200" dirty="0"/>
          </a:p>
        </p:txBody>
      </p:sp>
      <p:sp>
        <p:nvSpPr>
          <p:cNvPr id="5" name="Text 3"/>
          <p:cNvSpPr/>
          <p:nvPr/>
        </p:nvSpPr>
        <p:spPr>
          <a:xfrm>
            <a:off x="457200" y="1005840"/>
            <a:ext cx="8229600" cy="274320"/>
          </a:xfrm>
          <a:prstGeom prst="rect">
            <a:avLst/>
          </a:prstGeom>
          <a:noFill/>
          <a:ln/>
        </p:spPr>
        <p:txBody>
          <a:bodyPr wrap="square" lIns="0" tIns="0" rIns="0" bIns="0" rtlCol="0" anchor="ctr"/>
          <a:lstStyle/>
          <a:p>
            <a:pPr algn="l" indent="0" marL="0">
              <a:buNone/>
            </a:pPr>
            <a:r>
              <a:rPr lang="en-US" sz="1300" i="1" dirty="0">
                <a:solidFill>
                  <a:srgbClr val="047857"/>
                </a:solidFill>
                <a:latin typeface="Calibri Light" pitchFamily="34" charset="0"/>
                <a:ea typeface="Calibri Light" pitchFamily="34" charset="-122"/>
                <a:cs typeface="Calibri Light" pitchFamily="34" charset="-120"/>
              </a:rPr>
              <a:t>Nine capabilities across six domains — every layer Autodesk needs, under one roof</a:t>
            </a:r>
            <a:endParaRPr lang="en-US" sz="1300" dirty="0"/>
          </a:p>
        </p:txBody>
      </p:sp>
      <p:sp>
        <p:nvSpPr>
          <p:cNvPr id="6" name="Shape 4"/>
          <p:cNvSpPr/>
          <p:nvPr/>
        </p:nvSpPr>
        <p:spPr>
          <a:xfrm>
            <a:off x="457200" y="1783080"/>
            <a:ext cx="2633472"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7" name="Shape 5"/>
          <p:cNvSpPr/>
          <p:nvPr/>
        </p:nvSpPr>
        <p:spPr>
          <a:xfrm>
            <a:off x="621792" y="1911096"/>
            <a:ext cx="292608" cy="292608"/>
          </a:xfrm>
          <a:prstGeom prst="ellipse">
            <a:avLst/>
          </a:prstGeom>
          <a:solidFill>
            <a:srgbClr val="059669"/>
          </a:solidFill>
          <a:ln/>
        </p:spPr>
      </p:sp>
      <p:pic>
        <p:nvPicPr>
          <p:cNvPr id="8" name="Image 0" descr="preencoded.png">    </p:cNvPr>
          <p:cNvPicPr>
            <a:picLocks noChangeAspect="1"/>
          </p:cNvPicPr>
          <p:nvPr/>
        </p:nvPicPr>
        <p:blipFill>
          <a:blip r:embed="rId1"/>
          <a:stretch>
            <a:fillRect/>
          </a:stretch>
        </p:blipFill>
        <p:spPr>
          <a:xfrm>
            <a:off x="649224" y="1938528"/>
            <a:ext cx="237744" cy="237744"/>
          </a:xfrm>
          <a:prstGeom prst="rect">
            <a:avLst/>
          </a:prstGeom>
        </p:spPr>
      </p:pic>
      <p:sp>
        <p:nvSpPr>
          <p:cNvPr id="9" name="Text 6"/>
          <p:cNvSpPr/>
          <p:nvPr/>
        </p:nvSpPr>
        <p:spPr>
          <a:xfrm>
            <a:off x="1051560" y="1874520"/>
            <a:ext cx="1947672"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AI/ML Model Development</a:t>
            </a:r>
            <a:endParaRPr lang="en-US" sz="1100" dirty="0"/>
          </a:p>
        </p:txBody>
      </p:sp>
      <p:sp>
        <p:nvSpPr>
          <p:cNvPr id="10" name="Text 7"/>
          <p:cNvSpPr/>
          <p:nvPr/>
        </p:nvSpPr>
        <p:spPr>
          <a:xfrm>
            <a:off x="1051560" y="2167128"/>
            <a:ext cx="1947672"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Custom training and inference pipelines tuned for Autodesk's design…</a:t>
            </a:r>
            <a:endParaRPr lang="en-US" sz="1100" dirty="0"/>
          </a:p>
        </p:txBody>
      </p:sp>
      <p:sp>
        <p:nvSpPr>
          <p:cNvPr id="11" name="Shape 8"/>
          <p:cNvSpPr/>
          <p:nvPr/>
        </p:nvSpPr>
        <p:spPr>
          <a:xfrm>
            <a:off x="3255264" y="1783080"/>
            <a:ext cx="2633472"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12" name="Shape 9"/>
          <p:cNvSpPr/>
          <p:nvPr/>
        </p:nvSpPr>
        <p:spPr>
          <a:xfrm>
            <a:off x="3419856" y="1911096"/>
            <a:ext cx="292608" cy="292608"/>
          </a:xfrm>
          <a:prstGeom prst="ellipse">
            <a:avLst/>
          </a:prstGeom>
          <a:solidFill>
            <a:srgbClr val="059669"/>
          </a:solidFill>
          <a:ln/>
        </p:spPr>
      </p:sp>
      <p:pic>
        <p:nvPicPr>
          <p:cNvPr id="13" name="Image 1" descr="preencoded.png">    </p:cNvPr>
          <p:cNvPicPr>
            <a:picLocks noChangeAspect="1"/>
          </p:cNvPicPr>
          <p:nvPr/>
        </p:nvPicPr>
        <p:blipFill>
          <a:blip r:embed="rId2"/>
          <a:stretch>
            <a:fillRect/>
          </a:stretch>
        </p:blipFill>
        <p:spPr>
          <a:xfrm>
            <a:off x="3447288" y="1938528"/>
            <a:ext cx="237744" cy="237744"/>
          </a:xfrm>
          <a:prstGeom prst="rect">
            <a:avLst/>
          </a:prstGeom>
        </p:spPr>
      </p:pic>
      <p:sp>
        <p:nvSpPr>
          <p:cNvPr id="14" name="Text 10"/>
          <p:cNvSpPr/>
          <p:nvPr/>
        </p:nvSpPr>
        <p:spPr>
          <a:xfrm>
            <a:off x="3849624" y="1874520"/>
            <a:ext cx="1947672"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GenAI &amp; MLOps</a:t>
            </a:r>
            <a:endParaRPr lang="en-US" sz="1100" dirty="0"/>
          </a:p>
        </p:txBody>
      </p:sp>
      <p:sp>
        <p:nvSpPr>
          <p:cNvPr id="15" name="Text 11"/>
          <p:cNvSpPr/>
          <p:nvPr/>
        </p:nvSpPr>
        <p:spPr>
          <a:xfrm>
            <a:off x="3849624" y="2167128"/>
            <a:ext cx="1947672"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Generative AI solutions with production-grade lifecycle management — from…</a:t>
            </a:r>
            <a:endParaRPr lang="en-US" sz="1100" dirty="0"/>
          </a:p>
        </p:txBody>
      </p:sp>
      <p:sp>
        <p:nvSpPr>
          <p:cNvPr id="16" name="Shape 12"/>
          <p:cNvSpPr/>
          <p:nvPr/>
        </p:nvSpPr>
        <p:spPr>
          <a:xfrm>
            <a:off x="6053328" y="1783080"/>
            <a:ext cx="2633472"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17" name="Shape 13"/>
          <p:cNvSpPr/>
          <p:nvPr/>
        </p:nvSpPr>
        <p:spPr>
          <a:xfrm>
            <a:off x="6217920" y="1911096"/>
            <a:ext cx="292608" cy="292608"/>
          </a:xfrm>
          <a:prstGeom prst="ellipse">
            <a:avLst/>
          </a:prstGeom>
          <a:solidFill>
            <a:srgbClr val="059669"/>
          </a:solidFill>
          <a:ln/>
        </p:spPr>
      </p:sp>
      <p:pic>
        <p:nvPicPr>
          <p:cNvPr id="18" name="Image 2" descr="preencoded.png">    </p:cNvPr>
          <p:cNvPicPr>
            <a:picLocks noChangeAspect="1"/>
          </p:cNvPicPr>
          <p:nvPr/>
        </p:nvPicPr>
        <p:blipFill>
          <a:blip r:embed="rId3"/>
          <a:stretch>
            <a:fillRect/>
          </a:stretch>
        </p:blipFill>
        <p:spPr>
          <a:xfrm>
            <a:off x="6245352" y="1938528"/>
            <a:ext cx="237744" cy="237744"/>
          </a:xfrm>
          <a:prstGeom prst="rect">
            <a:avLst/>
          </a:prstGeom>
        </p:spPr>
      </p:pic>
      <p:sp>
        <p:nvSpPr>
          <p:cNvPr id="19" name="Text 14"/>
          <p:cNvSpPr/>
          <p:nvPr/>
        </p:nvSpPr>
        <p:spPr>
          <a:xfrm>
            <a:off x="6647688" y="1874520"/>
            <a:ext cx="1947672"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Cloud-Native Infrastructure</a:t>
            </a:r>
            <a:endParaRPr lang="en-US" sz="1100" dirty="0"/>
          </a:p>
        </p:txBody>
      </p:sp>
      <p:sp>
        <p:nvSpPr>
          <p:cNvPr id="20" name="Text 15"/>
          <p:cNvSpPr/>
          <p:nvPr/>
        </p:nvSpPr>
        <p:spPr>
          <a:xfrm>
            <a:off x="6647688" y="2167128"/>
            <a:ext cx="1947672"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Kubernetes-orchestrated architecture built to scale Autodesk's SaaS platform globally without…</a:t>
            </a:r>
            <a:endParaRPr lang="en-US" sz="1100" dirty="0"/>
          </a:p>
        </p:txBody>
      </p:sp>
      <p:sp>
        <p:nvSpPr>
          <p:cNvPr id="21" name="Shape 16"/>
          <p:cNvSpPr/>
          <p:nvPr/>
        </p:nvSpPr>
        <p:spPr>
          <a:xfrm>
            <a:off x="457200" y="2545080"/>
            <a:ext cx="2633472"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22" name="Shape 17"/>
          <p:cNvSpPr/>
          <p:nvPr/>
        </p:nvSpPr>
        <p:spPr>
          <a:xfrm>
            <a:off x="621792" y="2673096"/>
            <a:ext cx="292608" cy="292608"/>
          </a:xfrm>
          <a:prstGeom prst="ellipse">
            <a:avLst/>
          </a:prstGeom>
          <a:solidFill>
            <a:srgbClr val="059669"/>
          </a:solidFill>
          <a:ln/>
        </p:spPr>
      </p:sp>
      <p:pic>
        <p:nvPicPr>
          <p:cNvPr id="23" name="Image 3" descr="preencoded.png">    </p:cNvPr>
          <p:cNvPicPr>
            <a:picLocks noChangeAspect="1"/>
          </p:cNvPicPr>
          <p:nvPr/>
        </p:nvPicPr>
        <p:blipFill>
          <a:blip r:embed="rId4"/>
          <a:stretch>
            <a:fillRect/>
          </a:stretch>
        </p:blipFill>
        <p:spPr>
          <a:xfrm>
            <a:off x="649224" y="2700528"/>
            <a:ext cx="237744" cy="237744"/>
          </a:xfrm>
          <a:prstGeom prst="rect">
            <a:avLst/>
          </a:prstGeom>
        </p:spPr>
      </p:pic>
      <p:sp>
        <p:nvSpPr>
          <p:cNvPr id="24" name="Text 18"/>
          <p:cNvSpPr/>
          <p:nvPr/>
        </p:nvSpPr>
        <p:spPr>
          <a:xfrm>
            <a:off x="1051560" y="2636520"/>
            <a:ext cx="1947672"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CI/CD &amp; Platform Engineering</a:t>
            </a:r>
            <a:endParaRPr lang="en-US" sz="1100" dirty="0"/>
          </a:p>
        </p:txBody>
      </p:sp>
      <p:sp>
        <p:nvSpPr>
          <p:cNvPr id="25" name="Text 19"/>
          <p:cNvSpPr/>
          <p:nvPr/>
        </p:nvSpPr>
        <p:spPr>
          <a:xfrm>
            <a:off x="1051560" y="2929128"/>
            <a:ext cx="1947672"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Automated pipelines and reliability-first design that compress release…</a:t>
            </a:r>
            <a:endParaRPr lang="en-US" sz="1100" dirty="0"/>
          </a:p>
        </p:txBody>
      </p:sp>
      <p:sp>
        <p:nvSpPr>
          <p:cNvPr id="26" name="Shape 20"/>
          <p:cNvSpPr/>
          <p:nvPr/>
        </p:nvSpPr>
        <p:spPr>
          <a:xfrm>
            <a:off x="3255264" y="2545080"/>
            <a:ext cx="2633472"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27" name="Shape 21"/>
          <p:cNvSpPr/>
          <p:nvPr/>
        </p:nvSpPr>
        <p:spPr>
          <a:xfrm>
            <a:off x="3419856" y="2673096"/>
            <a:ext cx="292608" cy="292608"/>
          </a:xfrm>
          <a:prstGeom prst="ellipse">
            <a:avLst/>
          </a:prstGeom>
          <a:solidFill>
            <a:srgbClr val="059669"/>
          </a:solidFill>
          <a:ln/>
        </p:spPr>
      </p:sp>
      <p:pic>
        <p:nvPicPr>
          <p:cNvPr id="28" name="Image 4" descr="preencoded.png">    </p:cNvPr>
          <p:cNvPicPr>
            <a:picLocks noChangeAspect="1"/>
          </p:cNvPicPr>
          <p:nvPr/>
        </p:nvPicPr>
        <p:blipFill>
          <a:blip r:embed="rId5"/>
          <a:stretch>
            <a:fillRect/>
          </a:stretch>
        </p:blipFill>
        <p:spPr>
          <a:xfrm>
            <a:off x="3447288" y="2700528"/>
            <a:ext cx="237744" cy="237744"/>
          </a:xfrm>
          <a:prstGeom prst="rect">
            <a:avLst/>
          </a:prstGeom>
        </p:spPr>
      </p:pic>
      <p:sp>
        <p:nvSpPr>
          <p:cNvPr id="29" name="Text 22"/>
          <p:cNvSpPr/>
          <p:nvPr/>
        </p:nvSpPr>
        <p:spPr>
          <a:xfrm>
            <a:off x="3849624" y="2636520"/>
            <a:ext cx="1947672"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QA Automation</a:t>
            </a:r>
            <a:endParaRPr lang="en-US" sz="1100" dirty="0"/>
          </a:p>
        </p:txBody>
      </p:sp>
      <p:sp>
        <p:nvSpPr>
          <p:cNvPr id="30" name="Text 23"/>
          <p:cNvSpPr/>
          <p:nvPr/>
        </p:nvSpPr>
        <p:spPr>
          <a:xfrm>
            <a:off x="3849624" y="2929128"/>
            <a:ext cx="1947672"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End-to-end test automation across diverse CAD and 3D design formats,…</a:t>
            </a:r>
            <a:endParaRPr lang="en-US" sz="1100" dirty="0"/>
          </a:p>
        </p:txBody>
      </p:sp>
      <p:sp>
        <p:nvSpPr>
          <p:cNvPr id="31" name="Shape 24"/>
          <p:cNvSpPr/>
          <p:nvPr/>
        </p:nvSpPr>
        <p:spPr>
          <a:xfrm>
            <a:off x="6053328" y="2545080"/>
            <a:ext cx="2633472"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32" name="Shape 25"/>
          <p:cNvSpPr/>
          <p:nvPr/>
        </p:nvSpPr>
        <p:spPr>
          <a:xfrm>
            <a:off x="6217920" y="2673096"/>
            <a:ext cx="292608" cy="292608"/>
          </a:xfrm>
          <a:prstGeom prst="ellipse">
            <a:avLst/>
          </a:prstGeom>
          <a:solidFill>
            <a:srgbClr val="059669"/>
          </a:solidFill>
          <a:ln/>
        </p:spPr>
      </p:sp>
      <p:pic>
        <p:nvPicPr>
          <p:cNvPr id="33" name="Image 5" descr="preencoded.png">    </p:cNvPr>
          <p:cNvPicPr>
            <a:picLocks noChangeAspect="1"/>
          </p:cNvPicPr>
          <p:nvPr/>
        </p:nvPicPr>
        <p:blipFill>
          <a:blip r:embed="rId6"/>
          <a:stretch>
            <a:fillRect/>
          </a:stretch>
        </p:blipFill>
        <p:spPr>
          <a:xfrm>
            <a:off x="6245352" y="2700528"/>
            <a:ext cx="237744" cy="237744"/>
          </a:xfrm>
          <a:prstGeom prst="rect">
            <a:avLst/>
          </a:prstGeom>
        </p:spPr>
      </p:pic>
      <p:sp>
        <p:nvSpPr>
          <p:cNvPr id="34" name="Text 26"/>
          <p:cNvSpPr/>
          <p:nvPr/>
        </p:nvSpPr>
        <p:spPr>
          <a:xfrm>
            <a:off x="6647688" y="2636520"/>
            <a:ext cx="1947672"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Performance Testing</a:t>
            </a:r>
            <a:endParaRPr lang="en-US" sz="1100" dirty="0"/>
          </a:p>
        </p:txBody>
      </p:sp>
      <p:sp>
        <p:nvSpPr>
          <p:cNvPr id="35" name="Text 27"/>
          <p:cNvSpPr/>
          <p:nvPr/>
        </p:nvSpPr>
        <p:spPr>
          <a:xfrm>
            <a:off x="6647688" y="2929128"/>
            <a:ext cx="1947672"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Load, stress, and interoperability validation across Autodesk's entire product portfolio…</a:t>
            </a:r>
            <a:endParaRPr lang="en-US" sz="1100" dirty="0"/>
          </a:p>
        </p:txBody>
      </p:sp>
      <p:sp>
        <p:nvSpPr>
          <p:cNvPr id="36" name="Shape 28"/>
          <p:cNvSpPr/>
          <p:nvPr/>
        </p:nvSpPr>
        <p:spPr>
          <a:xfrm>
            <a:off x="457200" y="3307080"/>
            <a:ext cx="2633472"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37" name="Shape 29"/>
          <p:cNvSpPr/>
          <p:nvPr/>
        </p:nvSpPr>
        <p:spPr>
          <a:xfrm>
            <a:off x="621792" y="3435096"/>
            <a:ext cx="292608" cy="292608"/>
          </a:xfrm>
          <a:prstGeom prst="ellipse">
            <a:avLst/>
          </a:prstGeom>
          <a:solidFill>
            <a:srgbClr val="059669"/>
          </a:solidFill>
          <a:ln/>
        </p:spPr>
      </p:sp>
      <p:pic>
        <p:nvPicPr>
          <p:cNvPr id="38" name="Image 6" descr="preencoded.png">    </p:cNvPr>
          <p:cNvPicPr>
            <a:picLocks noChangeAspect="1"/>
          </p:cNvPicPr>
          <p:nvPr/>
        </p:nvPicPr>
        <p:blipFill>
          <a:blip r:embed="rId7"/>
          <a:stretch>
            <a:fillRect/>
          </a:stretch>
        </p:blipFill>
        <p:spPr>
          <a:xfrm>
            <a:off x="649224" y="3462528"/>
            <a:ext cx="237744" cy="237744"/>
          </a:xfrm>
          <a:prstGeom prst="rect">
            <a:avLst/>
          </a:prstGeom>
        </p:spPr>
      </p:pic>
      <p:sp>
        <p:nvSpPr>
          <p:cNvPr id="39" name="Text 30"/>
          <p:cNvSpPr/>
          <p:nvPr/>
        </p:nvSpPr>
        <p:spPr>
          <a:xfrm>
            <a:off x="1051560" y="3398520"/>
            <a:ext cx="1947672"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Data Pipelines &amp; Warehouses</a:t>
            </a:r>
            <a:endParaRPr lang="en-US" sz="1100" dirty="0"/>
          </a:p>
        </p:txBody>
      </p:sp>
      <p:sp>
        <p:nvSpPr>
          <p:cNvPr id="40" name="Text 31"/>
          <p:cNvSpPr/>
          <p:nvPr/>
        </p:nvSpPr>
        <p:spPr>
          <a:xfrm>
            <a:off x="1051560" y="3691128"/>
            <a:ext cx="1947672"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Real-time data platforms that transform Autodesk's design telemetry…</a:t>
            </a:r>
            <a:endParaRPr lang="en-US" sz="1100" dirty="0"/>
          </a:p>
        </p:txBody>
      </p:sp>
      <p:sp>
        <p:nvSpPr>
          <p:cNvPr id="41" name="Shape 32"/>
          <p:cNvSpPr/>
          <p:nvPr/>
        </p:nvSpPr>
        <p:spPr>
          <a:xfrm>
            <a:off x="3255264" y="3307080"/>
            <a:ext cx="2633472"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42" name="Shape 33"/>
          <p:cNvSpPr/>
          <p:nvPr/>
        </p:nvSpPr>
        <p:spPr>
          <a:xfrm>
            <a:off x="3419856" y="3435096"/>
            <a:ext cx="292608" cy="292608"/>
          </a:xfrm>
          <a:prstGeom prst="ellipse">
            <a:avLst/>
          </a:prstGeom>
          <a:solidFill>
            <a:srgbClr val="059669"/>
          </a:solidFill>
          <a:ln/>
        </p:spPr>
      </p:sp>
      <p:pic>
        <p:nvPicPr>
          <p:cNvPr id="43" name="Image 7" descr="preencoded.png">    </p:cNvPr>
          <p:cNvPicPr>
            <a:picLocks noChangeAspect="1"/>
          </p:cNvPicPr>
          <p:nvPr/>
        </p:nvPicPr>
        <p:blipFill>
          <a:blip r:embed="rId8"/>
          <a:stretch>
            <a:fillRect/>
          </a:stretch>
        </p:blipFill>
        <p:spPr>
          <a:xfrm>
            <a:off x="3447288" y="3462528"/>
            <a:ext cx="237744" cy="237744"/>
          </a:xfrm>
          <a:prstGeom prst="rect">
            <a:avLst/>
          </a:prstGeom>
        </p:spPr>
      </p:pic>
      <p:sp>
        <p:nvSpPr>
          <p:cNvPr id="44" name="Text 34"/>
          <p:cNvSpPr/>
          <p:nvPr/>
        </p:nvSpPr>
        <p:spPr>
          <a:xfrm>
            <a:off x="3849624" y="3398520"/>
            <a:ext cx="1947672"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Product Engineering</a:t>
            </a:r>
            <a:endParaRPr lang="en-US" sz="1100" dirty="0"/>
          </a:p>
        </p:txBody>
      </p:sp>
      <p:sp>
        <p:nvSpPr>
          <p:cNvPr id="45" name="Text 35"/>
          <p:cNvSpPr/>
          <p:nvPr/>
        </p:nvSpPr>
        <p:spPr>
          <a:xfrm>
            <a:off x="3849624" y="3691128"/>
            <a:ext cx="1947672"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Java, backend APIs, and UI/UX expertise that augment product squads…</a:t>
            </a:r>
            <a:endParaRPr lang="en-US" sz="1100" dirty="0"/>
          </a:p>
        </p:txBody>
      </p:sp>
      <p:sp>
        <p:nvSpPr>
          <p:cNvPr id="46" name="Shape 36"/>
          <p:cNvSpPr/>
          <p:nvPr/>
        </p:nvSpPr>
        <p:spPr>
          <a:xfrm>
            <a:off x="6053328" y="3307080"/>
            <a:ext cx="2633472" cy="624840"/>
          </a:xfrm>
          <a:prstGeom prst="rect">
            <a:avLst/>
          </a:prstGeom>
          <a:solidFill>
            <a:srgbClr val="E2E8F0"/>
          </a:solidFill>
          <a:ln w="6350">
            <a:solidFill>
              <a:srgbClr val="D0DCF0"/>
            </a:solidFill>
            <a:prstDash val="solid"/>
          </a:ln>
          <a:effectLst>
            <a:outerShdw sx="100000" sy="100000" kx="0" ky="0" algn="bl" rotWithShape="0" blurRad="101600" dist="38100" dir="8100000">
              <a:srgbClr val="000000">
                <a:alpha val="10000"/>
              </a:srgbClr>
            </a:outerShdw>
          </a:effectLst>
        </p:spPr>
      </p:sp>
      <p:sp>
        <p:nvSpPr>
          <p:cNvPr id="47" name="Shape 37"/>
          <p:cNvSpPr/>
          <p:nvPr/>
        </p:nvSpPr>
        <p:spPr>
          <a:xfrm>
            <a:off x="6217920" y="3435096"/>
            <a:ext cx="292608" cy="292608"/>
          </a:xfrm>
          <a:prstGeom prst="ellipse">
            <a:avLst/>
          </a:prstGeom>
          <a:solidFill>
            <a:srgbClr val="059669"/>
          </a:solidFill>
          <a:ln/>
        </p:spPr>
      </p:sp>
      <p:pic>
        <p:nvPicPr>
          <p:cNvPr id="48" name="Image 8" descr="preencoded.png">    </p:cNvPr>
          <p:cNvPicPr>
            <a:picLocks noChangeAspect="1"/>
          </p:cNvPicPr>
          <p:nvPr/>
        </p:nvPicPr>
        <p:blipFill>
          <a:blip r:embed="rId9"/>
          <a:stretch>
            <a:fillRect/>
          </a:stretch>
        </p:blipFill>
        <p:spPr>
          <a:xfrm>
            <a:off x="6245352" y="3462528"/>
            <a:ext cx="237744" cy="237744"/>
          </a:xfrm>
          <a:prstGeom prst="rect">
            <a:avLst/>
          </a:prstGeom>
        </p:spPr>
      </p:pic>
      <p:sp>
        <p:nvSpPr>
          <p:cNvPr id="49" name="Text 38"/>
          <p:cNvSpPr/>
          <p:nvPr/>
        </p:nvSpPr>
        <p:spPr>
          <a:xfrm>
            <a:off x="6647688" y="3398520"/>
            <a:ext cx="1947672" cy="274320"/>
          </a:xfrm>
          <a:prstGeom prst="rect">
            <a:avLst/>
          </a:prstGeom>
          <a:noFill/>
          <a:ln/>
        </p:spPr>
        <p:txBody>
          <a:bodyPr wrap="square" lIns="0" tIns="0" rIns="0" bIns="0" rtlCol="0" anchor="ctr">
            <a:normAutofit/>
          </a:bodyPr>
          <a:lstStyle/>
          <a:p>
            <a:pPr algn="l" indent="0" marL="0">
              <a:buNone/>
            </a:pPr>
            <a:r>
              <a:rPr lang="en-US" sz="1100" b="1" dirty="0">
                <a:solidFill>
                  <a:srgbClr val="1A1A2E"/>
                </a:solidFill>
                <a:latin typeface="Calibri" pitchFamily="34" charset="0"/>
                <a:ea typeface="Calibri" pitchFamily="34" charset="-122"/>
                <a:cs typeface="Calibri" pitchFamily="34" charset="-120"/>
              </a:rPr>
              <a:t>Engagement Models</a:t>
            </a:r>
            <a:endParaRPr lang="en-US" sz="1100" dirty="0"/>
          </a:p>
        </p:txBody>
      </p:sp>
      <p:sp>
        <p:nvSpPr>
          <p:cNvPr id="50" name="Text 39"/>
          <p:cNvSpPr/>
          <p:nvPr/>
        </p:nvSpPr>
        <p:spPr>
          <a:xfrm>
            <a:off x="6647688" y="3691128"/>
            <a:ext cx="1947672" cy="182880"/>
          </a:xfrm>
          <a:prstGeom prst="rect">
            <a:avLst/>
          </a:prstGeom>
          <a:noFill/>
          <a:ln/>
        </p:spPr>
        <p:txBody>
          <a:bodyPr wrap="square" lIns="0" tIns="0" rIns="0" bIns="0" rtlCol="0" anchor="t">
            <a:normAutofit/>
          </a:bodyPr>
          <a:lstStyle/>
          <a:p>
            <a:pPr algn="l" indent="0" marL="0">
              <a:buNone/>
            </a:pPr>
            <a:r>
              <a:rPr lang="en-US" sz="1100" dirty="0">
                <a:solidFill>
                  <a:srgbClr val="64748B"/>
                </a:solidFill>
                <a:latin typeface="Calibri Light" pitchFamily="34" charset="0"/>
                <a:ea typeface="Calibri Light" pitchFamily="34" charset="-122"/>
                <a:cs typeface="Calibri Light" pitchFamily="34" charset="-120"/>
              </a:rPr>
              <a:t>Staff augmentation for targeted scaling or managed services for complete…</a:t>
            </a:r>
            <a:endParaRPr lang="en-US" sz="1100" dirty="0"/>
          </a:p>
        </p:txBody>
      </p:sp>
      <p:sp>
        <p:nvSpPr>
          <p:cNvPr id="51" name="Text 40"/>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8 / 13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0" y="91440"/>
            <a:ext cx="4572000" cy="3200400"/>
          </a:xfrm>
          <a:prstGeom prst="rect">
            <a:avLst/>
          </a:prstGeom>
          <a:noFill/>
          <a:ln/>
        </p:spPr>
        <p:txBody>
          <a:bodyPr wrap="square" lIns="0" tIns="0" rIns="0" bIns="0" rtlCol="0" anchor="ctr"/>
          <a:lstStyle/>
          <a:p>
            <a:pPr algn="r" indent="0" marL="0">
              <a:buNone/>
            </a:pPr>
            <a:r>
              <a:rPr lang="en-US" sz="16000" b="1" dirty="0">
                <a:solidFill>
                  <a:srgbClr val="059669">
                    <a:alpha val="15000"/>
                  </a:srgbClr>
                </a:solidFill>
                <a:latin typeface="Calibri" pitchFamily="34" charset="0"/>
                <a:ea typeface="Calibri" pitchFamily="34" charset="-122"/>
                <a:cs typeface="Calibri" pitchFamily="34" charset="-120"/>
              </a:rPr>
              <a:t>09</a:t>
            </a:r>
            <a:endParaRPr lang="en-US" sz="16000" dirty="0"/>
          </a:p>
        </p:txBody>
      </p:sp>
      <p:sp>
        <p:nvSpPr>
          <p:cNvPr id="3" name="Shape 1"/>
          <p:cNvSpPr/>
          <p:nvPr/>
        </p:nvSpPr>
        <p:spPr>
          <a:xfrm>
            <a:off x="548640" y="1097280"/>
            <a:ext cx="54864" cy="2560320"/>
          </a:xfrm>
          <a:prstGeom prst="rect">
            <a:avLst/>
          </a:prstGeom>
          <a:solidFill>
            <a:srgbClr val="059669"/>
          </a:solidFill>
          <a:ln/>
        </p:spPr>
      </p:sp>
      <p:sp>
        <p:nvSpPr>
          <p:cNvPr id="4" name="Text 2"/>
          <p:cNvSpPr/>
          <p:nvPr/>
        </p:nvSpPr>
        <p:spPr>
          <a:xfrm>
            <a:off x="822960" y="1188720"/>
            <a:ext cx="7772400" cy="320040"/>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SECTION</a:t>
            </a:r>
            <a:endParaRPr lang="en-US" sz="1100" dirty="0"/>
          </a:p>
        </p:txBody>
      </p:sp>
      <p:sp>
        <p:nvSpPr>
          <p:cNvPr id="5" name="Text 3"/>
          <p:cNvSpPr/>
          <p:nvPr/>
        </p:nvSpPr>
        <p:spPr>
          <a:xfrm>
            <a:off x="822960" y="1600200"/>
            <a:ext cx="7772400" cy="1645920"/>
          </a:xfrm>
          <a:prstGeom prst="rect">
            <a:avLst/>
          </a:prstGeom>
          <a:noFill/>
          <a:ln/>
        </p:spPr>
        <p:txBody>
          <a:bodyPr wrap="square" lIns="0" tIns="0" rIns="0" bIns="0" rtlCol="0" anchor="t"/>
          <a:lstStyle/>
          <a:p>
            <a:pPr algn="l" indent="0" marL="0">
              <a:buNone/>
            </a:pPr>
            <a:r>
              <a:rPr lang="en-US" sz="2600" b="1" spc="200" kern="0" dirty="0">
                <a:solidFill>
                  <a:srgbClr val="F8F9FA"/>
                </a:solidFill>
                <a:latin typeface="Calibri" pitchFamily="34" charset="0"/>
                <a:ea typeface="Calibri" pitchFamily="34" charset="-122"/>
                <a:cs typeface="Calibri" pitchFamily="34" charset="-120"/>
              </a:rPr>
              <a:t>PROOF THAT THIS WORKS FOR AUTODESK</a:t>
            </a:r>
            <a:endParaRPr lang="en-US" sz="2600" dirty="0"/>
          </a:p>
        </p:txBody>
      </p:sp>
      <p:sp>
        <p:nvSpPr>
          <p:cNvPr id="6" name="Text 4"/>
          <p:cNvSpPr/>
          <p:nvPr/>
        </p:nvSpPr>
        <p:spPr>
          <a:xfrm>
            <a:off x="822960" y="3337560"/>
            <a:ext cx="7315200" cy="548640"/>
          </a:xfrm>
          <a:prstGeom prst="rect">
            <a:avLst/>
          </a:prstGeom>
          <a:noFill/>
          <a:ln/>
        </p:spPr>
        <p:txBody>
          <a:bodyPr wrap="square" lIns="0" tIns="0" rIns="0" bIns="0" rtlCol="0" anchor="ctr"/>
          <a:lstStyle/>
          <a:p>
            <a:pPr algn="l" indent="0" marL="0">
              <a:buNone/>
            </a:pPr>
            <a:r>
              <a:rPr lang="en-US" sz="1400" i="1" dirty="0">
                <a:solidFill>
                  <a:srgbClr val="C8D8E8"/>
                </a:solidFill>
                <a:latin typeface="Calibri Light" pitchFamily="34" charset="0"/>
                <a:ea typeface="Calibri Light" pitchFamily="34" charset="-122"/>
                <a:cs typeface="Calibri Light" pitchFamily="34" charset="-120"/>
              </a:rPr>
              <a:t>Real results from a comparably complex platform with diverse product interoperability challenges.</a:t>
            </a:r>
            <a:endParaRPr lang="en-US" sz="1400" dirty="0"/>
          </a:p>
        </p:txBody>
      </p:sp>
      <p:sp>
        <p:nvSpPr>
          <p:cNvPr id="7" name="Text 5"/>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C8D8E8"/>
                </a:solidFill>
                <a:latin typeface="Calibri" pitchFamily="34" charset="0"/>
                <a:ea typeface="Calibri" pitchFamily="34" charset="-122"/>
                <a:cs typeface="Calibri" pitchFamily="34" charset="-120"/>
              </a:rPr>
              <a:t>9 / 13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59669">
              <a:alpha val="6000"/>
            </a:srgbClr>
          </a:solidFill>
          <a:ln w="12700">
            <a:solidFill>
              <a:srgbClr val="059669"/>
            </a:solidFill>
            <a:prstDash val="solid"/>
          </a:ln>
        </p:spPr>
      </p:sp>
      <p:sp>
        <p:nvSpPr>
          <p:cNvPr id="3" name="Shape 1"/>
          <p:cNvSpPr/>
          <p:nvPr/>
        </p:nvSpPr>
        <p:spPr>
          <a:xfrm>
            <a:off x="0" y="0"/>
            <a:ext cx="9144000" cy="475488"/>
          </a:xfrm>
          <a:prstGeom prst="rect">
            <a:avLst/>
          </a:prstGeom>
          <a:solidFill>
            <a:srgbClr val="0D1B2A"/>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CASE STUDY</a:t>
            </a:r>
            <a:endParaRPr lang="en-US" sz="1100" dirty="0"/>
          </a:p>
        </p:txBody>
      </p:sp>
      <p:sp>
        <p:nvSpPr>
          <p:cNvPr id="5" name="Text 3"/>
          <p:cNvSpPr/>
          <p:nvPr/>
        </p:nvSpPr>
        <p:spPr>
          <a:xfrm>
            <a:off x="457200" y="548640"/>
            <a:ext cx="8229600" cy="777240"/>
          </a:xfrm>
          <a:prstGeom prst="rect">
            <a:avLst/>
          </a:prstGeom>
          <a:noFill/>
          <a:ln/>
        </p:spPr>
        <p:txBody>
          <a:bodyPr wrap="square" lIns="0" tIns="0" rIns="0" bIns="0" rtlCol="0" anchor="t">
            <a:normAutofit/>
          </a:bodyPr>
          <a:lstStyle/>
          <a:p>
            <a:pPr algn="l" indent="0" marL="0">
              <a:buNone/>
            </a:pPr>
            <a:r>
              <a:rPr lang="en-US" sz="2200" b="1" dirty="0">
                <a:solidFill>
                  <a:srgbClr val="1A1A2E"/>
                </a:solidFill>
                <a:latin typeface="Cambria" pitchFamily="34" charset="0"/>
                <a:ea typeface="Cambria" pitchFamily="34" charset="-122"/>
                <a:cs typeface="Cambria" pitchFamily="34" charset="-120"/>
              </a:rPr>
              <a:t>Tata Motors: From Days to Hours in Regression Testing</a:t>
            </a:r>
            <a:endParaRPr lang="en-US" sz="2200" dirty="0"/>
          </a:p>
        </p:txBody>
      </p:sp>
      <p:sp>
        <p:nvSpPr>
          <p:cNvPr id="6" name="Shape 4"/>
          <p:cNvSpPr/>
          <p:nvPr/>
        </p:nvSpPr>
        <p:spPr>
          <a:xfrm>
            <a:off x="457200" y="1417320"/>
            <a:ext cx="8229600" cy="123444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7000"/>
              </a:srgbClr>
            </a:outerShdw>
          </a:effectLst>
        </p:spPr>
      </p:sp>
      <p:sp>
        <p:nvSpPr>
          <p:cNvPr id="7" name="Shape 5"/>
          <p:cNvSpPr/>
          <p:nvPr/>
        </p:nvSpPr>
        <p:spPr>
          <a:xfrm>
            <a:off x="457200" y="1417320"/>
            <a:ext cx="8229600" cy="54864"/>
          </a:xfrm>
          <a:prstGeom prst="rect">
            <a:avLst/>
          </a:prstGeom>
          <a:solidFill>
            <a:srgbClr val="E8B84B"/>
          </a:solidFill>
          <a:ln w="12700">
            <a:solidFill>
              <a:srgbClr val="E8B84B"/>
            </a:solidFill>
            <a:prstDash val="solid"/>
          </a:ln>
        </p:spPr>
      </p:sp>
      <p:sp>
        <p:nvSpPr>
          <p:cNvPr id="8" name="Text 6"/>
          <p:cNvSpPr/>
          <p:nvPr/>
        </p:nvSpPr>
        <p:spPr>
          <a:xfrm>
            <a:off x="685800" y="1508760"/>
            <a:ext cx="7772400" cy="1051560"/>
          </a:xfrm>
          <a:prstGeom prst="rect">
            <a:avLst/>
          </a:prstGeom>
          <a:noFill/>
          <a:ln/>
        </p:spPr>
        <p:txBody>
          <a:bodyPr wrap="square" rtlCol="0" anchor="ctr">
            <a:normAutofit/>
          </a:bodyPr>
          <a:lstStyle/>
          <a:p>
            <a:pPr indent="0" marL="0">
              <a:buNone/>
            </a:pPr>
            <a:r>
              <a:rPr lang="en-US" sz="1500" i="1" dirty="0">
                <a:solidFill>
                  <a:srgbClr val="1A1A2E"/>
                </a:solidFill>
                <a:latin typeface="Cambria" pitchFamily="34" charset="0"/>
                <a:ea typeface="Cambria" pitchFamily="34" charset="-122"/>
                <a:cs typeface="Cambria" pitchFamily="34" charset="-120"/>
              </a:rPr>
              <a:t>""Quarks transformed our quality engineering from a bottleneck into a competitive advantage — what took days now takes hours.""</a:t>
            </a:r>
            <a:endParaRPr lang="en-US" sz="1500" dirty="0"/>
          </a:p>
        </p:txBody>
      </p:sp>
      <p:sp>
        <p:nvSpPr>
          <p:cNvPr id="9" name="Shape 7"/>
          <p:cNvSpPr/>
          <p:nvPr/>
        </p:nvSpPr>
        <p:spPr>
          <a:xfrm>
            <a:off x="457200" y="2788920"/>
            <a:ext cx="3931920" cy="804672"/>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10" name="Shape 8"/>
          <p:cNvSpPr/>
          <p:nvPr/>
        </p:nvSpPr>
        <p:spPr>
          <a:xfrm>
            <a:off x="457200" y="2788920"/>
            <a:ext cx="54864" cy="804672"/>
          </a:xfrm>
          <a:prstGeom prst="rect">
            <a:avLst/>
          </a:prstGeom>
          <a:solidFill>
            <a:srgbClr val="059669"/>
          </a:solidFill>
          <a:ln w="12700">
            <a:solidFill>
              <a:srgbClr val="059669"/>
            </a:solidFill>
            <a:prstDash val="solid"/>
          </a:ln>
        </p:spPr>
      </p:sp>
      <p:pic>
        <p:nvPicPr>
          <p:cNvPr id="11" name="Image 0" descr="preencoded.png">    </p:cNvPr>
          <p:cNvPicPr>
            <a:picLocks noChangeAspect="1"/>
          </p:cNvPicPr>
          <p:nvPr/>
        </p:nvPicPr>
        <p:blipFill>
          <a:blip r:embed="rId1"/>
          <a:stretch>
            <a:fillRect/>
          </a:stretch>
        </p:blipFill>
        <p:spPr>
          <a:xfrm>
            <a:off x="621792" y="2990088"/>
            <a:ext cx="329184" cy="329184"/>
          </a:xfrm>
          <a:prstGeom prst="rect">
            <a:avLst/>
          </a:prstGeom>
        </p:spPr>
      </p:pic>
      <p:sp>
        <p:nvSpPr>
          <p:cNvPr id="12" name="Text 9"/>
          <p:cNvSpPr/>
          <p:nvPr/>
        </p:nvSpPr>
        <p:spPr>
          <a:xfrm>
            <a:off x="1060704" y="2788920"/>
            <a:ext cx="3273552" cy="804672"/>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Calibri" pitchFamily="34" charset="0"/>
                <a:ea typeface="Calibri" pitchFamily="34" charset="-122"/>
                <a:cs typeface="Calibri" pitchFamily="34" charset="-120"/>
              </a:rPr>
              <a:t>Full regression suite in 2.5 hours vs. 3 days manual — 96%…</a:t>
            </a:r>
            <a:endParaRPr lang="en-US" sz="1300" dirty="0"/>
          </a:p>
        </p:txBody>
      </p:sp>
      <p:sp>
        <p:nvSpPr>
          <p:cNvPr id="13" name="Shape 10"/>
          <p:cNvSpPr/>
          <p:nvPr/>
        </p:nvSpPr>
        <p:spPr>
          <a:xfrm>
            <a:off x="4754880" y="2788920"/>
            <a:ext cx="3931920" cy="804672"/>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14" name="Shape 11"/>
          <p:cNvSpPr/>
          <p:nvPr/>
        </p:nvSpPr>
        <p:spPr>
          <a:xfrm>
            <a:off x="4754880" y="2788920"/>
            <a:ext cx="54864" cy="804672"/>
          </a:xfrm>
          <a:prstGeom prst="rect">
            <a:avLst/>
          </a:prstGeom>
          <a:solidFill>
            <a:srgbClr val="059669"/>
          </a:solidFill>
          <a:ln w="12700">
            <a:solidFill>
              <a:srgbClr val="059669"/>
            </a:solidFill>
            <a:prstDash val="solid"/>
          </a:ln>
        </p:spPr>
      </p:sp>
      <p:pic>
        <p:nvPicPr>
          <p:cNvPr id="15" name="Image 1" descr="preencoded.png">    </p:cNvPr>
          <p:cNvPicPr>
            <a:picLocks noChangeAspect="1"/>
          </p:cNvPicPr>
          <p:nvPr/>
        </p:nvPicPr>
        <p:blipFill>
          <a:blip r:embed="rId2"/>
          <a:stretch>
            <a:fillRect/>
          </a:stretch>
        </p:blipFill>
        <p:spPr>
          <a:xfrm>
            <a:off x="4919472" y="2990088"/>
            <a:ext cx="329184" cy="329184"/>
          </a:xfrm>
          <a:prstGeom prst="rect">
            <a:avLst/>
          </a:prstGeom>
        </p:spPr>
      </p:pic>
      <p:sp>
        <p:nvSpPr>
          <p:cNvPr id="16" name="Text 12"/>
          <p:cNvSpPr/>
          <p:nvPr/>
        </p:nvSpPr>
        <p:spPr>
          <a:xfrm>
            <a:off x="5358384" y="2788920"/>
            <a:ext cx="3273552" cy="804672"/>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Calibri" pitchFamily="34" charset="0"/>
                <a:ea typeface="Calibri" pitchFamily="34" charset="-122"/>
                <a:cs typeface="Calibri" pitchFamily="34" charset="-120"/>
              </a:rPr>
              <a:t>Defect escape rate dropped to 0.3% across complex dealer portal</a:t>
            </a:r>
            <a:endParaRPr lang="en-US" sz="1300" dirty="0"/>
          </a:p>
        </p:txBody>
      </p:sp>
      <p:sp>
        <p:nvSpPr>
          <p:cNvPr id="17" name="Shape 13"/>
          <p:cNvSpPr/>
          <p:nvPr/>
        </p:nvSpPr>
        <p:spPr>
          <a:xfrm>
            <a:off x="457200" y="3611880"/>
            <a:ext cx="3931920" cy="804672"/>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18" name="Shape 14"/>
          <p:cNvSpPr/>
          <p:nvPr/>
        </p:nvSpPr>
        <p:spPr>
          <a:xfrm>
            <a:off x="457200" y="3611880"/>
            <a:ext cx="54864" cy="804672"/>
          </a:xfrm>
          <a:prstGeom prst="rect">
            <a:avLst/>
          </a:prstGeom>
          <a:solidFill>
            <a:srgbClr val="059669"/>
          </a:solidFill>
          <a:ln w="12700">
            <a:solidFill>
              <a:srgbClr val="059669"/>
            </a:solidFill>
            <a:prstDash val="solid"/>
          </a:ln>
        </p:spPr>
      </p:sp>
      <p:pic>
        <p:nvPicPr>
          <p:cNvPr id="19" name="Image 2" descr="preencoded.png">    </p:cNvPr>
          <p:cNvPicPr>
            <a:picLocks noChangeAspect="1"/>
          </p:cNvPicPr>
          <p:nvPr/>
        </p:nvPicPr>
        <p:blipFill>
          <a:blip r:embed="rId3"/>
          <a:stretch>
            <a:fillRect/>
          </a:stretch>
        </p:blipFill>
        <p:spPr>
          <a:xfrm>
            <a:off x="621792" y="3813048"/>
            <a:ext cx="329184" cy="329184"/>
          </a:xfrm>
          <a:prstGeom prst="rect">
            <a:avLst/>
          </a:prstGeom>
        </p:spPr>
      </p:pic>
      <p:sp>
        <p:nvSpPr>
          <p:cNvPr id="20" name="Text 15"/>
          <p:cNvSpPr/>
          <p:nvPr/>
        </p:nvSpPr>
        <p:spPr>
          <a:xfrm>
            <a:off x="1060704" y="3611880"/>
            <a:ext cx="3273552" cy="804672"/>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Calibri" pitchFamily="34" charset="0"/>
                <a:ea typeface="Calibri" pitchFamily="34" charset="-122"/>
                <a:cs typeface="Calibri" pitchFamily="34" charset="-120"/>
              </a:rPr>
              <a:t>Automated testing across diverse product configurations and formats</a:t>
            </a:r>
            <a:endParaRPr lang="en-US" sz="1300" dirty="0"/>
          </a:p>
        </p:txBody>
      </p:sp>
      <p:sp>
        <p:nvSpPr>
          <p:cNvPr id="21" name="Shape 16"/>
          <p:cNvSpPr/>
          <p:nvPr/>
        </p:nvSpPr>
        <p:spPr>
          <a:xfrm>
            <a:off x="4754880" y="3611880"/>
            <a:ext cx="3931920" cy="804672"/>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6000"/>
              </a:srgbClr>
            </a:outerShdw>
          </a:effectLst>
        </p:spPr>
      </p:sp>
      <p:sp>
        <p:nvSpPr>
          <p:cNvPr id="22" name="Shape 17"/>
          <p:cNvSpPr/>
          <p:nvPr/>
        </p:nvSpPr>
        <p:spPr>
          <a:xfrm>
            <a:off x="4754880" y="3611880"/>
            <a:ext cx="54864" cy="804672"/>
          </a:xfrm>
          <a:prstGeom prst="rect">
            <a:avLst/>
          </a:prstGeom>
          <a:solidFill>
            <a:srgbClr val="059669"/>
          </a:solidFill>
          <a:ln w="12700">
            <a:solidFill>
              <a:srgbClr val="059669"/>
            </a:solidFill>
            <a:prstDash val="solid"/>
          </a:ln>
        </p:spPr>
      </p:sp>
      <p:pic>
        <p:nvPicPr>
          <p:cNvPr id="23" name="Image 3" descr="preencoded.png">    </p:cNvPr>
          <p:cNvPicPr>
            <a:picLocks noChangeAspect="1"/>
          </p:cNvPicPr>
          <p:nvPr/>
        </p:nvPicPr>
        <p:blipFill>
          <a:blip r:embed="rId4"/>
          <a:stretch>
            <a:fillRect/>
          </a:stretch>
        </p:blipFill>
        <p:spPr>
          <a:xfrm>
            <a:off x="4919472" y="3813048"/>
            <a:ext cx="329184" cy="329184"/>
          </a:xfrm>
          <a:prstGeom prst="rect">
            <a:avLst/>
          </a:prstGeom>
        </p:spPr>
      </p:pic>
      <p:sp>
        <p:nvSpPr>
          <p:cNvPr id="24" name="Text 18"/>
          <p:cNvSpPr/>
          <p:nvPr/>
        </p:nvSpPr>
        <p:spPr>
          <a:xfrm>
            <a:off x="5358384" y="3611880"/>
            <a:ext cx="3273552" cy="804672"/>
          </a:xfrm>
          <a:prstGeom prst="rect">
            <a:avLst/>
          </a:prstGeom>
          <a:noFill/>
          <a:ln/>
        </p:spPr>
        <p:txBody>
          <a:bodyPr wrap="square" lIns="0" tIns="0" rIns="0" bIns="0" rtlCol="0" anchor="ctr">
            <a:normAutofit/>
          </a:bodyPr>
          <a:lstStyle/>
          <a:p>
            <a:pPr indent="0" marL="0">
              <a:buNone/>
            </a:pPr>
            <a:r>
              <a:rPr lang="en-US" sz="1300" dirty="0">
                <a:solidFill>
                  <a:srgbClr val="64748B"/>
                </a:solidFill>
                <a:latin typeface="Calibri" pitchFamily="34" charset="0"/>
                <a:ea typeface="Calibri" pitchFamily="34" charset="-122"/>
                <a:cs typeface="Calibri" pitchFamily="34" charset="-120"/>
              </a:rPr>
              <a:t>Same integrated approach applies to Autodesk's CAD and 3D interoperability</a:t>
            </a:r>
            <a:endParaRPr lang="en-US" sz="1300" dirty="0"/>
          </a:p>
        </p:txBody>
      </p:sp>
      <p:sp>
        <p:nvSpPr>
          <p:cNvPr id="25" name="Text 19"/>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10 / 13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6858000" y="2743200"/>
            <a:ext cx="3657600" cy="3657600"/>
          </a:xfrm>
          <a:prstGeom prst="ellipse">
            <a:avLst/>
          </a:prstGeom>
          <a:solidFill>
            <a:srgbClr val="059669">
              <a:alpha val="6000"/>
            </a:srgbClr>
          </a:solidFill>
          <a:ln w="12700">
            <a:solidFill>
              <a:srgbClr val="059669"/>
            </a:solidFill>
            <a:prstDash val="solid"/>
          </a:ln>
        </p:spPr>
      </p:sp>
      <p:sp>
        <p:nvSpPr>
          <p:cNvPr id="3" name="Shape 1"/>
          <p:cNvSpPr/>
          <p:nvPr/>
        </p:nvSpPr>
        <p:spPr>
          <a:xfrm>
            <a:off x="0" y="0"/>
            <a:ext cx="9144000" cy="475488"/>
          </a:xfrm>
          <a:prstGeom prst="rect">
            <a:avLst/>
          </a:prstGeom>
          <a:solidFill>
            <a:srgbClr val="0D1B2A"/>
          </a:solidFill>
          <a:ln/>
        </p:spPr>
      </p:sp>
      <p:sp>
        <p:nvSpPr>
          <p:cNvPr id="4" name="Text 2"/>
          <p:cNvSpPr/>
          <p:nvPr/>
        </p:nvSpPr>
        <p:spPr>
          <a:xfrm>
            <a:off x="365760" y="0"/>
            <a:ext cx="8412480" cy="475488"/>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ENGAGEMENT</a:t>
            </a:r>
            <a:endParaRPr lang="en-US" sz="1100" dirty="0"/>
          </a:p>
        </p:txBody>
      </p:sp>
      <p:sp>
        <p:nvSpPr>
          <p:cNvPr id="5" name="Text 3"/>
          <p:cNvSpPr/>
          <p:nvPr/>
        </p:nvSpPr>
        <p:spPr>
          <a:xfrm>
            <a:off x="457200" y="548640"/>
            <a:ext cx="8229600" cy="777240"/>
          </a:xfrm>
          <a:prstGeom prst="rect">
            <a:avLst/>
          </a:prstGeom>
          <a:noFill/>
          <a:ln/>
        </p:spPr>
        <p:txBody>
          <a:bodyPr wrap="square" lIns="0" tIns="0" rIns="0" bIns="0" rtlCol="0" anchor="t">
            <a:normAutofit/>
          </a:bodyPr>
          <a:lstStyle/>
          <a:p>
            <a:pPr algn="l" indent="0" marL="0">
              <a:buNone/>
            </a:pPr>
            <a:r>
              <a:rPr lang="en-US" sz="2200" b="1" dirty="0">
                <a:solidFill>
                  <a:srgbClr val="1A1A2E"/>
                </a:solidFill>
                <a:latin typeface="Cambria" pitchFamily="34" charset="0"/>
                <a:ea typeface="Cambria" pitchFamily="34" charset="-122"/>
                <a:cs typeface="Cambria" pitchFamily="34" charset="-120"/>
              </a:rPr>
              <a:t>Choose Your Starting Point With Quarks</a:t>
            </a:r>
            <a:endParaRPr lang="en-US" sz="2200" dirty="0"/>
          </a:p>
        </p:txBody>
      </p:sp>
      <p:sp>
        <p:nvSpPr>
          <p:cNvPr id="6" name="Text 4"/>
          <p:cNvSpPr/>
          <p:nvPr/>
        </p:nvSpPr>
        <p:spPr>
          <a:xfrm>
            <a:off x="457200" y="1371600"/>
            <a:ext cx="8229600" cy="320040"/>
          </a:xfrm>
          <a:prstGeom prst="rect">
            <a:avLst/>
          </a:prstGeom>
          <a:noFill/>
          <a:ln/>
        </p:spPr>
        <p:txBody>
          <a:bodyPr wrap="square" lIns="0" tIns="0" rIns="0" bIns="0" rtlCol="0" anchor="t">
            <a:normAutofit/>
          </a:bodyPr>
          <a:lstStyle/>
          <a:p>
            <a:pPr algn="l" indent="0" marL="0">
              <a:buNone/>
            </a:pPr>
            <a:r>
              <a:rPr lang="en-US" sz="1300" i="1" dirty="0">
                <a:solidFill>
                  <a:srgbClr val="047857"/>
                </a:solidFill>
                <a:latin typeface="Calibri" pitchFamily="34" charset="0"/>
                <a:ea typeface="Calibri" pitchFamily="34" charset="-122"/>
                <a:cs typeface="Calibri" pitchFamily="34" charset="-120"/>
              </a:rPr>
              <a:t>Proven at scale with Tata Motors — now let's shape how Autodesk begins.</a:t>
            </a:r>
            <a:endParaRPr lang="en-US" sz="1300" dirty="0"/>
          </a:p>
        </p:txBody>
      </p:sp>
      <p:sp>
        <p:nvSpPr>
          <p:cNvPr id="7" name="Shape 5"/>
          <p:cNvSpPr/>
          <p:nvPr/>
        </p:nvSpPr>
        <p:spPr>
          <a:xfrm>
            <a:off x="457200" y="1783080"/>
            <a:ext cx="2609088" cy="457200"/>
          </a:xfrm>
          <a:prstGeom prst="rect">
            <a:avLst/>
          </a:prstGeom>
          <a:solidFill>
            <a:srgbClr val="047857"/>
          </a:solidFill>
          <a:ln w="12700">
            <a:solidFill>
              <a:srgbClr val="047857"/>
            </a:solidFill>
            <a:prstDash val="solid"/>
          </a:ln>
        </p:spPr>
      </p:sp>
      <p:sp>
        <p:nvSpPr>
          <p:cNvPr id="8" name="Text 6"/>
          <p:cNvSpPr/>
          <p:nvPr/>
        </p:nvSpPr>
        <p:spPr>
          <a:xfrm>
            <a:off x="457200" y="1783080"/>
            <a:ext cx="2609088" cy="4572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Staff Augmentation</a:t>
            </a:r>
            <a:endParaRPr lang="en-US" sz="1300" dirty="0"/>
          </a:p>
        </p:txBody>
      </p:sp>
      <p:sp>
        <p:nvSpPr>
          <p:cNvPr id="9" name="Shape 7"/>
          <p:cNvSpPr/>
          <p:nvPr/>
        </p:nvSpPr>
        <p:spPr>
          <a:xfrm>
            <a:off x="457200" y="2240280"/>
            <a:ext cx="2609088" cy="219456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5000"/>
              </a:srgbClr>
            </a:outerShdw>
          </a:effectLst>
        </p:spPr>
      </p:sp>
      <p:sp>
        <p:nvSpPr>
          <p:cNvPr id="10" name="Text 8"/>
          <p:cNvSpPr/>
          <p:nvPr/>
        </p:nvSpPr>
        <p:spPr>
          <a:xfrm>
            <a:off x="566928" y="2331720"/>
            <a:ext cx="2389632" cy="2011680"/>
          </a:xfrm>
          <a:prstGeom prst="rect">
            <a:avLst/>
          </a:prstGeom>
          <a:noFill/>
          <a:ln/>
        </p:spPr>
        <p:txBody>
          <a:bodyPr wrap="square" rtlCol="0" anchor="t">
            <a:normAutofit/>
          </a:bodyPr>
          <a:lstStyle/>
          <a:p>
            <a:pPr marL="342900" indent="-342900">
              <a:spcAft>
                <a:spcPts val="600"/>
              </a:spcAft>
              <a:buSzPct val="100000"/>
              <a:buChar char="•"/>
            </a:pPr>
            <a:r>
              <a:rPr lang="en-US" sz="1200" dirty="0">
                <a:solidFill>
                  <a:srgbClr val="64748B"/>
                </a:solidFill>
                <a:latin typeface="Calibri" pitchFamily="34" charset="0"/>
                <a:ea typeface="Calibri" pitchFamily="34" charset="-122"/>
                <a:cs typeface="Calibri" pitchFamily="34" charset="-120"/>
              </a:rPr>
              <a:t>Embed Quarks experts in AI/ML, platform engineering, or QA automation…</a:t>
            </a:r>
            <a:endParaRPr lang="en-US" sz="1200" dirty="0"/>
          </a:p>
        </p:txBody>
      </p:sp>
      <p:sp>
        <p:nvSpPr>
          <p:cNvPr id="11" name="Shape 9"/>
          <p:cNvSpPr/>
          <p:nvPr/>
        </p:nvSpPr>
        <p:spPr>
          <a:xfrm>
            <a:off x="3267456" y="1783080"/>
            <a:ext cx="2609088" cy="457200"/>
          </a:xfrm>
          <a:prstGeom prst="rect">
            <a:avLst/>
          </a:prstGeom>
          <a:solidFill>
            <a:srgbClr val="059669"/>
          </a:solidFill>
          <a:ln w="12700">
            <a:solidFill>
              <a:srgbClr val="059669"/>
            </a:solidFill>
            <a:prstDash val="solid"/>
          </a:ln>
        </p:spPr>
      </p:sp>
      <p:sp>
        <p:nvSpPr>
          <p:cNvPr id="12" name="Text 10"/>
          <p:cNvSpPr/>
          <p:nvPr/>
        </p:nvSpPr>
        <p:spPr>
          <a:xfrm>
            <a:off x="3267456" y="1783080"/>
            <a:ext cx="2609088" cy="4572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Managed Services</a:t>
            </a:r>
            <a:endParaRPr lang="en-US" sz="1300" dirty="0"/>
          </a:p>
        </p:txBody>
      </p:sp>
      <p:sp>
        <p:nvSpPr>
          <p:cNvPr id="13" name="Shape 11"/>
          <p:cNvSpPr/>
          <p:nvPr/>
        </p:nvSpPr>
        <p:spPr>
          <a:xfrm>
            <a:off x="3267456" y="2240280"/>
            <a:ext cx="2609088" cy="219456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5000"/>
              </a:srgbClr>
            </a:outerShdw>
          </a:effectLst>
        </p:spPr>
      </p:sp>
      <p:sp>
        <p:nvSpPr>
          <p:cNvPr id="14" name="Text 12"/>
          <p:cNvSpPr/>
          <p:nvPr/>
        </p:nvSpPr>
        <p:spPr>
          <a:xfrm>
            <a:off x="3377184" y="2331720"/>
            <a:ext cx="2389632" cy="2011680"/>
          </a:xfrm>
          <a:prstGeom prst="rect">
            <a:avLst/>
          </a:prstGeom>
          <a:noFill/>
          <a:ln/>
        </p:spPr>
        <p:txBody>
          <a:bodyPr wrap="square" rtlCol="0" anchor="t">
            <a:normAutofit/>
          </a:bodyPr>
          <a:lstStyle/>
          <a:p>
            <a:pPr marL="342900" indent="-342900">
              <a:spcAft>
                <a:spcPts val="600"/>
              </a:spcAft>
              <a:buSzPct val="100000"/>
              <a:buChar char="•"/>
            </a:pPr>
            <a:r>
              <a:rPr lang="en-US" sz="1200" dirty="0">
                <a:solidFill>
                  <a:srgbClr val="64748B"/>
                </a:solidFill>
                <a:latin typeface="Calibri" pitchFamily="34" charset="0"/>
                <a:ea typeface="Calibri" pitchFamily="34" charset="-122"/>
                <a:cs typeface="Calibri" pitchFamily="34" charset="-120"/>
              </a:rPr>
              <a:t>Quarks owns end-to-end quality engineering or platform operations with SLA-backed…</a:t>
            </a:r>
            <a:endParaRPr lang="en-US" sz="1200" dirty="0"/>
          </a:p>
        </p:txBody>
      </p:sp>
      <p:sp>
        <p:nvSpPr>
          <p:cNvPr id="15" name="Shape 13"/>
          <p:cNvSpPr/>
          <p:nvPr/>
        </p:nvSpPr>
        <p:spPr>
          <a:xfrm>
            <a:off x="6077712" y="1783080"/>
            <a:ext cx="2609088" cy="457200"/>
          </a:xfrm>
          <a:prstGeom prst="rect">
            <a:avLst/>
          </a:prstGeom>
          <a:solidFill>
            <a:srgbClr val="0D1B2A"/>
          </a:solidFill>
          <a:ln w="12700">
            <a:solidFill>
              <a:srgbClr val="0D1B2A"/>
            </a:solidFill>
            <a:prstDash val="solid"/>
          </a:ln>
        </p:spPr>
      </p:sp>
      <p:sp>
        <p:nvSpPr>
          <p:cNvPr id="16" name="Text 14"/>
          <p:cNvSpPr/>
          <p:nvPr/>
        </p:nvSpPr>
        <p:spPr>
          <a:xfrm>
            <a:off x="6077712" y="1783080"/>
            <a:ext cx="2609088" cy="45720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Strategic Project</a:t>
            </a:r>
            <a:endParaRPr lang="en-US" sz="1300" dirty="0"/>
          </a:p>
        </p:txBody>
      </p:sp>
      <p:sp>
        <p:nvSpPr>
          <p:cNvPr id="17" name="Shape 15"/>
          <p:cNvSpPr/>
          <p:nvPr/>
        </p:nvSpPr>
        <p:spPr>
          <a:xfrm>
            <a:off x="6077712" y="2240280"/>
            <a:ext cx="2609088" cy="2194560"/>
          </a:xfrm>
          <a:prstGeom prst="rect">
            <a:avLst/>
          </a:prstGeom>
          <a:solidFill>
            <a:srgbClr val="E2E8F0"/>
          </a:solidFill>
          <a:ln w="12700">
            <a:solidFill>
              <a:srgbClr val="E2E8F0"/>
            </a:solidFill>
            <a:prstDash val="solid"/>
          </a:ln>
          <a:effectLst>
            <a:outerShdw sx="100000" sy="100000" kx="0" ky="0" algn="bl" rotWithShape="0" blurRad="127000" dist="38100" dir="2700000">
              <a:srgbClr val="000000">
                <a:alpha val="5000"/>
              </a:srgbClr>
            </a:outerShdw>
          </a:effectLst>
        </p:spPr>
      </p:sp>
      <p:sp>
        <p:nvSpPr>
          <p:cNvPr id="18" name="Text 16"/>
          <p:cNvSpPr/>
          <p:nvPr/>
        </p:nvSpPr>
        <p:spPr>
          <a:xfrm>
            <a:off x="6187440" y="2331720"/>
            <a:ext cx="2389632" cy="2011680"/>
          </a:xfrm>
          <a:prstGeom prst="rect">
            <a:avLst/>
          </a:prstGeom>
          <a:noFill/>
          <a:ln/>
        </p:spPr>
        <p:txBody>
          <a:bodyPr wrap="square" rtlCol="0" anchor="t">
            <a:normAutofit/>
          </a:bodyPr>
          <a:lstStyle/>
          <a:p>
            <a:pPr marL="342900" indent="-342900">
              <a:spcAft>
                <a:spcPts val="600"/>
              </a:spcAft>
              <a:buSzPct val="100000"/>
              <a:buChar char="•"/>
            </a:pPr>
            <a:r>
              <a:rPr lang="en-US" sz="1200" dirty="0">
                <a:solidFill>
                  <a:srgbClr val="64748B"/>
                </a:solidFill>
                <a:latin typeface="Calibri" pitchFamily="34" charset="0"/>
                <a:ea typeface="Calibri" pitchFamily="34" charset="-122"/>
                <a:cs typeface="Calibri" pitchFamily="34" charset="-120"/>
              </a:rPr>
              <a:t>Dedicated Quarks team delivers defined initiatives like AI/ML integration, cloud…</a:t>
            </a:r>
            <a:endParaRPr lang="en-US" sz="1200" dirty="0"/>
          </a:p>
        </p:txBody>
      </p:sp>
      <p:sp>
        <p:nvSpPr>
          <p:cNvPr id="19" name="Text 17"/>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047857"/>
                </a:solidFill>
                <a:latin typeface="Calibri" pitchFamily="34" charset="0"/>
                <a:ea typeface="Calibri" pitchFamily="34" charset="-122"/>
                <a:cs typeface="Calibri" pitchFamily="34" charset="-120"/>
              </a:rPr>
              <a:t>11 / 13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114800" y="91440"/>
            <a:ext cx="4572000" cy="3200400"/>
          </a:xfrm>
          <a:prstGeom prst="rect">
            <a:avLst/>
          </a:prstGeom>
          <a:noFill/>
          <a:ln/>
        </p:spPr>
        <p:txBody>
          <a:bodyPr wrap="square" lIns="0" tIns="0" rIns="0" bIns="0" rtlCol="0" anchor="ctr"/>
          <a:lstStyle/>
          <a:p>
            <a:pPr algn="r" indent="0" marL="0">
              <a:buNone/>
            </a:pPr>
            <a:r>
              <a:rPr lang="en-US" sz="16000" b="1" dirty="0">
                <a:solidFill>
                  <a:srgbClr val="059669">
                    <a:alpha val="15000"/>
                  </a:srgbClr>
                </a:solidFill>
                <a:latin typeface="Calibri" pitchFamily="34" charset="0"/>
                <a:ea typeface="Calibri" pitchFamily="34" charset="-122"/>
                <a:cs typeface="Calibri" pitchFamily="34" charset="-120"/>
              </a:rPr>
              <a:t>012</a:t>
            </a:r>
            <a:endParaRPr lang="en-US" sz="16000" dirty="0"/>
          </a:p>
        </p:txBody>
      </p:sp>
      <p:sp>
        <p:nvSpPr>
          <p:cNvPr id="3" name="Shape 1"/>
          <p:cNvSpPr/>
          <p:nvPr/>
        </p:nvSpPr>
        <p:spPr>
          <a:xfrm>
            <a:off x="548640" y="1097280"/>
            <a:ext cx="54864" cy="2560320"/>
          </a:xfrm>
          <a:prstGeom prst="rect">
            <a:avLst/>
          </a:prstGeom>
          <a:solidFill>
            <a:srgbClr val="059669"/>
          </a:solidFill>
          <a:ln/>
        </p:spPr>
      </p:sp>
      <p:sp>
        <p:nvSpPr>
          <p:cNvPr id="4" name="Text 2"/>
          <p:cNvSpPr/>
          <p:nvPr/>
        </p:nvSpPr>
        <p:spPr>
          <a:xfrm>
            <a:off x="822960" y="1188720"/>
            <a:ext cx="7772400" cy="320040"/>
          </a:xfrm>
          <a:prstGeom prst="rect">
            <a:avLst/>
          </a:prstGeom>
          <a:noFill/>
          <a:ln/>
        </p:spPr>
        <p:txBody>
          <a:bodyPr wrap="square" lIns="0" tIns="0" rIns="0" bIns="0" rtlCol="0" anchor="ctr"/>
          <a:lstStyle/>
          <a:p>
            <a:pPr algn="l" indent="0" marL="0">
              <a:buNone/>
            </a:pPr>
            <a:r>
              <a:rPr lang="en-US" sz="1100" b="1" spc="300" kern="0" dirty="0">
                <a:solidFill>
                  <a:srgbClr val="047857"/>
                </a:solidFill>
                <a:latin typeface="Calibri" pitchFamily="34" charset="0"/>
                <a:ea typeface="Calibri" pitchFamily="34" charset="-122"/>
                <a:cs typeface="Calibri" pitchFamily="34" charset="-120"/>
              </a:rPr>
              <a:t>SECTION</a:t>
            </a:r>
            <a:endParaRPr lang="en-US" sz="1100" dirty="0"/>
          </a:p>
        </p:txBody>
      </p:sp>
      <p:sp>
        <p:nvSpPr>
          <p:cNvPr id="5" name="Text 3"/>
          <p:cNvSpPr/>
          <p:nvPr/>
        </p:nvSpPr>
        <p:spPr>
          <a:xfrm>
            <a:off x="822960" y="1600200"/>
            <a:ext cx="7772400" cy="1645920"/>
          </a:xfrm>
          <a:prstGeom prst="rect">
            <a:avLst/>
          </a:prstGeom>
          <a:noFill/>
          <a:ln/>
        </p:spPr>
        <p:txBody>
          <a:bodyPr wrap="square" lIns="0" tIns="0" rIns="0" bIns="0" rtlCol="0" anchor="t"/>
          <a:lstStyle/>
          <a:p>
            <a:pPr algn="l" indent="0" marL="0">
              <a:buNone/>
            </a:pPr>
            <a:r>
              <a:rPr lang="en-US" sz="2600" b="1" spc="200" kern="0" dirty="0">
                <a:solidFill>
                  <a:srgbClr val="F8F9FA"/>
                </a:solidFill>
                <a:latin typeface="Calibri" pitchFamily="34" charset="0"/>
                <a:ea typeface="Calibri" pitchFamily="34" charset="-122"/>
                <a:cs typeface="Calibri" pitchFamily="34" charset="-120"/>
              </a:rPr>
              <a:t>WHERE AUTODESK'S NEXT CHAPTER BEGINS</a:t>
            </a:r>
            <a:endParaRPr lang="en-US" sz="2600" dirty="0"/>
          </a:p>
        </p:txBody>
      </p:sp>
      <p:sp>
        <p:nvSpPr>
          <p:cNvPr id="6" name="Text 4"/>
          <p:cNvSpPr/>
          <p:nvPr/>
        </p:nvSpPr>
        <p:spPr>
          <a:xfrm>
            <a:off x="822960" y="3337560"/>
            <a:ext cx="7315200" cy="548640"/>
          </a:xfrm>
          <a:prstGeom prst="rect">
            <a:avLst/>
          </a:prstGeom>
          <a:noFill/>
          <a:ln/>
        </p:spPr>
        <p:txBody>
          <a:bodyPr wrap="square" lIns="0" tIns="0" rIns="0" bIns="0" rtlCol="0" anchor="ctr"/>
          <a:lstStyle/>
          <a:p>
            <a:pPr algn="l" indent="0" marL="0">
              <a:buNone/>
            </a:pPr>
            <a:r>
              <a:rPr lang="en-US" sz="1400" i="1" dirty="0">
                <a:solidFill>
                  <a:srgbClr val="C8D8E8"/>
                </a:solidFill>
                <a:latin typeface="Calibri Light" pitchFamily="34" charset="0"/>
                <a:ea typeface="Calibri Light" pitchFamily="34" charset="-122"/>
                <a:cs typeface="Calibri Light" pitchFamily="34" charset="-120"/>
              </a:rPr>
              <a:t>The next step is simpler than you think.</a:t>
            </a:r>
            <a:endParaRPr lang="en-US" sz="1400" dirty="0"/>
          </a:p>
        </p:txBody>
      </p:sp>
      <p:sp>
        <p:nvSpPr>
          <p:cNvPr id="7" name="Text 5"/>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C8D8E8"/>
                </a:solidFill>
                <a:latin typeface="Calibri" pitchFamily="34" charset="0"/>
                <a:ea typeface="Calibri" pitchFamily="34" charset="-122"/>
                <a:cs typeface="Calibri" pitchFamily="34" charset="-120"/>
              </a:rPr>
              <a:t>12 / 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400800" y="-1645920"/>
            <a:ext cx="5943600" cy="5943600"/>
          </a:xfrm>
          <a:prstGeom prst="ellipse">
            <a:avLst/>
          </a:prstGeom>
          <a:solidFill>
            <a:srgbClr val="059669">
              <a:alpha val="25000"/>
            </a:srgbClr>
          </a:solidFill>
          <a:ln/>
        </p:spPr>
      </p:sp>
      <p:sp>
        <p:nvSpPr>
          <p:cNvPr id="3" name="Shape 1"/>
          <p:cNvSpPr/>
          <p:nvPr/>
        </p:nvSpPr>
        <p:spPr>
          <a:xfrm>
            <a:off x="8412480" y="2560320"/>
            <a:ext cx="3840480" cy="3840480"/>
          </a:xfrm>
          <a:prstGeom prst="ellipse">
            <a:avLst/>
          </a:prstGeom>
          <a:solidFill>
            <a:srgbClr val="034D32">
              <a:alpha val="60000"/>
            </a:srgbClr>
          </a:solidFill>
          <a:ln/>
        </p:spPr>
      </p:sp>
      <p:sp>
        <p:nvSpPr>
          <p:cNvPr id="4" name="Shape 2"/>
          <p:cNvSpPr/>
          <p:nvPr/>
        </p:nvSpPr>
        <p:spPr>
          <a:xfrm>
            <a:off x="7772400" y="5669280"/>
            <a:ext cx="1645920" cy="1645920"/>
          </a:xfrm>
          <a:prstGeom prst="rect">
            <a:avLst/>
          </a:prstGeom>
          <a:solidFill>
            <a:srgbClr val="047857">
              <a:alpha val="20000"/>
            </a:srgbClr>
          </a:solidFill>
          <a:ln/>
        </p:spPr>
      </p:sp>
      <p:sp>
        <p:nvSpPr>
          <p:cNvPr id="5" name="Text 3"/>
          <p:cNvSpPr/>
          <p:nvPr/>
        </p:nvSpPr>
        <p:spPr>
          <a:xfrm>
            <a:off x="457200" y="914400"/>
            <a:ext cx="8229600" cy="731520"/>
          </a:xfrm>
          <a:prstGeom prst="rect">
            <a:avLst/>
          </a:prstGeom>
          <a:noFill/>
          <a:ln/>
        </p:spPr>
        <p:txBody>
          <a:bodyPr wrap="square" lIns="0" tIns="0" rIns="0" bIns="0" rtlCol="0" anchor="ctr">
            <a:normAutofit/>
          </a:bodyPr>
          <a:lstStyle/>
          <a:p>
            <a:pPr algn="ctr" indent="0" marL="0">
              <a:buNone/>
            </a:pPr>
            <a:r>
              <a:rPr lang="en-US" sz="3200" b="1" dirty="0">
                <a:solidFill>
                  <a:srgbClr val="F8F9FA"/>
                </a:solidFill>
                <a:latin typeface="Calibri" pitchFamily="34" charset="0"/>
                <a:ea typeface="Calibri" pitchFamily="34" charset="-122"/>
                <a:cs typeface="Calibri" pitchFamily="34" charset="-120"/>
              </a:rPr>
              <a:t>Let's Map Autodesk's AI and Platform Future Together</a:t>
            </a:r>
            <a:endParaRPr lang="en-US" sz="3200" dirty="0"/>
          </a:p>
        </p:txBody>
      </p:sp>
      <p:sp>
        <p:nvSpPr>
          <p:cNvPr id="6" name="Text 4"/>
          <p:cNvSpPr/>
          <p:nvPr/>
        </p:nvSpPr>
        <p:spPr>
          <a:xfrm>
            <a:off x="457200" y="1737360"/>
            <a:ext cx="8229600" cy="731520"/>
          </a:xfrm>
          <a:prstGeom prst="rect">
            <a:avLst/>
          </a:prstGeom>
          <a:noFill/>
          <a:ln/>
        </p:spPr>
        <p:txBody>
          <a:bodyPr wrap="square" lIns="0" tIns="0" rIns="0" bIns="0" rtlCol="0" anchor="ctr">
            <a:normAutofit/>
          </a:bodyPr>
          <a:lstStyle/>
          <a:p>
            <a:pPr algn="ctr" indent="0" marL="0">
              <a:buNone/>
            </a:pPr>
            <a:r>
              <a:rPr lang="en-US" sz="3200" b="1" dirty="0">
                <a:solidFill>
                  <a:srgbClr val="047857"/>
                </a:solidFill>
                <a:latin typeface="Calibri" pitchFamily="34" charset="0"/>
                <a:ea typeface="Calibri" pitchFamily="34" charset="-122"/>
                <a:cs typeface="Calibri" pitchFamily="34" charset="-120"/>
              </a:rPr>
              <a:t>Book a 30-minute scoping session with our AI/ML and platform leads — we'll bring a tailored capability assessment for your design platform stack.</a:t>
            </a:r>
            <a:endParaRPr lang="en-US" sz="3200" dirty="0"/>
          </a:p>
        </p:txBody>
      </p:sp>
      <p:sp>
        <p:nvSpPr>
          <p:cNvPr id="7" name="Text 5"/>
          <p:cNvSpPr/>
          <p:nvPr/>
        </p:nvSpPr>
        <p:spPr>
          <a:xfrm>
            <a:off x="457200" y="2606040"/>
            <a:ext cx="8229600" cy="320040"/>
          </a:xfrm>
          <a:prstGeom prst="rect">
            <a:avLst/>
          </a:prstGeom>
          <a:noFill/>
          <a:ln/>
        </p:spPr>
        <p:txBody>
          <a:bodyPr wrap="square" lIns="0" tIns="0" rIns="0" bIns="0" rtlCol="0" anchor="ctr"/>
          <a:lstStyle/>
          <a:p>
            <a:pPr algn="ctr" indent="0" marL="0">
              <a:buNone/>
            </a:pPr>
            <a:r>
              <a:rPr lang="en-US" sz="1400" i="1" dirty="0">
                <a:solidFill>
                  <a:srgbClr val="C8D8E8"/>
                </a:solidFill>
                <a:latin typeface="Calibri Light" pitchFamily="34" charset="0"/>
                <a:ea typeface="Calibri Light" pitchFamily="34" charset="-122"/>
                <a:cs typeface="Calibri Light" pitchFamily="34" charset="-120"/>
              </a:rPr>
              <a:t>Accelerate revenue intelligence</a:t>
            </a:r>
            <a:endParaRPr lang="en-US" sz="1400" dirty="0"/>
          </a:p>
        </p:txBody>
      </p:sp>
      <p:sp>
        <p:nvSpPr>
          <p:cNvPr id="8" name="Shape 6"/>
          <p:cNvSpPr/>
          <p:nvPr/>
        </p:nvSpPr>
        <p:spPr>
          <a:xfrm>
            <a:off x="548640" y="3108960"/>
            <a:ext cx="3840480" cy="640080"/>
          </a:xfrm>
          <a:prstGeom prst="rect">
            <a:avLst/>
          </a:prstGeom>
          <a:solidFill>
            <a:srgbClr val="059669"/>
          </a:solidFill>
          <a:ln/>
        </p:spPr>
      </p:sp>
      <p:sp>
        <p:nvSpPr>
          <p:cNvPr id="9" name="Text 7"/>
          <p:cNvSpPr/>
          <p:nvPr/>
        </p:nvSpPr>
        <p:spPr>
          <a:xfrm>
            <a:off x="548640" y="3108960"/>
            <a:ext cx="3840480" cy="640080"/>
          </a:xfrm>
          <a:prstGeom prst="rect">
            <a:avLst/>
          </a:prstGeom>
          <a:noFill/>
          <a:ln/>
        </p:spPr>
        <p:txBody>
          <a:bodyPr wrap="square" lIns="0" tIns="0" rIns="0" bIns="0" rtlCol="0" anchor="ctr">
            <a:normAutofit/>
          </a:bodyPr>
          <a:lstStyle/>
          <a:p>
            <a:pPr algn="ctr" indent="0" marL="0">
              <a:buNone/>
            </a:pPr>
            <a:r>
              <a:rPr lang="en-US" sz="1300" b="1" dirty="0">
                <a:solidFill>
                  <a:srgbClr val="F8F9FA"/>
                </a:solidFill>
                <a:latin typeface="Calibri" pitchFamily="34" charset="0"/>
                <a:ea typeface="Calibri" pitchFamily="34" charset="-122"/>
                <a:cs typeface="Calibri" pitchFamily="34" charset="-120"/>
              </a:rPr>
              <a:t>Visit: www.qtsolv.com</a:t>
            </a:r>
            <a:endParaRPr lang="en-US" sz="1300" dirty="0"/>
          </a:p>
        </p:txBody>
      </p:sp>
      <p:sp>
        <p:nvSpPr>
          <p:cNvPr id="10" name="Shape 8"/>
          <p:cNvSpPr/>
          <p:nvPr/>
        </p:nvSpPr>
        <p:spPr>
          <a:xfrm>
            <a:off x="4754880" y="3108960"/>
            <a:ext cx="3840480" cy="640080"/>
          </a:xfrm>
          <a:prstGeom prst="rect">
            <a:avLst/>
          </a:prstGeom>
          <a:solidFill>
            <a:srgbClr val="059669"/>
          </a:solidFill>
          <a:ln/>
        </p:spPr>
      </p:sp>
      <p:sp>
        <p:nvSpPr>
          <p:cNvPr id="11" name="Text 9"/>
          <p:cNvSpPr/>
          <p:nvPr/>
        </p:nvSpPr>
        <p:spPr>
          <a:xfrm>
            <a:off x="4754880" y="3108960"/>
            <a:ext cx="3840480" cy="640080"/>
          </a:xfrm>
          <a:prstGeom prst="rect">
            <a:avLst/>
          </a:prstGeom>
          <a:noFill/>
          <a:ln/>
        </p:spPr>
        <p:txBody>
          <a:bodyPr wrap="square" lIns="0" tIns="0" rIns="0" bIns="0" rtlCol="0" anchor="ctr">
            <a:normAutofit/>
          </a:bodyPr>
          <a:lstStyle/>
          <a:p>
            <a:pPr algn="ctr" indent="0" marL="0">
              <a:buNone/>
            </a:pPr>
            <a:r>
              <a:rPr lang="en-US" sz="1300" b="1" dirty="0">
                <a:solidFill>
                  <a:srgbClr val="F8F9FA"/>
                </a:solidFill>
                <a:latin typeface="Calibri" pitchFamily="34" charset="0"/>
                <a:ea typeface="Calibri" pitchFamily="34" charset="-122"/>
                <a:cs typeface="Calibri" pitchFamily="34" charset="-120"/>
              </a:rPr>
              <a:t>Email: bhavya.singhal@qtsolv.com</a:t>
            </a:r>
            <a:endParaRPr lang="en-US" sz="1300" dirty="0"/>
          </a:p>
        </p:txBody>
      </p:sp>
      <p:sp>
        <p:nvSpPr>
          <p:cNvPr id="12" name="Text 10"/>
          <p:cNvSpPr/>
          <p:nvPr/>
        </p:nvSpPr>
        <p:spPr>
          <a:xfrm>
            <a:off x="457200" y="3931920"/>
            <a:ext cx="8229600" cy="274320"/>
          </a:xfrm>
          <a:prstGeom prst="rect">
            <a:avLst/>
          </a:prstGeom>
          <a:noFill/>
          <a:ln/>
        </p:spPr>
        <p:txBody>
          <a:bodyPr wrap="square" lIns="0" tIns="0" rIns="0" bIns="0" rtlCol="0" anchor="ctr"/>
          <a:lstStyle/>
          <a:p>
            <a:pPr algn="ctr" indent="0" marL="0">
              <a:buNone/>
            </a:pPr>
            <a:r>
              <a:rPr lang="en-US" sz="1200" dirty="0">
                <a:solidFill>
                  <a:srgbClr val="C8D8E8"/>
                </a:solidFill>
                <a:latin typeface="Calibri Light" pitchFamily="34" charset="0"/>
                <a:ea typeface="Calibri Light" pitchFamily="34" charset="-122"/>
                <a:cs typeface="Calibri Light" pitchFamily="34" charset="-120"/>
              </a:rPr>
              <a:t>Quarks Technosoft Pvt. Ltd.</a:t>
            </a:r>
            <a:endParaRPr lang="en-US" sz="1200" dirty="0"/>
          </a:p>
        </p:txBody>
      </p:sp>
      <p:sp>
        <p:nvSpPr>
          <p:cNvPr id="13" name="Text 11"/>
          <p:cNvSpPr/>
          <p:nvPr/>
        </p:nvSpPr>
        <p:spPr>
          <a:xfrm>
            <a:off x="8229600" y="4828032"/>
            <a:ext cx="731520" cy="182880"/>
          </a:xfrm>
          <a:prstGeom prst="rect">
            <a:avLst/>
          </a:prstGeom>
          <a:noFill/>
          <a:ln/>
        </p:spPr>
        <p:txBody>
          <a:bodyPr wrap="square" rtlCol="0" anchor="ctr"/>
          <a:lstStyle/>
          <a:p>
            <a:pPr algn="r" indent="0" marL="0">
              <a:buNone/>
            </a:pPr>
            <a:r>
              <a:rPr lang="en-US" sz="1000" dirty="0">
                <a:solidFill>
                  <a:srgbClr val="C8D8E8"/>
                </a:solidFill>
                <a:latin typeface="Calibri" pitchFamily="34" charset="0"/>
                <a:ea typeface="Calibri" pitchFamily="34" charset="-122"/>
                <a:cs typeface="Calibri" pitchFamily="34" charset="-120"/>
              </a:rPr>
              <a:t>13 / 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Accelerating AI Innovation &amp; Platform Scalability at Autodesk</dc:title>
  <dc:subject>PptxGenJS Presentation</dc:subject>
  <dc:creator>Sales Brain</dc:creator>
  <cp:lastModifiedBy>Sales Brain</cp:lastModifiedBy>
  <cp:revision>1</cp:revision>
  <dcterms:created xsi:type="dcterms:W3CDTF">2026-06-29T10:31:44Z</dcterms:created>
  <dcterms:modified xsi:type="dcterms:W3CDTF">2026-06-29T10:31:44Z</dcterms:modified>
</cp:coreProperties>
</file>