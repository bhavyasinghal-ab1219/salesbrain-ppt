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we're not here to sell services — we're here to propose a strategic partnership that transforms how Genpact scales AI. We've studied your data infrastructure challenges closely, and what follows is a tailored roadmap built on a proven lakehouse architecture and a managed talent model that eliminates the bottlenecks holding back your AI ambitions. Let's start with the alignment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scored Genpact at 85 overall fit across four priority areas, which tells us this conversation is well-aligned from the start. Here's the journey we'll take together today — from where your data infrastructure stands now to a concrete plan you can act on immediately. And as you'll see in our next section, the timing couldn't be more critical.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established strong alignment on fit and agenda. Now let's talk about why this conversation can't wait. Genpact is caught between legacy infrastructure that slows everything down and market pressure to scale AI fast. On the next slide, we'll show you exactly what that tension looks like in your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just established that Genpact's data infrastructure moment is now — so let's look at exactly what's standing in the way. Three structural bottlenecks are compounding on each other right now, and each one carries a direct business cost. The good news is that these aren't generic industry problems — they're specific gaps that Quarks was purpose-built to close, which is exactly what we'll show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just painted the picture of what's slowing Genpact down — now we pivot to the turning point. That 85% alignment score isn't just a number; it represents six specific capabilities we bring that directly counter the three bottlenecks you're facing. On the next slide, we'll walk through each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Genpact's three core bottlenecks — legacy delays, fragmented silos, and talent gaps — each have a direct Quarks countermove here. Notice how Data Engineering and Lakehouse sits at the foundation of all five: that's exactly where we'll start the deep dive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shown you the six capabilities that map to Genpact's challenges — now let's go deep into the one area where the fit is absolute. This is the turning point: a lakehouse architecture that doesn't patch the legacy problems but replaces them entirely. Three shifts happen here — the warehouse bottleneck breaks, the tool sprawl consolidates into one governed platform, and the silos unify into a single trusted foundation. And this is just the architecture layer — next, let me show you the full technology stack that powers all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the lakehouse we just explored, this is the full arsenal Quarks brings to Genpact — from governed AI/ML through DevOps automation to our managed talent supply chain. Every layer targets a specific bottleneck in your current operations. But a toolkit is only as credible as the results it delivers — and that's exactly what we'll prove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shown the architecture and the stack — now let's prove it works. The next slide reveals a benchmark case study where organizations facing Genpact's exact challenges achieved measurable, dramatic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case study isn't just a number on a slide — it's a blueprint for exactly what we're proposing for Genpact. The same Azure Databricks lakehouse, the same governed AI/ML consolidation, and the same talent supply chain delivered measurable speed gains and zero delivery disruption. On the next slide, we'll draw the explicit parallels between this benchmark and Genpact's specific situation.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you can see why this case study is not just impressive — it is predictive. The three challenges our benchmark client faced are the exact three bottlenecks Genpact is wrestling with today: fragmented silos, AI/ML scalability constraints, and engineering capacity gaps. This is not a coincidental fit. It is a proven playbook mapped to your specific reality. And here is the best part — getting started is simpler and lower-risk than you might expect.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drawn the parallels and the fit is proven — but Genpact doesn't need to bet everything on day one. These three starting points let you choose the level of commitment that feels right, from a two-week assessment to a scoped pilot that proves the days-to-minutes shift on your own data. Let's look at what we recommend as the natural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shown Genpact three easy ways to begin — fixed scope, managed services, or staff augmentation — each with minimal risk. Now it's time to turn that flexibility into a single, decisive action that eliminates the 3-4 day delays we opened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walked through Genpact's urgent need to break free from legacy bottlenecks, and you've seen how our lakehouse architecture and managed talent model deliver exactly that — backed by a 78% faster regression benchmark. The next step is simple: a focused 2-week discovery workshop where we map your specific path from days to minutes. Let's turn this conversation into a concrete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_MASTER">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365760" y="4754880"/>
            <a:ext cx="8412480" cy="0"/>
          </a:xfrm>
          <a:prstGeom prst="line">
            <a:avLst/>
          </a:prstGeom>
          <a:noFill/>
          <a:ln w="6350">
            <a:solidFill>
              <a:srgbClr val="047857"/>
            </a:solidFill>
            <a:prstDash val="solid"/>
          </a:ln>
        </p:spPr>
      </p:sp>
      <p:sp>
        <p:nvSpPr>
          <p:cNvPr id="3" name="Text 1"/>
          <p:cNvSpPr/>
          <p:nvPr/>
        </p:nvSpPr>
        <p:spPr>
          <a:xfrm>
            <a:off x="457200" y="4828032"/>
            <a:ext cx="2743200" cy="182880"/>
          </a:xfrm>
          <a:prstGeom prst="rect">
            <a:avLst/>
          </a:prstGeom>
          <a:noFill/>
          <a:ln/>
        </p:spPr>
        <p:txBody>
          <a:bodyPr wrap="square" rtlCol="0" anchor="ctr"/>
          <a:lstStyle/>
          <a:p>
            <a:pPr algn="l" indent="0" marL="0">
              <a:buNone/>
            </a:pPr>
            <a:r>
              <a:rPr lang="en-US" sz="1000" dirty="0">
                <a:solidFill>
                  <a:srgbClr val="047857"/>
                </a:solidFill>
                <a:latin typeface="Calibri" pitchFamily="34" charset="0"/>
                <a:ea typeface="Calibri" pitchFamily="34" charset="-122"/>
                <a:cs typeface="Calibri" pitchFamily="34" charset="-120"/>
              </a:rPr>
              <a:t>Quarks Technosoft Pvt. Ltd.</a:t>
            </a:r>
            <a:endParaRPr lang="en-US" sz="1000" dirty="0"/>
          </a:p>
        </p:txBody>
      </p:sp>
      <p:sp>
        <p:nvSpPr>
          <p:cNvPr id="4" name="Text 2"/>
          <p:cNvSpPr/>
          <p:nvPr/>
        </p:nvSpPr>
        <p:spPr>
          <a:xfrm>
            <a:off x="5943600" y="4828032"/>
            <a:ext cx="2011680" cy="18288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www.qtsolv.com</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_MASTER">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365760" y="4754880"/>
            <a:ext cx="8412480" cy="0"/>
          </a:xfrm>
          <a:prstGeom prst="line">
            <a:avLst/>
          </a:prstGeom>
          <a:noFill/>
          <a:ln w="6350">
            <a:solidFill>
              <a:srgbClr val="047857"/>
            </a:solidFill>
            <a:prstDash val="solid"/>
          </a:ln>
        </p:spPr>
      </p:sp>
      <p:sp>
        <p:nvSpPr>
          <p:cNvPr id="3" name="Text 1"/>
          <p:cNvSpPr/>
          <p:nvPr/>
        </p:nvSpPr>
        <p:spPr>
          <a:xfrm>
            <a:off x="457200" y="4828032"/>
            <a:ext cx="2743200" cy="182880"/>
          </a:xfrm>
          <a:prstGeom prst="rect">
            <a:avLst/>
          </a:prstGeom>
          <a:noFill/>
          <a:ln/>
        </p:spPr>
        <p:txBody>
          <a:bodyPr wrap="square" rtlCol="0" anchor="ctr"/>
          <a:lstStyle/>
          <a:p>
            <a:pPr algn="l" indent="0" marL="0">
              <a:buNone/>
            </a:pPr>
            <a:r>
              <a:rPr lang="en-US" sz="1000" dirty="0">
                <a:solidFill>
                  <a:srgbClr val="C8D8E8"/>
                </a:solidFill>
                <a:latin typeface="Calibri" pitchFamily="34" charset="0"/>
                <a:ea typeface="Calibri" pitchFamily="34" charset="-122"/>
                <a:cs typeface="Calibri" pitchFamily="34" charset="-120"/>
              </a:rPr>
              <a:t>Quarks Technosoft Pvt. Ltd.</a:t>
            </a:r>
            <a:endParaRPr lang="en-US" sz="1000" dirty="0"/>
          </a:p>
        </p:txBody>
      </p:sp>
      <p:sp>
        <p:nvSpPr>
          <p:cNvPr id="4" name="Text 2"/>
          <p:cNvSpPr/>
          <p:nvPr/>
        </p:nvSpPr>
        <p:spPr>
          <a:xfrm>
            <a:off x="5943600" y="4828032"/>
            <a:ext cx="2011680" cy="182880"/>
          </a:xfrm>
          <a:prstGeom prst="rect">
            <a:avLst/>
          </a:prstGeom>
          <a:noFill/>
          <a:ln/>
        </p:spPr>
        <p:txBody>
          <a:bodyPr wrap="square" rtlCol="0" anchor="ctr"/>
          <a:lstStyle/>
          <a:p>
            <a:pPr algn="r" indent="0" marL="0">
              <a:buNone/>
            </a:pPr>
            <a:r>
              <a:rPr lang="en-US" sz="1000" dirty="0">
                <a:solidFill>
                  <a:srgbClr val="C8D8E8"/>
                </a:solidFill>
                <a:latin typeface="Calibri" pitchFamily="34" charset="0"/>
                <a:ea typeface="Calibri" pitchFamily="34" charset="-122"/>
                <a:cs typeface="Calibri" pitchFamily="34" charset="-120"/>
              </a:rPr>
              <a:t>www.qtsolv.com</a:t>
            </a:r>
            <a:endParaRPr lang="en-US" sz="1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2.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2.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2.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6858000" y="-1371600"/>
            <a:ext cx="5303520" cy="5303520"/>
          </a:xfrm>
          <a:prstGeom prst="ellipse">
            <a:avLst/>
          </a:prstGeom>
          <a:solidFill>
            <a:srgbClr val="0060B8">
              <a:alpha val="40000"/>
            </a:srgbClr>
          </a:solidFill>
          <a:ln/>
        </p:spPr>
      </p:sp>
      <p:sp>
        <p:nvSpPr>
          <p:cNvPr id="3" name="Shape 1"/>
          <p:cNvSpPr/>
          <p:nvPr/>
        </p:nvSpPr>
        <p:spPr>
          <a:xfrm>
            <a:off x="8686800" y="2011680"/>
            <a:ext cx="3657600" cy="3657600"/>
          </a:xfrm>
          <a:prstGeom prst="ellipse">
            <a:avLst/>
          </a:prstGeom>
          <a:solidFill>
            <a:srgbClr val="021A3A">
              <a:alpha val="60000"/>
            </a:srgbClr>
          </a:solidFill>
          <a:ln/>
        </p:spPr>
      </p:sp>
      <p:sp>
        <p:nvSpPr>
          <p:cNvPr id="4" name="Text 2"/>
          <p:cNvSpPr/>
          <p:nvPr/>
        </p:nvSpPr>
        <p:spPr>
          <a:xfrm>
            <a:off x="548640" y="640080"/>
            <a:ext cx="5486400" cy="274320"/>
          </a:xfrm>
          <a:prstGeom prst="rect">
            <a:avLst/>
          </a:prstGeom>
          <a:noFill/>
          <a:ln/>
        </p:spPr>
        <p:txBody>
          <a:bodyPr wrap="square" lIns="0" tIns="0" rIns="0" bIns="0" rtlCol="0" anchor="ctr"/>
          <a:lstStyle/>
          <a:p>
            <a:pPr algn="l" indent="0" marL="0">
              <a:buNone/>
            </a:pPr>
            <a:r>
              <a:rPr lang="en-US" sz="1000" b="1" spc="400" kern="0" dirty="0">
                <a:solidFill>
                  <a:srgbClr val="E8B84B"/>
                </a:solidFill>
                <a:latin typeface="Calibri" pitchFamily="34" charset="0"/>
                <a:ea typeface="Calibri" pitchFamily="34" charset="-122"/>
                <a:cs typeface="Calibri" pitchFamily="34" charset="-120"/>
              </a:rPr>
              <a:t>SALES PRESENTATION</a:t>
            </a:r>
            <a:endParaRPr lang="en-US" sz="1000" dirty="0"/>
          </a:p>
        </p:txBody>
      </p:sp>
      <p:sp>
        <p:nvSpPr>
          <p:cNvPr id="5" name="Text 3"/>
          <p:cNvSpPr/>
          <p:nvPr/>
        </p:nvSpPr>
        <p:spPr>
          <a:xfrm>
            <a:off x="457200" y="914400"/>
            <a:ext cx="6400800" cy="1645920"/>
          </a:xfrm>
          <a:prstGeom prst="rect">
            <a:avLst/>
          </a:prstGeom>
          <a:noFill/>
          <a:ln/>
        </p:spPr>
        <p:txBody>
          <a:bodyPr wrap="square" lIns="0" tIns="0" rIns="0" bIns="0" rtlCol="0" anchor="t"/>
          <a:lstStyle/>
          <a:p>
            <a:pPr algn="l" indent="0" marL="0">
              <a:buNone/>
            </a:pPr>
            <a:r>
              <a:rPr lang="en-US" sz="3400" b="1" dirty="0">
                <a:solidFill>
                  <a:srgbClr val="F8F9FA"/>
                </a:solidFill>
                <a:latin typeface="Calibri" pitchFamily="34" charset="0"/>
                <a:ea typeface="Calibri" pitchFamily="34" charset="-122"/>
                <a:cs typeface="Calibri" pitchFamily="34" charset="-120"/>
              </a:rPr>
              <a:t>Scaling Genpact's AI Through Data Modernization</a:t>
            </a:r>
            <a:endParaRPr lang="en-US" sz="3400" dirty="0"/>
          </a:p>
        </p:txBody>
      </p:sp>
      <p:sp>
        <p:nvSpPr>
          <p:cNvPr id="6" name="Shape 4"/>
          <p:cNvSpPr/>
          <p:nvPr/>
        </p:nvSpPr>
        <p:spPr>
          <a:xfrm>
            <a:off x="457200" y="2514600"/>
            <a:ext cx="3657600" cy="36576"/>
          </a:xfrm>
          <a:prstGeom prst="rect">
            <a:avLst/>
          </a:prstGeom>
          <a:solidFill>
            <a:srgbClr val="059669"/>
          </a:solidFill>
          <a:ln/>
        </p:spPr>
      </p:sp>
      <p:sp>
        <p:nvSpPr>
          <p:cNvPr id="7" name="Text 5"/>
          <p:cNvSpPr/>
          <p:nvPr/>
        </p:nvSpPr>
        <p:spPr>
          <a:xfrm>
            <a:off x="457200" y="2606040"/>
            <a:ext cx="5486400" cy="457200"/>
          </a:xfrm>
          <a:prstGeom prst="rect">
            <a:avLst/>
          </a:prstGeom>
          <a:noFill/>
          <a:ln/>
        </p:spPr>
        <p:txBody>
          <a:bodyPr wrap="square" lIns="0" tIns="0" rIns="0" bIns="0" rtlCol="0" anchor="ctr"/>
          <a:lstStyle/>
          <a:p>
            <a:pPr algn="l" indent="0" marL="0">
              <a:buNone/>
            </a:pPr>
            <a:r>
              <a:rPr lang="en-US" sz="1300" dirty="0">
                <a:solidFill>
                  <a:srgbClr val="C8D8E8"/>
                </a:solidFill>
                <a:latin typeface="Calibri Light" pitchFamily="34" charset="0"/>
                <a:ea typeface="Calibri Light" pitchFamily="34" charset="-122"/>
                <a:cs typeface="Calibri Light" pitchFamily="34" charset="-120"/>
              </a:rPr>
              <a:t>Quarks × Genpact — modernizing data infrastructure for AI at scale.</a:t>
            </a:r>
            <a:endParaRPr lang="en-US" sz="1300" dirty="0"/>
          </a:p>
        </p:txBody>
      </p:sp>
      <p:sp>
        <p:nvSpPr>
          <p:cNvPr id="8" name="Shape 6"/>
          <p:cNvSpPr/>
          <p:nvPr/>
        </p:nvSpPr>
        <p:spPr>
          <a:xfrm>
            <a:off x="457200" y="3108960"/>
            <a:ext cx="7315200" cy="777240"/>
          </a:xfrm>
          <a:prstGeom prst="rect">
            <a:avLst/>
          </a:prstGeom>
          <a:solidFill>
            <a:srgbClr val="E8B84B">
              <a:alpha val="15000"/>
            </a:srgbClr>
          </a:solidFill>
          <a:ln w="12700">
            <a:solidFill>
              <a:srgbClr val="E8B84B"/>
            </a:solidFill>
            <a:prstDash val="solid"/>
          </a:ln>
        </p:spPr>
      </p:sp>
      <p:sp>
        <p:nvSpPr>
          <p:cNvPr id="9" name="Text 7"/>
          <p:cNvSpPr/>
          <p:nvPr/>
        </p:nvSpPr>
        <p:spPr>
          <a:xfrm>
            <a:off x="457200" y="3090672"/>
            <a:ext cx="2438400" cy="475488"/>
          </a:xfrm>
          <a:prstGeom prst="rect">
            <a:avLst/>
          </a:prstGeom>
          <a:noFill/>
          <a:ln/>
        </p:spPr>
        <p:txBody>
          <a:bodyPr wrap="square" lIns="0" tIns="0" rIns="0" bIns="0" rtlCol="0" anchor="b"/>
          <a:lstStyle/>
          <a:p>
            <a:pPr algn="ctr" indent="0" marL="0">
              <a:buNone/>
            </a:pPr>
            <a:r>
              <a:rPr lang="en-US" sz="2600" b="1" dirty="0">
                <a:solidFill>
                  <a:srgbClr val="E8B84B"/>
                </a:solidFill>
                <a:latin typeface="Cambria" pitchFamily="34" charset="0"/>
                <a:ea typeface="Cambria" pitchFamily="34" charset="-122"/>
                <a:cs typeface="Cambria" pitchFamily="34" charset="-120"/>
              </a:rPr>
              <a:t>17+</a:t>
            </a:r>
            <a:endParaRPr lang="en-US" sz="2600" dirty="0"/>
          </a:p>
        </p:txBody>
      </p:sp>
      <p:sp>
        <p:nvSpPr>
          <p:cNvPr id="10" name="Text 8"/>
          <p:cNvSpPr/>
          <p:nvPr/>
        </p:nvSpPr>
        <p:spPr>
          <a:xfrm>
            <a:off x="457200" y="3566160"/>
            <a:ext cx="2438400" cy="274320"/>
          </a:xfrm>
          <a:prstGeom prst="rect">
            <a:avLst/>
          </a:prstGeom>
          <a:noFill/>
          <a:ln/>
        </p:spPr>
        <p:txBody>
          <a:bodyPr wrap="square" lIns="0" tIns="0" rIns="0" bIns="0" rtlCol="0" anchor="t">
            <a:normAutofit/>
          </a:bodyPr>
          <a:lstStyle/>
          <a:p>
            <a:pPr algn="ctr" indent="0" marL="0">
              <a:buNone/>
            </a:pPr>
            <a:r>
              <a:rPr lang="en-US" sz="900" dirty="0">
                <a:solidFill>
                  <a:srgbClr val="C8D8E8"/>
                </a:solidFill>
                <a:latin typeface="Calibri" pitchFamily="34" charset="0"/>
                <a:ea typeface="Calibri" pitchFamily="34" charset="-122"/>
                <a:cs typeface="Calibri" pitchFamily="34" charset="-120"/>
              </a:rPr>
              <a:t>Years of Innovation</a:t>
            </a:r>
            <a:endParaRPr lang="en-US" sz="900" dirty="0"/>
          </a:p>
        </p:txBody>
      </p:sp>
      <p:sp>
        <p:nvSpPr>
          <p:cNvPr id="11" name="Text 9"/>
          <p:cNvSpPr/>
          <p:nvPr/>
        </p:nvSpPr>
        <p:spPr>
          <a:xfrm>
            <a:off x="2895600" y="3090672"/>
            <a:ext cx="2438400" cy="475488"/>
          </a:xfrm>
          <a:prstGeom prst="rect">
            <a:avLst/>
          </a:prstGeom>
          <a:noFill/>
          <a:ln/>
        </p:spPr>
        <p:txBody>
          <a:bodyPr wrap="square" lIns="0" tIns="0" rIns="0" bIns="0" rtlCol="0" anchor="b"/>
          <a:lstStyle/>
          <a:p>
            <a:pPr algn="ctr" indent="0" marL="0">
              <a:buNone/>
            </a:pPr>
            <a:r>
              <a:rPr lang="en-US" sz="2600" b="1" dirty="0">
                <a:solidFill>
                  <a:srgbClr val="E8B84B"/>
                </a:solidFill>
                <a:latin typeface="Cambria" pitchFamily="34" charset="0"/>
                <a:ea typeface="Cambria" pitchFamily="34" charset="-122"/>
                <a:cs typeface="Cambria" pitchFamily="34" charset="-120"/>
              </a:rPr>
              <a:t>85%</a:t>
            </a:r>
            <a:endParaRPr lang="en-US" sz="2600" dirty="0"/>
          </a:p>
        </p:txBody>
      </p:sp>
      <p:sp>
        <p:nvSpPr>
          <p:cNvPr id="12" name="Text 10"/>
          <p:cNvSpPr/>
          <p:nvPr/>
        </p:nvSpPr>
        <p:spPr>
          <a:xfrm>
            <a:off x="2895600" y="3566160"/>
            <a:ext cx="2438400" cy="274320"/>
          </a:xfrm>
          <a:prstGeom prst="rect">
            <a:avLst/>
          </a:prstGeom>
          <a:noFill/>
          <a:ln/>
        </p:spPr>
        <p:txBody>
          <a:bodyPr wrap="square" lIns="0" tIns="0" rIns="0" bIns="0" rtlCol="0" anchor="t">
            <a:normAutofit/>
          </a:bodyPr>
          <a:lstStyle/>
          <a:p>
            <a:pPr algn="ctr" indent="0" marL="0">
              <a:buNone/>
            </a:pPr>
            <a:r>
              <a:rPr lang="en-US" sz="900" dirty="0">
                <a:solidFill>
                  <a:srgbClr val="C8D8E8"/>
                </a:solidFill>
                <a:latin typeface="Calibri" pitchFamily="34" charset="0"/>
                <a:ea typeface="Calibri" pitchFamily="34" charset="-122"/>
                <a:cs typeface="Calibri" pitchFamily="34" charset="-120"/>
              </a:rPr>
              <a:t>Alignment Score</a:t>
            </a:r>
            <a:endParaRPr lang="en-US" sz="900" dirty="0"/>
          </a:p>
        </p:txBody>
      </p:sp>
      <p:sp>
        <p:nvSpPr>
          <p:cNvPr id="13" name="Text 11"/>
          <p:cNvSpPr/>
          <p:nvPr/>
        </p:nvSpPr>
        <p:spPr>
          <a:xfrm>
            <a:off x="5334000" y="3090672"/>
            <a:ext cx="2438400" cy="475488"/>
          </a:xfrm>
          <a:prstGeom prst="rect">
            <a:avLst/>
          </a:prstGeom>
          <a:noFill/>
          <a:ln/>
        </p:spPr>
        <p:txBody>
          <a:bodyPr wrap="square" lIns="0" tIns="0" rIns="0" bIns="0" rtlCol="0" anchor="b"/>
          <a:lstStyle/>
          <a:p>
            <a:pPr algn="ctr" indent="0" marL="0">
              <a:buNone/>
            </a:pPr>
            <a:r>
              <a:rPr lang="en-US" sz="2600" b="1" dirty="0">
                <a:solidFill>
                  <a:srgbClr val="E8B84B"/>
                </a:solidFill>
                <a:latin typeface="Cambria" pitchFamily="34" charset="0"/>
                <a:ea typeface="Cambria" pitchFamily="34" charset="-122"/>
                <a:cs typeface="Cambria" pitchFamily="34" charset="-120"/>
              </a:rPr>
              <a:t>78%</a:t>
            </a:r>
            <a:endParaRPr lang="en-US" sz="2600" dirty="0"/>
          </a:p>
        </p:txBody>
      </p:sp>
      <p:sp>
        <p:nvSpPr>
          <p:cNvPr id="14" name="Text 12"/>
          <p:cNvSpPr/>
          <p:nvPr/>
        </p:nvSpPr>
        <p:spPr>
          <a:xfrm>
            <a:off x="5334000" y="3566160"/>
            <a:ext cx="2438400" cy="274320"/>
          </a:xfrm>
          <a:prstGeom prst="rect">
            <a:avLst/>
          </a:prstGeom>
          <a:noFill/>
          <a:ln/>
        </p:spPr>
        <p:txBody>
          <a:bodyPr wrap="square" lIns="0" tIns="0" rIns="0" bIns="0" rtlCol="0" anchor="t">
            <a:normAutofit/>
          </a:bodyPr>
          <a:lstStyle/>
          <a:p>
            <a:pPr algn="ctr" indent="0" marL="0">
              <a:buNone/>
            </a:pPr>
            <a:r>
              <a:rPr lang="en-US" sz="900" dirty="0">
                <a:solidFill>
                  <a:srgbClr val="C8D8E8"/>
                </a:solidFill>
                <a:latin typeface="Calibri" pitchFamily="34" charset="0"/>
                <a:ea typeface="Calibri" pitchFamily="34" charset="-122"/>
                <a:cs typeface="Calibri" pitchFamily="34" charset="-120"/>
              </a:rPr>
              <a:t>Faster Regression Cycles</a:t>
            </a:r>
            <a:endParaRPr lang="en-US" sz="900" dirty="0"/>
          </a:p>
        </p:txBody>
      </p:sp>
      <p:sp>
        <p:nvSpPr>
          <p:cNvPr id="15" name="Shape 13"/>
          <p:cNvSpPr/>
          <p:nvPr/>
        </p:nvSpPr>
        <p:spPr>
          <a:xfrm>
            <a:off x="548640" y="3977640"/>
            <a:ext cx="2926080" cy="411480"/>
          </a:xfrm>
          <a:prstGeom prst="roundRect">
            <a:avLst>
              <a:gd name="adj" fmla="val 17778"/>
            </a:avLst>
          </a:prstGeom>
          <a:solidFill>
            <a:srgbClr val="E8B84B"/>
          </a:solidFill>
          <a:ln w="12700">
            <a:solidFill>
              <a:srgbClr val="E8B84B"/>
            </a:solidFill>
            <a:prstDash val="solid"/>
          </a:ln>
        </p:spPr>
      </p:sp>
      <p:sp>
        <p:nvSpPr>
          <p:cNvPr id="16" name="Text 14"/>
          <p:cNvSpPr/>
          <p:nvPr/>
        </p:nvSpPr>
        <p:spPr>
          <a:xfrm>
            <a:off x="548640" y="3977640"/>
            <a:ext cx="2926080" cy="411480"/>
          </a:xfrm>
          <a:prstGeom prst="rect">
            <a:avLst/>
          </a:prstGeom>
          <a:noFill/>
          <a:ln/>
        </p:spPr>
        <p:txBody>
          <a:bodyPr wrap="square" lIns="0" tIns="0" rIns="0" bIns="0" rtlCol="0" anchor="ctr">
            <a:normAutofit/>
          </a:bodyPr>
          <a:lstStyle/>
          <a:p>
            <a:pPr algn="ctr" indent="0" marL="0">
              <a:buNone/>
            </a:pPr>
            <a:r>
              <a:rPr lang="en-US" sz="1100" b="1" dirty="0">
                <a:solidFill>
                  <a:srgbClr val="0D1B2A"/>
                </a:solidFill>
                <a:latin typeface="Calibri" pitchFamily="34" charset="0"/>
                <a:ea typeface="Calibri" pitchFamily="34" charset="-122"/>
                <a:cs typeface="Calibri" pitchFamily="34" charset="-120"/>
              </a:rPr>
              <a:t>Prepared for Genpact</a:t>
            </a:r>
            <a:endParaRPr lang="en-US" sz="1100" dirty="0"/>
          </a:p>
        </p:txBody>
      </p:sp>
      <p:sp>
        <p:nvSpPr>
          <p:cNvPr id="17" name="Text 15"/>
          <p:cNvSpPr/>
          <p:nvPr/>
        </p:nvSpPr>
        <p:spPr>
          <a:xfrm>
            <a:off x="8229600" y="4828032"/>
            <a:ext cx="731520" cy="182880"/>
          </a:xfrm>
          <a:prstGeom prst="rect">
            <a:avLst/>
          </a:prstGeom>
          <a:noFill/>
          <a:ln/>
        </p:spPr>
        <p:txBody>
          <a:bodyPr wrap="square" rtlCol="0" anchor="ctr"/>
          <a:lstStyle/>
          <a:p>
            <a:pPr algn="r" indent="0" marL="0">
              <a:buNone/>
            </a:pPr>
            <a:r>
              <a:rPr lang="en-US" sz="1000" dirty="0">
                <a:solidFill>
                  <a:srgbClr val="C8D8E8"/>
                </a:solidFill>
                <a:latin typeface="Calibri" pitchFamily="34" charset="0"/>
                <a:ea typeface="Calibri" pitchFamily="34" charset="-122"/>
                <a:cs typeface="Calibri" pitchFamily="34" charset="-120"/>
              </a:rPr>
              <a:t>1 / 14</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6858000" y="2743200"/>
            <a:ext cx="3657600" cy="3657600"/>
          </a:xfrm>
          <a:prstGeom prst="ellipse">
            <a:avLst/>
          </a:prstGeom>
          <a:solidFill>
            <a:srgbClr val="059669">
              <a:alpha val="6000"/>
            </a:srgbClr>
          </a:solidFill>
          <a:ln w="12700">
            <a:solidFill>
              <a:srgbClr val="059669"/>
            </a:solidFill>
            <a:prstDash val="solid"/>
          </a:ln>
        </p:spPr>
      </p:sp>
      <p:sp>
        <p:nvSpPr>
          <p:cNvPr id="3" name="Shape 1"/>
          <p:cNvSpPr/>
          <p:nvPr/>
        </p:nvSpPr>
        <p:spPr>
          <a:xfrm>
            <a:off x="0" y="0"/>
            <a:ext cx="9144000" cy="475488"/>
          </a:xfrm>
          <a:prstGeom prst="rect">
            <a:avLst/>
          </a:prstGeom>
          <a:solidFill>
            <a:srgbClr val="0D1B2A"/>
          </a:solidFill>
          <a:ln/>
        </p:spPr>
      </p:sp>
      <p:sp>
        <p:nvSpPr>
          <p:cNvPr id="4" name="Text 2"/>
          <p:cNvSpPr/>
          <p:nvPr/>
        </p:nvSpPr>
        <p:spPr>
          <a:xfrm>
            <a:off x="365760" y="0"/>
            <a:ext cx="8412480" cy="475488"/>
          </a:xfrm>
          <a:prstGeom prst="rect">
            <a:avLst/>
          </a:prstGeom>
          <a:noFill/>
          <a:ln/>
        </p:spPr>
        <p:txBody>
          <a:bodyPr wrap="square" lIns="0" tIns="0" rIns="0" bIns="0" rtlCol="0" anchor="ctr"/>
          <a:lstStyle/>
          <a:p>
            <a:pPr algn="l" indent="0" marL="0">
              <a:buNone/>
            </a:pPr>
            <a:r>
              <a:rPr lang="en-US" sz="1100" b="1" spc="300" kern="0" dirty="0">
                <a:solidFill>
                  <a:srgbClr val="047857"/>
                </a:solidFill>
                <a:latin typeface="Calibri" pitchFamily="34" charset="0"/>
                <a:ea typeface="Calibri" pitchFamily="34" charset="-122"/>
                <a:cs typeface="Calibri" pitchFamily="34" charset="-120"/>
              </a:rPr>
              <a:t>AGENDA</a:t>
            </a:r>
            <a:endParaRPr lang="en-US" sz="1100" dirty="0"/>
          </a:p>
        </p:txBody>
      </p:sp>
      <p:sp>
        <p:nvSpPr>
          <p:cNvPr id="5" name="Text 3"/>
          <p:cNvSpPr/>
          <p:nvPr/>
        </p:nvSpPr>
        <p:spPr>
          <a:xfrm>
            <a:off x="457200" y="548640"/>
            <a:ext cx="8229600" cy="777240"/>
          </a:xfrm>
          <a:prstGeom prst="rect">
            <a:avLst/>
          </a:prstGeom>
          <a:noFill/>
          <a:ln/>
        </p:spPr>
        <p:txBody>
          <a:bodyPr wrap="square" lIns="0" tIns="0" rIns="0" bIns="0" rtlCol="0" anchor="t">
            <a:normAutofit/>
          </a:bodyPr>
          <a:lstStyle/>
          <a:p>
            <a:pPr algn="l" indent="0" marL="0">
              <a:buNone/>
            </a:pPr>
            <a:r>
              <a:rPr lang="en-US" sz="2200" b="1" dirty="0">
                <a:solidFill>
                  <a:srgbClr val="1A1A2E"/>
                </a:solidFill>
                <a:latin typeface="Cambria" pitchFamily="34" charset="0"/>
                <a:ea typeface="Cambria" pitchFamily="34" charset="-122"/>
                <a:cs typeface="Cambria" pitchFamily="34" charset="-120"/>
              </a:rPr>
              <a:t>From Legacy Bottlenecks to AI-Scale Insights</a:t>
            </a:r>
            <a:endParaRPr lang="en-US" sz="2200" dirty="0"/>
          </a:p>
        </p:txBody>
      </p:sp>
      <p:sp>
        <p:nvSpPr>
          <p:cNvPr id="6" name="Text 4"/>
          <p:cNvSpPr/>
          <p:nvPr/>
        </p:nvSpPr>
        <p:spPr>
          <a:xfrm>
            <a:off x="457200" y="1371600"/>
            <a:ext cx="8229600" cy="320040"/>
          </a:xfrm>
          <a:prstGeom prst="rect">
            <a:avLst/>
          </a:prstGeom>
          <a:noFill/>
          <a:ln/>
        </p:spPr>
        <p:txBody>
          <a:bodyPr wrap="square" lIns="0" tIns="0" rIns="0" bIns="0" rtlCol="0" anchor="t">
            <a:normAutofit/>
          </a:bodyPr>
          <a:lstStyle/>
          <a:p>
            <a:pPr algn="l" indent="0" marL="0">
              <a:buNone/>
            </a:pPr>
            <a:r>
              <a:rPr lang="en-US" sz="1000" i="1" dirty="0">
                <a:solidFill>
                  <a:srgbClr val="047857"/>
                </a:solidFill>
                <a:latin typeface="Calibri" pitchFamily="34" charset="0"/>
                <a:ea typeface="Calibri" pitchFamily="34" charset="-122"/>
                <a:cs typeface="Calibri" pitchFamily="34" charset="-120"/>
              </a:rPr>
              <a:t>Today's conversation follows Genpact's five-step path from current data constraints through proven modernization to a clear, low-risk rollout plan.</a:t>
            </a:r>
            <a:endParaRPr lang="en-US" sz="1000" dirty="0"/>
          </a:p>
        </p:txBody>
      </p:sp>
      <p:sp>
        <p:nvSpPr>
          <p:cNvPr id="7" name="Shape 5"/>
          <p:cNvSpPr/>
          <p:nvPr/>
        </p:nvSpPr>
        <p:spPr>
          <a:xfrm>
            <a:off x="457200" y="1837944"/>
            <a:ext cx="402336" cy="402336"/>
          </a:xfrm>
          <a:prstGeom prst="ellipse">
            <a:avLst/>
          </a:prstGeom>
          <a:solidFill>
            <a:srgbClr val="059669"/>
          </a:solidFill>
          <a:ln w="12700">
            <a:solidFill>
              <a:srgbClr val="059669"/>
            </a:solidFill>
            <a:prstDash val="solid"/>
          </a:ln>
        </p:spPr>
      </p:sp>
      <p:sp>
        <p:nvSpPr>
          <p:cNvPr id="8" name="Text 6"/>
          <p:cNvSpPr/>
          <p:nvPr/>
        </p:nvSpPr>
        <p:spPr>
          <a:xfrm>
            <a:off x="457200" y="18379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9" name="Shape 7"/>
          <p:cNvSpPr/>
          <p:nvPr/>
        </p:nvSpPr>
        <p:spPr>
          <a:xfrm>
            <a:off x="960120" y="1783080"/>
            <a:ext cx="3383280" cy="512064"/>
          </a:xfrm>
          <a:prstGeom prst="rect">
            <a:avLst/>
          </a:prstGeom>
          <a:solidFill>
            <a:srgbClr val="E2E8F0"/>
          </a:solidFill>
          <a:ln w="12700">
            <a:solidFill>
              <a:srgbClr val="E2E8F0"/>
            </a:solidFill>
            <a:prstDash val="solid"/>
          </a:ln>
          <a:effectLst>
            <a:outerShdw sx="100000" sy="100000" kx="0" ky="0" algn="bl" rotWithShape="0" blurRad="127000" dist="38100" dir="2700000">
              <a:srgbClr val="000000">
                <a:alpha val="4000"/>
              </a:srgbClr>
            </a:outerShdw>
          </a:effectLst>
        </p:spPr>
      </p:sp>
      <p:sp>
        <p:nvSpPr>
          <p:cNvPr id="10" name="Text 8"/>
          <p:cNvSpPr/>
          <p:nvPr/>
        </p:nvSpPr>
        <p:spPr>
          <a:xfrm>
            <a:off x="1097280" y="1783080"/>
            <a:ext cx="3108960" cy="512064"/>
          </a:xfrm>
          <a:prstGeom prst="rect">
            <a:avLst/>
          </a:prstGeom>
          <a:noFill/>
          <a:ln/>
        </p:spPr>
        <p:txBody>
          <a:bodyPr wrap="square" lIns="0" tIns="0" rIns="0" bIns="0" rtlCol="0" anchor="ctr">
            <a:normAutofit/>
          </a:bodyPr>
          <a:lstStyle/>
          <a:p>
            <a:pPr indent="0" marL="0">
              <a:buNone/>
            </a:pPr>
            <a:r>
              <a:rPr lang="en-US" sz="1400" dirty="0">
                <a:solidFill>
                  <a:srgbClr val="64748B"/>
                </a:solidFill>
                <a:latin typeface="Calibri" pitchFamily="34" charset="0"/>
                <a:ea typeface="Calibri" pitchFamily="34" charset="-122"/>
                <a:cs typeface="Calibri" pitchFamily="34" charset="-120"/>
              </a:rPr>
              <a:t>Where Genpact stands with legacy warehouse delays</a:t>
            </a:r>
            <a:endParaRPr lang="en-US" sz="1400" dirty="0"/>
          </a:p>
        </p:txBody>
      </p:sp>
      <p:sp>
        <p:nvSpPr>
          <p:cNvPr id="11" name="Shape 9"/>
          <p:cNvSpPr/>
          <p:nvPr/>
        </p:nvSpPr>
        <p:spPr>
          <a:xfrm>
            <a:off x="457200" y="2752344"/>
            <a:ext cx="402336" cy="402336"/>
          </a:xfrm>
          <a:prstGeom prst="ellipse">
            <a:avLst/>
          </a:prstGeom>
          <a:solidFill>
            <a:srgbClr val="059669"/>
          </a:solidFill>
          <a:ln w="12700">
            <a:solidFill>
              <a:srgbClr val="059669"/>
            </a:solidFill>
            <a:prstDash val="solid"/>
          </a:ln>
        </p:spPr>
      </p:sp>
      <p:sp>
        <p:nvSpPr>
          <p:cNvPr id="12" name="Text 10"/>
          <p:cNvSpPr/>
          <p:nvPr/>
        </p:nvSpPr>
        <p:spPr>
          <a:xfrm>
            <a:off x="457200" y="27523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3" name="Shape 11"/>
          <p:cNvSpPr/>
          <p:nvPr/>
        </p:nvSpPr>
        <p:spPr>
          <a:xfrm>
            <a:off x="960120" y="2697480"/>
            <a:ext cx="3383280" cy="512064"/>
          </a:xfrm>
          <a:prstGeom prst="rect">
            <a:avLst/>
          </a:prstGeom>
          <a:solidFill>
            <a:srgbClr val="E2E8F0"/>
          </a:solidFill>
          <a:ln w="12700">
            <a:solidFill>
              <a:srgbClr val="E2E8F0"/>
            </a:solidFill>
            <a:prstDash val="solid"/>
          </a:ln>
          <a:effectLst>
            <a:outerShdw sx="100000" sy="100000" kx="0" ky="0" algn="bl" rotWithShape="0" blurRad="127000" dist="38100" dir="2700000">
              <a:srgbClr val="000000">
                <a:alpha val="4000"/>
              </a:srgbClr>
            </a:outerShdw>
          </a:effectLst>
        </p:spPr>
      </p:sp>
      <p:sp>
        <p:nvSpPr>
          <p:cNvPr id="14" name="Text 12"/>
          <p:cNvSpPr/>
          <p:nvPr/>
        </p:nvSpPr>
        <p:spPr>
          <a:xfrm>
            <a:off x="1097280" y="2697480"/>
            <a:ext cx="3108960" cy="512064"/>
          </a:xfrm>
          <a:prstGeom prst="rect">
            <a:avLst/>
          </a:prstGeom>
          <a:noFill/>
          <a:ln/>
        </p:spPr>
        <p:txBody>
          <a:bodyPr wrap="square" lIns="0" tIns="0" rIns="0" bIns="0" rtlCol="0" anchor="ctr">
            <a:normAutofit/>
          </a:bodyPr>
          <a:lstStyle/>
          <a:p>
            <a:pPr indent="0" marL="0">
              <a:buNone/>
            </a:pPr>
            <a:r>
              <a:rPr lang="en-US" sz="1400" dirty="0">
                <a:solidFill>
                  <a:srgbClr val="64748B"/>
                </a:solidFill>
                <a:latin typeface="Calibri" pitchFamily="34" charset="0"/>
                <a:ea typeface="Calibri" pitchFamily="34" charset="-122"/>
                <a:cs typeface="Calibri" pitchFamily="34" charset="-120"/>
              </a:rPr>
              <a:t>What's changing in data and AI demands</a:t>
            </a:r>
            <a:endParaRPr lang="en-US" sz="1400" dirty="0"/>
          </a:p>
        </p:txBody>
      </p:sp>
      <p:sp>
        <p:nvSpPr>
          <p:cNvPr id="15" name="Shape 13"/>
          <p:cNvSpPr/>
          <p:nvPr/>
        </p:nvSpPr>
        <p:spPr>
          <a:xfrm>
            <a:off x="457200" y="3666744"/>
            <a:ext cx="402336" cy="402336"/>
          </a:xfrm>
          <a:prstGeom prst="ellipse">
            <a:avLst/>
          </a:prstGeom>
          <a:solidFill>
            <a:srgbClr val="059669"/>
          </a:solidFill>
          <a:ln w="12700">
            <a:solidFill>
              <a:srgbClr val="059669"/>
            </a:solidFill>
            <a:prstDash val="solid"/>
          </a:ln>
        </p:spPr>
      </p:sp>
      <p:sp>
        <p:nvSpPr>
          <p:cNvPr id="16" name="Text 14"/>
          <p:cNvSpPr/>
          <p:nvPr/>
        </p:nvSpPr>
        <p:spPr>
          <a:xfrm>
            <a:off x="457200" y="36667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7" name="Shape 15"/>
          <p:cNvSpPr/>
          <p:nvPr/>
        </p:nvSpPr>
        <p:spPr>
          <a:xfrm>
            <a:off x="960120" y="3611880"/>
            <a:ext cx="3383280" cy="512064"/>
          </a:xfrm>
          <a:prstGeom prst="rect">
            <a:avLst/>
          </a:prstGeom>
          <a:solidFill>
            <a:srgbClr val="E2E8F0"/>
          </a:solidFill>
          <a:ln w="12700">
            <a:solidFill>
              <a:srgbClr val="E2E8F0"/>
            </a:solidFill>
            <a:prstDash val="solid"/>
          </a:ln>
          <a:effectLst>
            <a:outerShdw sx="100000" sy="100000" kx="0" ky="0" algn="bl" rotWithShape="0" blurRad="127000" dist="38100" dir="2700000">
              <a:srgbClr val="000000">
                <a:alpha val="4000"/>
              </a:srgbClr>
            </a:outerShdw>
          </a:effectLst>
        </p:spPr>
      </p:sp>
      <p:sp>
        <p:nvSpPr>
          <p:cNvPr id="18" name="Text 16"/>
          <p:cNvSpPr/>
          <p:nvPr/>
        </p:nvSpPr>
        <p:spPr>
          <a:xfrm>
            <a:off x="1097280" y="3611880"/>
            <a:ext cx="3108960" cy="512064"/>
          </a:xfrm>
          <a:prstGeom prst="rect">
            <a:avLst/>
          </a:prstGeom>
          <a:noFill/>
          <a:ln/>
        </p:spPr>
        <p:txBody>
          <a:bodyPr wrap="square" lIns="0" tIns="0" rIns="0" bIns="0" rtlCol="0" anchor="ctr">
            <a:normAutofit/>
          </a:bodyPr>
          <a:lstStyle/>
          <a:p>
            <a:pPr indent="0" marL="0">
              <a:buNone/>
            </a:pPr>
            <a:r>
              <a:rPr lang="en-US" sz="1400" dirty="0">
                <a:solidFill>
                  <a:srgbClr val="64748B"/>
                </a:solidFill>
                <a:latin typeface="Calibri" pitchFamily="34" charset="0"/>
                <a:ea typeface="Calibri" pitchFamily="34" charset="-122"/>
                <a:cs typeface="Calibri" pitchFamily="34" charset="-120"/>
              </a:rPr>
              <a:t>How Quarks fits as your modernization guide</a:t>
            </a:r>
            <a:endParaRPr lang="en-US" sz="1400" dirty="0"/>
          </a:p>
        </p:txBody>
      </p:sp>
      <p:sp>
        <p:nvSpPr>
          <p:cNvPr id="19" name="Shape 17"/>
          <p:cNvSpPr/>
          <p:nvPr/>
        </p:nvSpPr>
        <p:spPr>
          <a:xfrm>
            <a:off x="4800600" y="1837944"/>
            <a:ext cx="402336" cy="402336"/>
          </a:xfrm>
          <a:prstGeom prst="ellipse">
            <a:avLst/>
          </a:prstGeom>
          <a:solidFill>
            <a:srgbClr val="059669"/>
          </a:solidFill>
          <a:ln w="12700">
            <a:solidFill>
              <a:srgbClr val="059669"/>
            </a:solidFill>
            <a:prstDash val="solid"/>
          </a:ln>
        </p:spPr>
      </p:sp>
      <p:sp>
        <p:nvSpPr>
          <p:cNvPr id="20" name="Text 18"/>
          <p:cNvSpPr/>
          <p:nvPr/>
        </p:nvSpPr>
        <p:spPr>
          <a:xfrm>
            <a:off x="4800600" y="18379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1" name="Shape 19"/>
          <p:cNvSpPr/>
          <p:nvPr/>
        </p:nvSpPr>
        <p:spPr>
          <a:xfrm>
            <a:off x="5303520" y="1783080"/>
            <a:ext cx="3383280" cy="512064"/>
          </a:xfrm>
          <a:prstGeom prst="rect">
            <a:avLst/>
          </a:prstGeom>
          <a:solidFill>
            <a:srgbClr val="E2E8F0"/>
          </a:solidFill>
          <a:ln w="12700">
            <a:solidFill>
              <a:srgbClr val="E2E8F0"/>
            </a:solidFill>
            <a:prstDash val="solid"/>
          </a:ln>
          <a:effectLst>
            <a:outerShdw sx="100000" sy="100000" kx="0" ky="0" algn="bl" rotWithShape="0" blurRad="127000" dist="38100" dir="2700000">
              <a:srgbClr val="000000">
                <a:alpha val="4000"/>
              </a:srgbClr>
            </a:outerShdw>
          </a:effectLst>
        </p:spPr>
      </p:sp>
      <p:sp>
        <p:nvSpPr>
          <p:cNvPr id="22" name="Text 20"/>
          <p:cNvSpPr/>
          <p:nvPr/>
        </p:nvSpPr>
        <p:spPr>
          <a:xfrm>
            <a:off x="5440680" y="1783080"/>
            <a:ext cx="3108960" cy="512064"/>
          </a:xfrm>
          <a:prstGeom prst="rect">
            <a:avLst/>
          </a:prstGeom>
          <a:noFill/>
          <a:ln/>
        </p:spPr>
        <p:txBody>
          <a:bodyPr wrap="square" lIns="0" tIns="0" rIns="0" bIns="0" rtlCol="0" anchor="ctr">
            <a:normAutofit/>
          </a:bodyPr>
          <a:lstStyle/>
          <a:p>
            <a:pPr indent="0" marL="0">
              <a:buNone/>
            </a:pPr>
            <a:r>
              <a:rPr lang="en-US" sz="1400" dirty="0">
                <a:solidFill>
                  <a:srgbClr val="64748B"/>
                </a:solidFill>
                <a:latin typeface="Calibri" pitchFamily="34" charset="0"/>
                <a:ea typeface="Calibri" pitchFamily="34" charset="-122"/>
                <a:cs typeface="Calibri" pitchFamily="34" charset="-120"/>
              </a:rPr>
              <a:t>Proof from a benchmark case study</a:t>
            </a:r>
            <a:endParaRPr lang="en-US" sz="1400" dirty="0"/>
          </a:p>
        </p:txBody>
      </p:sp>
      <p:sp>
        <p:nvSpPr>
          <p:cNvPr id="23" name="Shape 21"/>
          <p:cNvSpPr/>
          <p:nvPr/>
        </p:nvSpPr>
        <p:spPr>
          <a:xfrm>
            <a:off x="4800600" y="2752344"/>
            <a:ext cx="402336" cy="402336"/>
          </a:xfrm>
          <a:prstGeom prst="ellipse">
            <a:avLst/>
          </a:prstGeom>
          <a:solidFill>
            <a:srgbClr val="059669"/>
          </a:solidFill>
          <a:ln w="12700">
            <a:solidFill>
              <a:srgbClr val="059669"/>
            </a:solidFill>
            <a:prstDash val="solid"/>
          </a:ln>
        </p:spPr>
      </p:sp>
      <p:sp>
        <p:nvSpPr>
          <p:cNvPr id="24" name="Text 22"/>
          <p:cNvSpPr/>
          <p:nvPr/>
        </p:nvSpPr>
        <p:spPr>
          <a:xfrm>
            <a:off x="4800600" y="27523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5" name="Shape 23"/>
          <p:cNvSpPr/>
          <p:nvPr/>
        </p:nvSpPr>
        <p:spPr>
          <a:xfrm>
            <a:off x="5303520" y="2697480"/>
            <a:ext cx="3383280" cy="512064"/>
          </a:xfrm>
          <a:prstGeom prst="rect">
            <a:avLst/>
          </a:prstGeom>
          <a:solidFill>
            <a:srgbClr val="E2E8F0"/>
          </a:solidFill>
          <a:ln w="12700">
            <a:solidFill>
              <a:srgbClr val="E2E8F0"/>
            </a:solidFill>
            <a:prstDash val="solid"/>
          </a:ln>
          <a:effectLst>
            <a:outerShdw sx="100000" sy="100000" kx="0" ky="0" algn="bl" rotWithShape="0" blurRad="127000" dist="38100" dir="2700000">
              <a:srgbClr val="000000">
                <a:alpha val="4000"/>
              </a:srgbClr>
            </a:outerShdw>
          </a:effectLst>
        </p:spPr>
      </p:sp>
      <p:sp>
        <p:nvSpPr>
          <p:cNvPr id="26" name="Text 24"/>
          <p:cNvSpPr/>
          <p:nvPr/>
        </p:nvSpPr>
        <p:spPr>
          <a:xfrm>
            <a:off x="5440680" y="2697480"/>
            <a:ext cx="3108960" cy="512064"/>
          </a:xfrm>
          <a:prstGeom prst="rect">
            <a:avLst/>
          </a:prstGeom>
          <a:noFill/>
          <a:ln/>
        </p:spPr>
        <p:txBody>
          <a:bodyPr wrap="square" lIns="0" tIns="0" rIns="0" bIns="0" rtlCol="0" anchor="ctr">
            <a:normAutofit/>
          </a:bodyPr>
          <a:lstStyle/>
          <a:p>
            <a:pPr indent="0" marL="0">
              <a:buNone/>
            </a:pPr>
            <a:r>
              <a:rPr lang="en-US" sz="1400" dirty="0">
                <a:solidFill>
                  <a:srgbClr val="64748B"/>
                </a:solidFill>
                <a:latin typeface="Calibri" pitchFamily="34" charset="0"/>
                <a:ea typeface="Calibri" pitchFamily="34" charset="-122"/>
                <a:cs typeface="Calibri" pitchFamily="34" charset="-120"/>
              </a:rPr>
              <a:t>Your low-risk three-step path forward</a:t>
            </a:r>
            <a:endParaRPr lang="en-US" sz="1400" dirty="0"/>
          </a:p>
        </p:txBody>
      </p:sp>
      <p:sp>
        <p:nvSpPr>
          <p:cNvPr id="27" name="Text 25"/>
          <p:cNvSpPr/>
          <p:nvPr/>
        </p:nvSpPr>
        <p:spPr>
          <a:xfrm>
            <a:off x="8229600" y="4828032"/>
            <a:ext cx="731520" cy="182880"/>
          </a:xfrm>
          <a:prstGeom prst="rect">
            <a:avLst/>
          </a:prstGeom>
          <a:noFill/>
          <a:ln/>
        </p:spPr>
        <p:txBody>
          <a:bodyPr wrap="square" rtlCol="0" anchor="ctr"/>
          <a:lstStyle/>
          <a:p>
            <a:pPr algn="r" indent="0" marL="0">
              <a:buNone/>
            </a:pPr>
            <a:r>
              <a:rPr lang="en-US" sz="1000" dirty="0">
                <a:solidFill>
                  <a:srgbClr val="047857"/>
                </a:solidFill>
                <a:latin typeface="Calibri" pitchFamily="34" charset="0"/>
                <a:ea typeface="Calibri" pitchFamily="34" charset="-122"/>
                <a:cs typeface="Calibri" pitchFamily="34" charset="-120"/>
              </a:rPr>
              <a:t>2 / 14</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114800" y="91440"/>
            <a:ext cx="4572000" cy="3200400"/>
          </a:xfrm>
          <a:prstGeom prst="rect">
            <a:avLst/>
          </a:prstGeom>
          <a:noFill/>
          <a:ln/>
        </p:spPr>
        <p:txBody>
          <a:bodyPr wrap="square" lIns="0" tIns="0" rIns="0" bIns="0" rtlCol="0" anchor="ctr"/>
          <a:lstStyle/>
          <a:p>
            <a:pPr algn="r" indent="0" marL="0">
              <a:buNone/>
            </a:pPr>
            <a:r>
              <a:rPr lang="en-US" sz="16000" b="1" dirty="0">
                <a:solidFill>
                  <a:srgbClr val="059669">
                    <a:alpha val="15000"/>
                  </a:srgbClr>
                </a:solidFill>
                <a:latin typeface="Calibri" pitchFamily="34" charset="0"/>
                <a:ea typeface="Calibri" pitchFamily="34" charset="-122"/>
                <a:cs typeface="Calibri" pitchFamily="34" charset="-120"/>
              </a:rPr>
              <a:t>03</a:t>
            </a:r>
            <a:endParaRPr lang="en-US" sz="16000" dirty="0"/>
          </a:p>
        </p:txBody>
      </p:sp>
      <p:sp>
        <p:nvSpPr>
          <p:cNvPr id="3" name="Shape 1"/>
          <p:cNvSpPr/>
          <p:nvPr/>
        </p:nvSpPr>
        <p:spPr>
          <a:xfrm>
            <a:off x="548640" y="1097280"/>
            <a:ext cx="54864" cy="2560320"/>
          </a:xfrm>
          <a:prstGeom prst="rect">
            <a:avLst/>
          </a:prstGeom>
          <a:solidFill>
            <a:srgbClr val="059669"/>
          </a:solidFill>
          <a:ln/>
        </p:spPr>
      </p:sp>
      <p:sp>
        <p:nvSpPr>
          <p:cNvPr id="4" name="Text 2"/>
          <p:cNvSpPr/>
          <p:nvPr/>
        </p:nvSpPr>
        <p:spPr>
          <a:xfrm>
            <a:off x="822960" y="1188720"/>
            <a:ext cx="7772400" cy="320040"/>
          </a:xfrm>
          <a:prstGeom prst="rect">
            <a:avLst/>
          </a:prstGeom>
          <a:noFill/>
          <a:ln/>
        </p:spPr>
        <p:txBody>
          <a:bodyPr wrap="square" lIns="0" tIns="0" rIns="0" bIns="0" rtlCol="0" anchor="ctr"/>
          <a:lstStyle/>
          <a:p>
            <a:pPr algn="l" indent="0" marL="0">
              <a:buNone/>
            </a:pPr>
            <a:r>
              <a:rPr lang="en-US" sz="1100" b="1" spc="300" kern="0" dirty="0">
                <a:solidFill>
                  <a:srgbClr val="047857"/>
                </a:solidFill>
                <a:latin typeface="Calibri" pitchFamily="34" charset="0"/>
                <a:ea typeface="Calibri" pitchFamily="34" charset="-122"/>
                <a:cs typeface="Calibri" pitchFamily="34" charset="-120"/>
              </a:rPr>
              <a:t>SECTION</a:t>
            </a:r>
            <a:endParaRPr lang="en-US" sz="1100" dirty="0"/>
          </a:p>
        </p:txBody>
      </p:sp>
      <p:sp>
        <p:nvSpPr>
          <p:cNvPr id="5" name="Text 3"/>
          <p:cNvSpPr/>
          <p:nvPr/>
        </p:nvSpPr>
        <p:spPr>
          <a:xfrm>
            <a:off x="822960" y="1600200"/>
            <a:ext cx="7772400" cy="1645920"/>
          </a:xfrm>
          <a:prstGeom prst="rect">
            <a:avLst/>
          </a:prstGeom>
          <a:noFill/>
          <a:ln/>
        </p:spPr>
        <p:txBody>
          <a:bodyPr wrap="square" lIns="0" tIns="0" rIns="0" bIns="0" rtlCol="0" anchor="t"/>
          <a:lstStyle/>
          <a:p>
            <a:pPr algn="l" indent="0" marL="0">
              <a:buNone/>
            </a:pPr>
            <a:r>
              <a:rPr lang="en-US" sz="2600" b="1" spc="200" kern="0" dirty="0">
                <a:solidFill>
                  <a:srgbClr val="F8F9FA"/>
                </a:solidFill>
                <a:latin typeface="Calibri" pitchFamily="34" charset="0"/>
                <a:ea typeface="Calibri" pitchFamily="34" charset="-122"/>
                <a:cs typeface="Calibri" pitchFamily="34" charset="-120"/>
              </a:rPr>
              <a:t>GENPACT'S STRATEGIC DATA MOMENT IS NOW</a:t>
            </a:r>
            <a:endParaRPr lang="en-US" sz="2600" dirty="0"/>
          </a:p>
        </p:txBody>
      </p:sp>
      <p:sp>
        <p:nvSpPr>
          <p:cNvPr id="6" name="Text 4"/>
          <p:cNvSpPr/>
          <p:nvPr/>
        </p:nvSpPr>
        <p:spPr>
          <a:xfrm>
            <a:off x="822960" y="3337560"/>
            <a:ext cx="7315200" cy="548640"/>
          </a:xfrm>
          <a:prstGeom prst="rect">
            <a:avLst/>
          </a:prstGeom>
          <a:noFill/>
          <a:ln/>
        </p:spPr>
        <p:txBody>
          <a:bodyPr wrap="square" lIns="0" tIns="0" rIns="0" bIns="0" rtlCol="0" anchor="ctr"/>
          <a:lstStyle/>
          <a:p>
            <a:pPr algn="l" indent="0" marL="0">
              <a:buNone/>
            </a:pPr>
            <a:r>
              <a:rPr lang="en-US" sz="1400" i="1" dirty="0">
                <a:solidFill>
                  <a:srgbClr val="C8D8E8"/>
                </a:solidFill>
                <a:latin typeface="Calibri Light" pitchFamily="34" charset="0"/>
                <a:ea typeface="Calibri Light" pitchFamily="34" charset="-122"/>
                <a:cs typeface="Calibri Light" pitchFamily="34" charset="-120"/>
              </a:rPr>
              <a:t>Legacy bottlenecks collide with AI-scale demand — the gap widens daily.</a:t>
            </a:r>
            <a:endParaRPr lang="en-US" sz="1400" dirty="0"/>
          </a:p>
        </p:txBody>
      </p:sp>
      <p:sp>
        <p:nvSpPr>
          <p:cNvPr id="7" name="Text 5"/>
          <p:cNvSpPr/>
          <p:nvPr/>
        </p:nvSpPr>
        <p:spPr>
          <a:xfrm>
            <a:off x="8229600" y="4828032"/>
            <a:ext cx="731520" cy="182880"/>
          </a:xfrm>
          <a:prstGeom prst="rect">
            <a:avLst/>
          </a:prstGeom>
          <a:noFill/>
          <a:ln/>
        </p:spPr>
        <p:txBody>
          <a:bodyPr wrap="square" rtlCol="0" anchor="ctr"/>
          <a:lstStyle/>
          <a:p>
            <a:pPr algn="r" indent="0" marL="0">
              <a:buNone/>
            </a:pPr>
            <a:r>
              <a:rPr lang="en-US" sz="1000" dirty="0">
                <a:solidFill>
                  <a:srgbClr val="C8D8E8"/>
                </a:solidFill>
                <a:latin typeface="Calibri" pitchFamily="34" charset="0"/>
                <a:ea typeface="Calibri" pitchFamily="34" charset="-122"/>
                <a:cs typeface="Calibri" pitchFamily="34" charset="-120"/>
              </a:rPr>
              <a:t>3 / 14</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6858000" y="2743200"/>
            <a:ext cx="3657600" cy="3657600"/>
          </a:xfrm>
          <a:prstGeom prst="ellipse">
            <a:avLst/>
          </a:prstGeom>
          <a:solidFill>
            <a:srgbClr val="059669">
              <a:alpha val="6000"/>
            </a:srgbClr>
          </a:solidFill>
          <a:ln w="12700">
            <a:solidFill>
              <a:srgbClr val="059669"/>
            </a:solidFill>
            <a:prstDash val="solid"/>
          </a:ln>
        </p:spPr>
      </p:sp>
      <p:sp>
        <p:nvSpPr>
          <p:cNvPr id="3" name="Shape 1"/>
          <p:cNvSpPr/>
          <p:nvPr/>
        </p:nvSpPr>
        <p:spPr>
          <a:xfrm>
            <a:off x="0" y="0"/>
            <a:ext cx="9144000" cy="475488"/>
          </a:xfrm>
          <a:prstGeom prst="rect">
            <a:avLst/>
          </a:prstGeom>
          <a:solidFill>
            <a:srgbClr val="0D1B2A"/>
          </a:solidFill>
          <a:ln/>
        </p:spPr>
      </p:sp>
      <p:sp>
        <p:nvSpPr>
          <p:cNvPr id="4" name="Text 2"/>
          <p:cNvSpPr/>
          <p:nvPr/>
        </p:nvSpPr>
        <p:spPr>
          <a:xfrm>
            <a:off x="365760" y="0"/>
            <a:ext cx="8412480" cy="475488"/>
          </a:xfrm>
          <a:prstGeom prst="rect">
            <a:avLst/>
          </a:prstGeom>
          <a:noFill/>
          <a:ln/>
        </p:spPr>
        <p:txBody>
          <a:bodyPr wrap="square" lIns="0" tIns="0" rIns="0" bIns="0" rtlCol="0" anchor="ctr"/>
          <a:lstStyle/>
          <a:p>
            <a:pPr algn="l" indent="0" marL="0">
              <a:buNone/>
            </a:pPr>
            <a:r>
              <a:rPr lang="en-US" sz="1100" b="1" spc="300" kern="0" dirty="0">
                <a:solidFill>
                  <a:srgbClr val="047857"/>
                </a:solidFill>
                <a:latin typeface="Calibri" pitchFamily="34" charset="0"/>
                <a:ea typeface="Calibri" pitchFamily="34" charset="-122"/>
                <a:cs typeface="Calibri" pitchFamily="34" charset="-120"/>
              </a:rPr>
              <a:t>CHALLENGES</a:t>
            </a:r>
            <a:endParaRPr lang="en-US" sz="1100" dirty="0"/>
          </a:p>
        </p:txBody>
      </p:sp>
      <p:sp>
        <p:nvSpPr>
          <p:cNvPr id="5" name="Text 3"/>
          <p:cNvSpPr/>
          <p:nvPr/>
        </p:nvSpPr>
        <p:spPr>
          <a:xfrm>
            <a:off x="457200" y="548640"/>
            <a:ext cx="8229600" cy="822960"/>
          </a:xfrm>
          <a:prstGeom prst="rect">
            <a:avLst/>
          </a:prstGeom>
          <a:noFill/>
          <a:ln/>
        </p:spPr>
        <p:txBody>
          <a:bodyPr wrap="square" lIns="0" tIns="0" rIns="0" bIns="0" rtlCol="0" anchor="t">
            <a:normAutofit/>
          </a:bodyPr>
          <a:lstStyle/>
          <a:p>
            <a:pPr algn="l" indent="0" marL="0">
              <a:buNone/>
            </a:pPr>
            <a:r>
              <a:rPr lang="en-US" sz="2200" b="1" dirty="0">
                <a:solidFill>
                  <a:srgbClr val="1A1A2E"/>
                </a:solidFill>
                <a:latin typeface="Cambria" pitchFamily="34" charset="0"/>
                <a:ea typeface="Cambria" pitchFamily="34" charset="-122"/>
                <a:cs typeface="Cambria" pitchFamily="34" charset="-120"/>
              </a:rPr>
              <a:t>Genpact's Legacy Stack Is Throttling AI at Scale</a:t>
            </a:r>
            <a:endParaRPr lang="en-US" sz="2200" dirty="0"/>
          </a:p>
        </p:txBody>
      </p:sp>
      <p:sp>
        <p:nvSpPr>
          <p:cNvPr id="6" name="Shape 4"/>
          <p:cNvSpPr/>
          <p:nvPr/>
        </p:nvSpPr>
        <p:spPr>
          <a:xfrm>
            <a:off x="457200" y="1463040"/>
            <a:ext cx="3977640" cy="2743200"/>
          </a:xfrm>
          <a:prstGeom prst="rect">
            <a:avLst/>
          </a:prstGeom>
          <a:solidFill>
            <a:srgbClr val="E2E8F0"/>
          </a:solidFill>
          <a:ln w="12700">
            <a:solidFill>
              <a:srgbClr val="E2E8F0"/>
            </a:solidFill>
            <a:prstDash val="solid"/>
          </a:ln>
          <a:effectLst>
            <a:outerShdw sx="100000" sy="100000" kx="0" ky="0" algn="bl" rotWithShape="0" blurRad="127000" dist="38100" dir="2700000">
              <a:srgbClr val="000000">
                <a:alpha val="6000"/>
              </a:srgbClr>
            </a:outerShdw>
          </a:effectLst>
        </p:spPr>
      </p:sp>
      <p:sp>
        <p:nvSpPr>
          <p:cNvPr id="7" name="Shape 5"/>
          <p:cNvSpPr/>
          <p:nvPr/>
        </p:nvSpPr>
        <p:spPr>
          <a:xfrm>
            <a:off x="457200" y="1463040"/>
            <a:ext cx="54864" cy="2743200"/>
          </a:xfrm>
          <a:prstGeom prst="rect">
            <a:avLst/>
          </a:prstGeom>
          <a:solidFill>
            <a:srgbClr val="059669"/>
          </a:solidFill>
          <a:ln w="12700">
            <a:solidFill>
              <a:srgbClr val="059669"/>
            </a:solidFill>
            <a:prstDash val="solid"/>
          </a:ln>
        </p:spPr>
      </p:sp>
      <p:sp>
        <p:nvSpPr>
          <p:cNvPr id="8" name="Text 6"/>
          <p:cNvSpPr/>
          <p:nvPr/>
        </p:nvSpPr>
        <p:spPr>
          <a:xfrm>
            <a:off x="685800" y="1600200"/>
            <a:ext cx="3611880" cy="2468880"/>
          </a:xfrm>
          <a:prstGeom prst="rect">
            <a:avLst/>
          </a:prstGeom>
          <a:noFill/>
          <a:ln/>
        </p:spPr>
        <p:txBody>
          <a:bodyPr wrap="square" rtlCol="0" anchor="t">
            <a:normAutofit/>
          </a:bodyPr>
          <a:lstStyle/>
          <a:p>
            <a:pPr marL="342900" indent="-342900">
              <a:spcAft>
                <a:spcPts val="800"/>
              </a:spcAft>
              <a:buSzPct val="100000"/>
              <a:buChar char="•"/>
            </a:pPr>
            <a:r>
              <a:rPr lang="en-US" sz="1000" dirty="0">
                <a:solidFill>
                  <a:srgbClr val="64748B"/>
                </a:solidFill>
                <a:latin typeface="Calibri" pitchFamily="34" charset="0"/>
                <a:ea typeface="Calibri" pitchFamily="34" charset="-122"/>
                <a:cs typeface="Calibri" pitchFamily="34" charset="-120"/>
              </a:rPr>
              <a:t>Legacy data warehouse bottlenecks are forcing Genpact to wait 3-4 days for critical reports, turning what should be real-time intelligence into a competitive liability when clients expect instant answers.</a:t>
            </a:r>
            <a:endParaRPr lang="en-US" sz="1000" dirty="0"/>
          </a:p>
          <a:p>
            <a:pPr marL="342900" indent="-342900">
              <a:spcAft>
                <a:spcPts val="800"/>
              </a:spcAft>
              <a:buSzPct val="100000"/>
              <a:buChar char="•"/>
            </a:pPr>
            <a:r>
              <a:rPr lang="en-US" sz="1000" dirty="0">
                <a:solidFill>
                  <a:srgbClr val="64748B"/>
                </a:solidFill>
                <a:latin typeface="Calibri" pitchFamily="34" charset="0"/>
                <a:ea typeface="Calibri" pitchFamily="34" charset="-122"/>
                <a:cs typeface="Calibri" pitchFamily="34" charset="-120"/>
              </a:rPr>
              <a:t>Fragmented data silos and rigid infrastructure trap AI/ML models in narrow corridors, stalling scalability and forcing engineering teams to spend more time wrestling pipelines than delivering intelligent outcomes.</a:t>
            </a:r>
            <a:endParaRPr lang="en-US" sz="1000" dirty="0"/>
          </a:p>
          <a:p>
            <a:pPr marL="342900" indent="-342900">
              <a:spcAft>
                <a:spcPts val="800"/>
              </a:spcAft>
              <a:buSzPct val="100000"/>
              <a:buChar char="•"/>
            </a:pPr>
            <a:r>
              <a:rPr lang="en-US" sz="1000" dirty="0">
                <a:solidFill>
                  <a:srgbClr val="64748B"/>
                </a:solidFill>
                <a:latin typeface="Calibri" pitchFamily="34" charset="0"/>
                <a:ea typeface="Calibri" pitchFamily="34" charset="-122"/>
                <a:cs typeface="Calibri" pitchFamily="34" charset="-120"/>
              </a:rPr>
              <a:t>Without a reliable talent supply chain, Genpact faces capacity gaps that stall multi-stack engineering initiatives — every unfilled role means delayed roadmaps and eroded client trust.</a:t>
            </a:r>
            <a:endParaRPr lang="en-US" sz="1000" dirty="0"/>
          </a:p>
          <a:p>
            <a:pPr marL="342900" indent="-342900">
              <a:spcAft>
                <a:spcPts val="800"/>
              </a:spcAft>
              <a:buSzPct val="100000"/>
              <a:buChar char="•"/>
            </a:pPr>
            <a:r>
              <a:rPr lang="en-US" sz="1000" dirty="0">
                <a:solidFill>
                  <a:srgbClr val="64748B"/>
                </a:solidFill>
                <a:latin typeface="Calibri" pitchFamily="34" charset="0"/>
                <a:ea typeface="Calibri" pitchFamily="34" charset="-122"/>
                <a:cs typeface="Calibri" pitchFamily="34" charset="-120"/>
              </a:rPr>
              <a:t>These constraints compound each other — slow data feeds starve AI models, rigid infrastructure blocks scaling, and talent gaps prevent teams from fixing either, creating a cycle that only deepens with time.</a:t>
            </a:r>
            <a:endParaRPr lang="en-US" sz="1000" dirty="0"/>
          </a:p>
        </p:txBody>
      </p:sp>
      <p:sp>
        <p:nvSpPr>
          <p:cNvPr id="9" name="Shape 7"/>
          <p:cNvSpPr/>
          <p:nvPr/>
        </p:nvSpPr>
        <p:spPr>
          <a:xfrm>
            <a:off x="4709160" y="1463040"/>
            <a:ext cx="3977640" cy="2743200"/>
          </a:xfrm>
          <a:prstGeom prst="rect">
            <a:avLst/>
          </a:prstGeom>
          <a:solidFill>
            <a:srgbClr val="E2E8F0"/>
          </a:solidFill>
          <a:ln w="12700">
            <a:solidFill>
              <a:srgbClr val="E2E8F0"/>
            </a:solidFill>
            <a:prstDash val="solid"/>
          </a:ln>
          <a:effectLst>
            <a:outerShdw sx="100000" sy="100000" kx="0" ky="0" algn="bl" rotWithShape="0" blurRad="127000" dist="38100" dir="2700000">
              <a:srgbClr val="000000">
                <a:alpha val="6000"/>
              </a:srgbClr>
            </a:outerShdw>
          </a:effectLst>
        </p:spPr>
      </p:sp>
      <p:sp>
        <p:nvSpPr>
          <p:cNvPr id="10" name="Shape 8"/>
          <p:cNvSpPr/>
          <p:nvPr/>
        </p:nvSpPr>
        <p:spPr>
          <a:xfrm>
            <a:off x="4709160" y="1280160"/>
            <a:ext cx="3977640" cy="54864"/>
          </a:xfrm>
          <a:prstGeom prst="rect">
            <a:avLst/>
          </a:prstGeom>
          <a:solidFill>
            <a:srgbClr val="E8B84B"/>
          </a:solidFill>
          <a:ln w="12700">
            <a:solidFill>
              <a:srgbClr val="E8B84B"/>
            </a:solidFill>
            <a:prstDash val="solid"/>
          </a:ln>
        </p:spPr>
      </p:sp>
      <p:sp>
        <p:nvSpPr>
          <p:cNvPr id="11" name="Text 9"/>
          <p:cNvSpPr/>
          <p:nvPr/>
        </p:nvSpPr>
        <p:spPr>
          <a:xfrm>
            <a:off x="4709160" y="1874520"/>
            <a:ext cx="3977640" cy="1280160"/>
          </a:xfrm>
          <a:prstGeom prst="rect">
            <a:avLst/>
          </a:prstGeom>
          <a:noFill/>
          <a:ln/>
        </p:spPr>
        <p:txBody>
          <a:bodyPr wrap="square" lIns="0" tIns="0" rIns="0" bIns="0" rtlCol="0" anchor="ctr">
            <a:normAutofit/>
          </a:bodyPr>
          <a:lstStyle/>
          <a:p>
            <a:pPr algn="ctr" indent="0" marL="0">
              <a:buNone/>
            </a:pPr>
            <a:r>
              <a:rPr lang="en-US" sz="5600" b="1" dirty="0">
                <a:solidFill>
                  <a:srgbClr val="059669"/>
                </a:solidFill>
                <a:latin typeface="Cambria" pitchFamily="34" charset="0"/>
                <a:ea typeface="Cambria" pitchFamily="34" charset="-122"/>
                <a:cs typeface="Cambria" pitchFamily="34" charset="-120"/>
              </a:rPr>
              <a:t>3-4 days</a:t>
            </a:r>
            <a:endParaRPr lang="en-US" sz="5600" dirty="0"/>
          </a:p>
        </p:txBody>
      </p:sp>
      <p:sp>
        <p:nvSpPr>
          <p:cNvPr id="12" name="Text 10"/>
          <p:cNvSpPr/>
          <p:nvPr/>
        </p:nvSpPr>
        <p:spPr>
          <a:xfrm>
            <a:off x="4709160" y="3246120"/>
            <a:ext cx="3977640" cy="457200"/>
          </a:xfrm>
          <a:prstGeom prst="rect">
            <a:avLst/>
          </a:prstGeom>
          <a:noFill/>
          <a:ln/>
        </p:spPr>
        <p:txBody>
          <a:bodyPr wrap="square" lIns="0" tIns="0" rIns="0" bIns="0" rtlCol="0" anchor="ctr">
            <a:normAutofit/>
          </a:bodyPr>
          <a:lstStyle/>
          <a:p>
            <a:pPr algn="ctr" indent="0" marL="0">
              <a:buNone/>
            </a:pPr>
            <a:r>
              <a:rPr lang="en-US" sz="1300" dirty="0">
                <a:solidFill>
                  <a:srgbClr val="64748B"/>
                </a:solidFill>
                <a:latin typeface="Calibri" pitchFamily="34" charset="0"/>
                <a:ea typeface="Calibri" pitchFamily="34" charset="-122"/>
                <a:cs typeface="Calibri" pitchFamily="34" charset="-120"/>
              </a:rPr>
              <a:t>current delay in critical report generation due to legacy warehouse bottlenecks</a:t>
            </a:r>
            <a:endParaRPr lang="en-US" sz="1300" dirty="0"/>
          </a:p>
        </p:txBody>
      </p:sp>
      <p:sp>
        <p:nvSpPr>
          <p:cNvPr id="13" name="Text 11"/>
          <p:cNvSpPr/>
          <p:nvPr/>
        </p:nvSpPr>
        <p:spPr>
          <a:xfrm>
            <a:off x="8229600" y="4828032"/>
            <a:ext cx="731520" cy="182880"/>
          </a:xfrm>
          <a:prstGeom prst="rect">
            <a:avLst/>
          </a:prstGeom>
          <a:noFill/>
          <a:ln/>
        </p:spPr>
        <p:txBody>
          <a:bodyPr wrap="square" rtlCol="0" anchor="ctr"/>
          <a:lstStyle/>
          <a:p>
            <a:pPr algn="r" indent="0" marL="0">
              <a:buNone/>
            </a:pPr>
            <a:r>
              <a:rPr lang="en-US" sz="1000" dirty="0">
                <a:solidFill>
                  <a:srgbClr val="047857"/>
                </a:solidFill>
                <a:latin typeface="Calibri" pitchFamily="34" charset="0"/>
                <a:ea typeface="Calibri" pitchFamily="34" charset="-122"/>
                <a:cs typeface="Calibri" pitchFamily="34" charset="-120"/>
              </a:rPr>
              <a:t>4 / 14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114800" y="91440"/>
            <a:ext cx="4572000" cy="3200400"/>
          </a:xfrm>
          <a:prstGeom prst="rect">
            <a:avLst/>
          </a:prstGeom>
          <a:noFill/>
          <a:ln/>
        </p:spPr>
        <p:txBody>
          <a:bodyPr wrap="square" lIns="0" tIns="0" rIns="0" bIns="0" rtlCol="0" anchor="ctr"/>
          <a:lstStyle/>
          <a:p>
            <a:pPr algn="r" indent="0" marL="0">
              <a:buNone/>
            </a:pPr>
            <a:r>
              <a:rPr lang="en-US" sz="16000" b="1" dirty="0">
                <a:solidFill>
                  <a:srgbClr val="059669">
                    <a:alpha val="15000"/>
                  </a:srgbClr>
                </a:solidFill>
                <a:latin typeface="Calibri" pitchFamily="34" charset="0"/>
                <a:ea typeface="Calibri" pitchFamily="34" charset="-122"/>
                <a:cs typeface="Calibri" pitchFamily="34" charset="-120"/>
              </a:rPr>
              <a:t>05</a:t>
            </a:r>
            <a:endParaRPr lang="en-US" sz="16000" dirty="0"/>
          </a:p>
        </p:txBody>
      </p:sp>
      <p:sp>
        <p:nvSpPr>
          <p:cNvPr id="3" name="Shape 1"/>
          <p:cNvSpPr/>
          <p:nvPr/>
        </p:nvSpPr>
        <p:spPr>
          <a:xfrm>
            <a:off x="548640" y="1097280"/>
            <a:ext cx="54864" cy="2560320"/>
          </a:xfrm>
          <a:prstGeom prst="rect">
            <a:avLst/>
          </a:prstGeom>
          <a:solidFill>
            <a:srgbClr val="059669"/>
          </a:solidFill>
          <a:ln/>
        </p:spPr>
      </p:sp>
      <p:sp>
        <p:nvSpPr>
          <p:cNvPr id="4" name="Text 2"/>
          <p:cNvSpPr/>
          <p:nvPr/>
        </p:nvSpPr>
        <p:spPr>
          <a:xfrm>
            <a:off x="822960" y="1188720"/>
            <a:ext cx="7772400" cy="320040"/>
          </a:xfrm>
          <a:prstGeom prst="rect">
            <a:avLst/>
          </a:prstGeom>
          <a:noFill/>
          <a:ln/>
        </p:spPr>
        <p:txBody>
          <a:bodyPr wrap="square" lIns="0" tIns="0" rIns="0" bIns="0" rtlCol="0" anchor="ctr"/>
          <a:lstStyle/>
          <a:p>
            <a:pPr algn="l" indent="0" marL="0">
              <a:buNone/>
            </a:pPr>
            <a:r>
              <a:rPr lang="en-US" sz="1100" b="1" spc="300" kern="0" dirty="0">
                <a:solidFill>
                  <a:srgbClr val="047857"/>
                </a:solidFill>
                <a:latin typeface="Calibri" pitchFamily="34" charset="0"/>
                <a:ea typeface="Calibri" pitchFamily="34" charset="-122"/>
                <a:cs typeface="Calibri" pitchFamily="34" charset="-120"/>
              </a:rPr>
              <a:t>SECTION</a:t>
            </a:r>
            <a:endParaRPr lang="en-US" sz="1100" dirty="0"/>
          </a:p>
        </p:txBody>
      </p:sp>
      <p:sp>
        <p:nvSpPr>
          <p:cNvPr id="5" name="Text 3"/>
          <p:cNvSpPr/>
          <p:nvPr/>
        </p:nvSpPr>
        <p:spPr>
          <a:xfrm>
            <a:off x="822960" y="1600200"/>
            <a:ext cx="7772400" cy="1645920"/>
          </a:xfrm>
          <a:prstGeom prst="rect">
            <a:avLst/>
          </a:prstGeom>
          <a:noFill/>
          <a:ln/>
        </p:spPr>
        <p:txBody>
          <a:bodyPr wrap="square" lIns="0" tIns="0" rIns="0" bIns="0" rtlCol="0" anchor="t"/>
          <a:lstStyle/>
          <a:p>
            <a:pPr algn="l" indent="0" marL="0">
              <a:buNone/>
            </a:pPr>
            <a:r>
              <a:rPr lang="en-US" sz="2600" b="1" spc="200" kern="0" dirty="0">
                <a:solidFill>
                  <a:srgbClr val="F8F9FA"/>
                </a:solidFill>
                <a:latin typeface="Calibri" pitchFamily="34" charset="0"/>
                <a:ea typeface="Calibri" pitchFamily="34" charset="-122"/>
                <a:cs typeface="Calibri" pitchFamily="34" charset="-120"/>
              </a:rPr>
              <a:t>SIX ANSWERS TO GENPACT'S THREE BOTTLENECKS</a:t>
            </a:r>
            <a:endParaRPr lang="en-US" sz="2600" dirty="0"/>
          </a:p>
        </p:txBody>
      </p:sp>
      <p:sp>
        <p:nvSpPr>
          <p:cNvPr id="6" name="Text 4"/>
          <p:cNvSpPr/>
          <p:nvPr/>
        </p:nvSpPr>
        <p:spPr>
          <a:xfrm>
            <a:off x="822960" y="3337560"/>
            <a:ext cx="7315200" cy="548640"/>
          </a:xfrm>
          <a:prstGeom prst="rect">
            <a:avLst/>
          </a:prstGeom>
          <a:noFill/>
          <a:ln/>
        </p:spPr>
        <p:txBody>
          <a:bodyPr wrap="square" lIns="0" tIns="0" rIns="0" bIns="0" rtlCol="0" anchor="ctr"/>
          <a:lstStyle/>
          <a:p>
            <a:pPr algn="l" indent="0" marL="0">
              <a:buNone/>
            </a:pPr>
            <a:r>
              <a:rPr lang="en-US" sz="1400" i="1" dirty="0">
                <a:solidFill>
                  <a:srgbClr val="C8D8E8"/>
                </a:solidFill>
                <a:latin typeface="Calibri Light" pitchFamily="34" charset="0"/>
                <a:ea typeface="Calibri Light" pitchFamily="34" charset="-122"/>
                <a:cs typeface="Calibri Light" pitchFamily="34" charset="-120"/>
              </a:rPr>
              <a:t>An 85% alignment score confirms our capabilities map directly to your most urgent pain points.</a:t>
            </a:r>
            <a:endParaRPr lang="en-US" sz="1400" dirty="0"/>
          </a:p>
        </p:txBody>
      </p:sp>
      <p:sp>
        <p:nvSpPr>
          <p:cNvPr id="7" name="Text 5"/>
          <p:cNvSpPr/>
          <p:nvPr/>
        </p:nvSpPr>
        <p:spPr>
          <a:xfrm>
            <a:off x="8229600" y="4828032"/>
            <a:ext cx="731520" cy="182880"/>
          </a:xfrm>
          <a:prstGeom prst="rect">
            <a:avLst/>
          </a:prstGeom>
          <a:noFill/>
          <a:ln/>
        </p:spPr>
        <p:txBody>
          <a:bodyPr wrap="square" rtlCol="0" anchor="ctr"/>
          <a:lstStyle/>
          <a:p>
            <a:pPr algn="r" indent="0" marL="0">
              <a:buNone/>
            </a:pPr>
            <a:r>
              <a:rPr lang="en-US" sz="1000" dirty="0">
                <a:solidFill>
                  <a:srgbClr val="C8D8E8"/>
                </a:solidFill>
                <a:latin typeface="Calibri" pitchFamily="34" charset="0"/>
                <a:ea typeface="Calibri" pitchFamily="34" charset="-122"/>
                <a:cs typeface="Calibri" pitchFamily="34" charset="-120"/>
              </a:rPr>
              <a:t>5 / 14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6858000" y="2743200"/>
            <a:ext cx="3657600" cy="3657600"/>
          </a:xfrm>
          <a:prstGeom prst="ellipse">
            <a:avLst/>
          </a:prstGeom>
          <a:solidFill>
            <a:srgbClr val="059669">
              <a:alpha val="6000"/>
            </a:srgbClr>
          </a:solidFill>
          <a:ln w="12700">
            <a:solidFill>
              <a:srgbClr val="059669"/>
            </a:solidFill>
            <a:prstDash val="solid"/>
          </a:ln>
        </p:spPr>
      </p:sp>
      <p:sp>
        <p:nvSpPr>
          <p:cNvPr id="3" name="Shape 1"/>
          <p:cNvSpPr/>
          <p:nvPr/>
        </p:nvSpPr>
        <p:spPr>
          <a:xfrm>
            <a:off x="0" y="0"/>
            <a:ext cx="9144000" cy="475488"/>
          </a:xfrm>
          <a:prstGeom prst="rect">
            <a:avLst/>
          </a:prstGeom>
          <a:solidFill>
            <a:srgbClr val="0D1B2A"/>
          </a:solidFill>
          <a:ln/>
        </p:spPr>
      </p:sp>
      <p:sp>
        <p:nvSpPr>
          <p:cNvPr id="4" name="Text 2"/>
          <p:cNvSpPr/>
          <p:nvPr/>
        </p:nvSpPr>
        <p:spPr>
          <a:xfrm>
            <a:off x="365760" y="0"/>
            <a:ext cx="8412480" cy="475488"/>
          </a:xfrm>
          <a:prstGeom prst="rect">
            <a:avLst/>
          </a:prstGeom>
          <a:noFill/>
          <a:ln/>
        </p:spPr>
        <p:txBody>
          <a:bodyPr wrap="square" lIns="0" tIns="0" rIns="0" bIns="0" rtlCol="0" anchor="ctr"/>
          <a:lstStyle/>
          <a:p>
            <a:pPr algn="l" indent="0" marL="0">
              <a:buNone/>
            </a:pPr>
            <a:r>
              <a:rPr lang="en-US" sz="1100" b="1" spc="300" kern="0" dirty="0">
                <a:solidFill>
                  <a:srgbClr val="047857"/>
                </a:solidFill>
                <a:latin typeface="Calibri" pitchFamily="34" charset="0"/>
                <a:ea typeface="Calibri" pitchFamily="34" charset="-122"/>
                <a:cs typeface="Calibri" pitchFamily="34" charset="-120"/>
              </a:rPr>
              <a:t>OUR SERVICES</a:t>
            </a:r>
            <a:endParaRPr lang="en-US" sz="1100" dirty="0"/>
          </a:p>
        </p:txBody>
      </p:sp>
      <p:sp>
        <p:nvSpPr>
          <p:cNvPr id="5" name="Text 3"/>
          <p:cNvSpPr/>
          <p:nvPr/>
        </p:nvSpPr>
        <p:spPr>
          <a:xfrm>
            <a:off x="457200" y="548640"/>
            <a:ext cx="8229600" cy="822960"/>
          </a:xfrm>
          <a:prstGeom prst="rect">
            <a:avLst/>
          </a:prstGeom>
          <a:noFill/>
          <a:ln/>
        </p:spPr>
        <p:txBody>
          <a:bodyPr wrap="square" lIns="0" tIns="0" rIns="0" bIns="0" rtlCol="0" anchor="t">
            <a:normAutofit/>
          </a:bodyPr>
          <a:lstStyle/>
          <a:p>
            <a:pPr algn="l" indent="0" marL="0">
              <a:buNone/>
            </a:pPr>
            <a:r>
              <a:rPr lang="en-US" sz="2200" b="1" dirty="0">
                <a:solidFill>
                  <a:srgbClr val="1A1A2E"/>
                </a:solidFill>
                <a:latin typeface="Cambria" pitchFamily="34" charset="0"/>
                <a:ea typeface="Cambria" pitchFamily="34" charset="-122"/>
                <a:cs typeface="Cambria" pitchFamily="34" charset="-120"/>
              </a:rPr>
              <a:t>Where Quarks Solves Genpact's Core Bottlenecks</a:t>
            </a:r>
            <a:endParaRPr lang="en-US" sz="2200" dirty="0"/>
          </a:p>
        </p:txBody>
      </p:sp>
      <p:sp>
        <p:nvSpPr>
          <p:cNvPr id="6" name="Text 4"/>
          <p:cNvSpPr/>
          <p:nvPr/>
        </p:nvSpPr>
        <p:spPr>
          <a:xfrm>
            <a:off x="457200" y="1417320"/>
            <a:ext cx="8229600" cy="320040"/>
          </a:xfrm>
          <a:prstGeom prst="rect">
            <a:avLst/>
          </a:prstGeom>
          <a:noFill/>
          <a:ln/>
        </p:spPr>
        <p:txBody>
          <a:bodyPr wrap="square" lIns="0" tIns="0" rIns="0" bIns="0" rtlCol="0" anchor="t">
            <a:normAutofit/>
          </a:bodyPr>
          <a:lstStyle/>
          <a:p>
            <a:pPr algn="l" indent="0" marL="0">
              <a:buNone/>
            </a:pPr>
            <a:r>
              <a:rPr lang="en-US" sz="1300" i="1" dirty="0">
                <a:solidFill>
                  <a:srgbClr val="047857"/>
                </a:solidFill>
                <a:latin typeface="Calibri" pitchFamily="34" charset="0"/>
                <a:ea typeface="Calibri" pitchFamily="34" charset="-122"/>
                <a:cs typeface="Calibri" pitchFamily="34" charset="-120"/>
              </a:rPr>
              <a:t>Each capability maps to a specific Genpact pain point — together enabling AI at scale.</a:t>
            </a:r>
            <a:endParaRPr lang="en-US" sz="1300" dirty="0"/>
          </a:p>
        </p:txBody>
      </p:sp>
      <p:sp>
        <p:nvSpPr>
          <p:cNvPr id="7" name="Shape 5"/>
          <p:cNvSpPr/>
          <p:nvPr/>
        </p:nvSpPr>
        <p:spPr>
          <a:xfrm>
            <a:off x="457200" y="1828800"/>
            <a:ext cx="2590800" cy="1120140"/>
          </a:xfrm>
          <a:prstGeom prst="rect">
            <a:avLst/>
          </a:prstGeom>
          <a:solidFill>
            <a:srgbClr val="E2E8F0"/>
          </a:solidFill>
          <a:ln w="12700">
            <a:solidFill>
              <a:srgbClr val="E2E8F0"/>
            </a:solidFill>
            <a:prstDash val="solid"/>
          </a:ln>
          <a:effectLst>
            <a:outerShdw sx="100000" sy="100000" kx="0" ky="0" algn="bl" rotWithShape="0" blurRad="127000" dist="38100" dir="2700000">
              <a:srgbClr val="000000">
                <a:alpha val="7000"/>
              </a:srgbClr>
            </a:outerShdw>
          </a:effectLst>
        </p:spPr>
      </p:sp>
      <p:sp>
        <p:nvSpPr>
          <p:cNvPr id="8" name="Shape 6"/>
          <p:cNvSpPr/>
          <p:nvPr/>
        </p:nvSpPr>
        <p:spPr>
          <a:xfrm>
            <a:off x="457200" y="1828800"/>
            <a:ext cx="54864" cy="1120140"/>
          </a:xfrm>
          <a:prstGeom prst="rect">
            <a:avLst/>
          </a:prstGeom>
          <a:solidFill>
            <a:srgbClr val="059669"/>
          </a:solidFill>
          <a:ln w="12700">
            <a:solidFill>
              <a:srgbClr val="059669"/>
            </a:solidFill>
            <a:prstDash val="solid"/>
          </a:ln>
        </p:spPr>
      </p:sp>
      <p:sp>
        <p:nvSpPr>
          <p:cNvPr id="9" name="Shape 7"/>
          <p:cNvSpPr/>
          <p:nvPr/>
        </p:nvSpPr>
        <p:spPr>
          <a:xfrm>
            <a:off x="640080" y="1993392"/>
            <a:ext cx="329184" cy="329184"/>
          </a:xfrm>
          <a:prstGeom prst="ellipse">
            <a:avLst/>
          </a:prstGeom>
          <a:solidFill>
            <a:srgbClr val="059669"/>
          </a:solidFill>
          <a:ln w="12700">
            <a:solidFill>
              <a:srgbClr val="059669"/>
            </a:solidFill>
            <a:prstDash val="solid"/>
          </a:ln>
        </p:spPr>
      </p:sp>
      <p:pic>
        <p:nvPicPr>
          <p:cNvPr id="10" name="Image 0" descr="preencoded.png">    </p:cNvPr>
          <p:cNvPicPr>
            <a:picLocks noChangeAspect="1"/>
          </p:cNvPicPr>
          <p:nvPr/>
        </p:nvPicPr>
        <p:blipFill>
          <a:blip r:embed="rId1"/>
          <a:stretch>
            <a:fillRect/>
          </a:stretch>
        </p:blipFill>
        <p:spPr>
          <a:xfrm>
            <a:off x="676656" y="2029968"/>
            <a:ext cx="256032" cy="256032"/>
          </a:xfrm>
          <a:prstGeom prst="rect">
            <a:avLst/>
          </a:prstGeom>
        </p:spPr>
      </p:pic>
      <p:sp>
        <p:nvSpPr>
          <p:cNvPr id="11" name="Text 8"/>
          <p:cNvSpPr/>
          <p:nvPr/>
        </p:nvSpPr>
        <p:spPr>
          <a:xfrm>
            <a:off x="1051560" y="1965960"/>
            <a:ext cx="1859280" cy="845820"/>
          </a:xfrm>
          <a:prstGeom prst="rect">
            <a:avLst/>
          </a:prstGeom>
          <a:noFill/>
          <a:ln/>
        </p:spPr>
        <p:txBody>
          <a:bodyPr wrap="square" lIns="0" tIns="0" rIns="0" bIns="0" rtlCol="0" anchor="t">
            <a:normAutofit/>
          </a:bodyPr>
          <a:lstStyle/>
          <a:p>
            <a:pPr indent="0" marL="0">
              <a:buNone/>
            </a:pPr>
            <a:r>
              <a:rPr lang="en-US" sz="1100" b="1" dirty="0">
                <a:solidFill>
                  <a:srgbClr val="1A1A2E"/>
                </a:solidFill>
                <a:latin typeface="Calibri" pitchFamily="34" charset="0"/>
                <a:ea typeface="Calibri" pitchFamily="34" charset="-122"/>
                <a:cs typeface="Calibri" pitchFamily="34" charset="-120"/>
              </a:rPr>
              <a:t>Data</a:t>
            </a:r>
            <a:endParaRPr lang="en-US" sz="1100" dirty="0"/>
          </a:p>
          <a:p>
            <a:pPr indent="0" marL="0">
              <a:buNone/>
            </a:pPr>
            <a:r>
              <a:rPr lang="en-US" sz="1000" dirty="0">
                <a:solidFill>
                  <a:srgbClr val="64748B"/>
                </a:solidFill>
                <a:latin typeface="Calibri" pitchFamily="34" charset="0"/>
                <a:ea typeface="Calibri" pitchFamily="34" charset="-122"/>
                <a:cs typeface="Calibri" pitchFamily="34" charset="-120"/>
              </a:rPr>
              <a:t>Engineering &amp; Lakehouse: Ends multi-day report delays</a:t>
            </a:r>
            <a:endParaRPr lang="en-US" sz="1100" dirty="0"/>
          </a:p>
        </p:txBody>
      </p:sp>
      <p:sp>
        <p:nvSpPr>
          <p:cNvPr id="12" name="Shape 9"/>
          <p:cNvSpPr/>
          <p:nvPr/>
        </p:nvSpPr>
        <p:spPr>
          <a:xfrm>
            <a:off x="3276600" y="1828800"/>
            <a:ext cx="2590800" cy="1120140"/>
          </a:xfrm>
          <a:prstGeom prst="rect">
            <a:avLst/>
          </a:prstGeom>
          <a:solidFill>
            <a:srgbClr val="E2E8F0"/>
          </a:solidFill>
          <a:ln w="12700">
            <a:solidFill>
              <a:srgbClr val="E2E8F0"/>
            </a:solidFill>
            <a:prstDash val="solid"/>
          </a:ln>
          <a:effectLst>
            <a:outerShdw sx="100000" sy="100000" kx="0" ky="0" algn="bl" rotWithShape="0" blurRad="127000" dist="38100" dir="2700000">
              <a:srgbClr val="000000">
                <a:alpha val="7000"/>
              </a:srgbClr>
            </a:outerShdw>
          </a:effectLst>
        </p:spPr>
      </p:sp>
      <p:sp>
        <p:nvSpPr>
          <p:cNvPr id="13" name="Shape 10"/>
          <p:cNvSpPr/>
          <p:nvPr/>
        </p:nvSpPr>
        <p:spPr>
          <a:xfrm>
            <a:off x="3276600" y="1828800"/>
            <a:ext cx="54864" cy="1120140"/>
          </a:xfrm>
          <a:prstGeom prst="rect">
            <a:avLst/>
          </a:prstGeom>
          <a:solidFill>
            <a:srgbClr val="059669"/>
          </a:solidFill>
          <a:ln w="12700">
            <a:solidFill>
              <a:srgbClr val="059669"/>
            </a:solidFill>
            <a:prstDash val="solid"/>
          </a:ln>
        </p:spPr>
      </p:sp>
      <p:sp>
        <p:nvSpPr>
          <p:cNvPr id="14" name="Shape 11"/>
          <p:cNvSpPr/>
          <p:nvPr/>
        </p:nvSpPr>
        <p:spPr>
          <a:xfrm>
            <a:off x="3459480" y="1993392"/>
            <a:ext cx="329184" cy="329184"/>
          </a:xfrm>
          <a:prstGeom prst="ellipse">
            <a:avLst/>
          </a:prstGeom>
          <a:solidFill>
            <a:srgbClr val="059669"/>
          </a:solidFill>
          <a:ln w="12700">
            <a:solidFill>
              <a:srgbClr val="059669"/>
            </a:solidFill>
            <a:prstDash val="solid"/>
          </a:ln>
        </p:spPr>
      </p:sp>
      <p:pic>
        <p:nvPicPr>
          <p:cNvPr id="15" name="Image 1" descr="preencoded.png">    </p:cNvPr>
          <p:cNvPicPr>
            <a:picLocks noChangeAspect="1"/>
          </p:cNvPicPr>
          <p:nvPr/>
        </p:nvPicPr>
        <p:blipFill>
          <a:blip r:embed="rId2"/>
          <a:stretch>
            <a:fillRect/>
          </a:stretch>
        </p:blipFill>
        <p:spPr>
          <a:xfrm>
            <a:off x="3496056" y="2029968"/>
            <a:ext cx="256032" cy="256032"/>
          </a:xfrm>
          <a:prstGeom prst="rect">
            <a:avLst/>
          </a:prstGeom>
        </p:spPr>
      </p:pic>
      <p:sp>
        <p:nvSpPr>
          <p:cNvPr id="16" name="Text 12"/>
          <p:cNvSpPr/>
          <p:nvPr/>
        </p:nvSpPr>
        <p:spPr>
          <a:xfrm>
            <a:off x="3870960" y="1965960"/>
            <a:ext cx="1859280" cy="845820"/>
          </a:xfrm>
          <a:prstGeom prst="rect">
            <a:avLst/>
          </a:prstGeom>
          <a:noFill/>
          <a:ln/>
        </p:spPr>
        <p:txBody>
          <a:bodyPr wrap="square" lIns="0" tIns="0" rIns="0" bIns="0" rtlCol="0" anchor="t">
            <a:normAutofit/>
          </a:bodyPr>
          <a:lstStyle/>
          <a:p>
            <a:pPr indent="0" marL="0">
              <a:buNone/>
            </a:pPr>
            <a:r>
              <a:rPr lang="en-US" sz="1150" b="1" dirty="0">
                <a:solidFill>
                  <a:srgbClr val="1A1A2E"/>
                </a:solidFill>
                <a:latin typeface="Calibri" pitchFamily="34" charset="0"/>
                <a:ea typeface="Calibri" pitchFamily="34" charset="-122"/>
                <a:cs typeface="Calibri" pitchFamily="34" charset="-120"/>
              </a:rPr>
              <a:t>AI/ML</a:t>
            </a:r>
            <a:endParaRPr lang="en-US" sz="1150" dirty="0"/>
          </a:p>
          <a:p>
            <a:pPr indent="0" marL="0">
              <a:buNone/>
            </a:pPr>
            <a:r>
              <a:rPr lang="en-US" sz="1050" dirty="0">
                <a:solidFill>
                  <a:srgbClr val="64748B"/>
                </a:solidFill>
                <a:latin typeface="Calibri" pitchFamily="34" charset="0"/>
                <a:ea typeface="Calibri" pitchFamily="34" charset="-122"/>
                <a:cs typeface="Calibri" pitchFamily="34" charset="-120"/>
              </a:rPr>
              <a:t>Solutions: One governed platform, no silos</a:t>
            </a:r>
            <a:endParaRPr lang="en-US" sz="1150" dirty="0"/>
          </a:p>
        </p:txBody>
      </p:sp>
      <p:sp>
        <p:nvSpPr>
          <p:cNvPr id="17" name="Shape 13"/>
          <p:cNvSpPr/>
          <p:nvPr/>
        </p:nvSpPr>
        <p:spPr>
          <a:xfrm>
            <a:off x="6096000" y="1828800"/>
            <a:ext cx="2590800" cy="1120140"/>
          </a:xfrm>
          <a:prstGeom prst="rect">
            <a:avLst/>
          </a:prstGeom>
          <a:solidFill>
            <a:srgbClr val="E2E8F0"/>
          </a:solidFill>
          <a:ln w="12700">
            <a:solidFill>
              <a:srgbClr val="E2E8F0"/>
            </a:solidFill>
            <a:prstDash val="solid"/>
          </a:ln>
          <a:effectLst>
            <a:outerShdw sx="100000" sy="100000" kx="0" ky="0" algn="bl" rotWithShape="0" blurRad="127000" dist="38100" dir="2700000">
              <a:srgbClr val="000000">
                <a:alpha val="7000"/>
              </a:srgbClr>
            </a:outerShdw>
          </a:effectLst>
        </p:spPr>
      </p:sp>
      <p:sp>
        <p:nvSpPr>
          <p:cNvPr id="18" name="Shape 14"/>
          <p:cNvSpPr/>
          <p:nvPr/>
        </p:nvSpPr>
        <p:spPr>
          <a:xfrm>
            <a:off x="6096000" y="1828800"/>
            <a:ext cx="54864" cy="1120140"/>
          </a:xfrm>
          <a:prstGeom prst="rect">
            <a:avLst/>
          </a:prstGeom>
          <a:solidFill>
            <a:srgbClr val="059669"/>
          </a:solidFill>
          <a:ln w="12700">
            <a:solidFill>
              <a:srgbClr val="059669"/>
            </a:solidFill>
            <a:prstDash val="solid"/>
          </a:ln>
        </p:spPr>
      </p:sp>
      <p:sp>
        <p:nvSpPr>
          <p:cNvPr id="19" name="Shape 15"/>
          <p:cNvSpPr/>
          <p:nvPr/>
        </p:nvSpPr>
        <p:spPr>
          <a:xfrm>
            <a:off x="6278880" y="1993392"/>
            <a:ext cx="329184" cy="329184"/>
          </a:xfrm>
          <a:prstGeom prst="ellipse">
            <a:avLst/>
          </a:prstGeom>
          <a:solidFill>
            <a:srgbClr val="059669"/>
          </a:solidFill>
          <a:ln w="12700">
            <a:solidFill>
              <a:srgbClr val="059669"/>
            </a:solidFill>
            <a:prstDash val="solid"/>
          </a:ln>
        </p:spPr>
      </p:sp>
      <p:pic>
        <p:nvPicPr>
          <p:cNvPr id="20" name="Image 2" descr="preencoded.png">    </p:cNvPr>
          <p:cNvPicPr>
            <a:picLocks noChangeAspect="1"/>
          </p:cNvPicPr>
          <p:nvPr/>
        </p:nvPicPr>
        <p:blipFill>
          <a:blip r:embed="rId3"/>
          <a:stretch>
            <a:fillRect/>
          </a:stretch>
        </p:blipFill>
        <p:spPr>
          <a:xfrm>
            <a:off x="6315456" y="2029968"/>
            <a:ext cx="256032" cy="256032"/>
          </a:xfrm>
          <a:prstGeom prst="rect">
            <a:avLst/>
          </a:prstGeom>
        </p:spPr>
      </p:pic>
      <p:sp>
        <p:nvSpPr>
          <p:cNvPr id="21" name="Text 16"/>
          <p:cNvSpPr/>
          <p:nvPr/>
        </p:nvSpPr>
        <p:spPr>
          <a:xfrm>
            <a:off x="6690360" y="1965960"/>
            <a:ext cx="1859280" cy="845820"/>
          </a:xfrm>
          <a:prstGeom prst="rect">
            <a:avLst/>
          </a:prstGeom>
          <a:noFill/>
          <a:ln/>
        </p:spPr>
        <p:txBody>
          <a:bodyPr wrap="square" lIns="0" tIns="0" rIns="0" bIns="0" rtlCol="0" anchor="t">
            <a:normAutofit/>
          </a:bodyPr>
          <a:lstStyle/>
          <a:p>
            <a:pPr indent="0" marL="0">
              <a:buNone/>
            </a:pPr>
            <a:r>
              <a:rPr lang="en-US" sz="1150" b="1" dirty="0">
                <a:solidFill>
                  <a:srgbClr val="1A1A2E"/>
                </a:solidFill>
                <a:latin typeface="Calibri" pitchFamily="34" charset="0"/>
                <a:ea typeface="Calibri" pitchFamily="34" charset="-122"/>
                <a:cs typeface="Calibri" pitchFamily="34" charset="-120"/>
              </a:rPr>
              <a:t>DevOps</a:t>
            </a:r>
            <a:endParaRPr lang="en-US" sz="1150" dirty="0"/>
          </a:p>
          <a:p>
            <a:pPr indent="0" marL="0">
              <a:buNone/>
            </a:pPr>
            <a:r>
              <a:rPr lang="en-US" sz="1050" dirty="0">
                <a:solidFill>
                  <a:srgbClr val="64748B"/>
                </a:solidFill>
                <a:latin typeface="Calibri" pitchFamily="34" charset="0"/>
                <a:ea typeface="Calibri" pitchFamily="34" charset="-122"/>
                <a:cs typeface="Calibri" pitchFamily="34" charset="-120"/>
              </a:rPr>
              <a:t>&amp; Cloud Modernization: Scalable infrastructure for AI</a:t>
            </a:r>
            <a:endParaRPr lang="en-US" sz="1150" dirty="0"/>
          </a:p>
        </p:txBody>
      </p:sp>
      <p:sp>
        <p:nvSpPr>
          <p:cNvPr id="22" name="Shape 17"/>
          <p:cNvSpPr/>
          <p:nvPr/>
        </p:nvSpPr>
        <p:spPr>
          <a:xfrm>
            <a:off x="457200" y="3131820"/>
            <a:ext cx="2590800" cy="1120140"/>
          </a:xfrm>
          <a:prstGeom prst="rect">
            <a:avLst/>
          </a:prstGeom>
          <a:solidFill>
            <a:srgbClr val="E2E8F0"/>
          </a:solidFill>
          <a:ln w="12700">
            <a:solidFill>
              <a:srgbClr val="E2E8F0"/>
            </a:solidFill>
            <a:prstDash val="solid"/>
          </a:ln>
          <a:effectLst>
            <a:outerShdw sx="100000" sy="100000" kx="0" ky="0" algn="bl" rotWithShape="0" blurRad="127000" dist="38100" dir="2700000">
              <a:srgbClr val="000000">
                <a:alpha val="7000"/>
              </a:srgbClr>
            </a:outerShdw>
          </a:effectLst>
        </p:spPr>
      </p:sp>
      <p:sp>
        <p:nvSpPr>
          <p:cNvPr id="23" name="Shape 18"/>
          <p:cNvSpPr/>
          <p:nvPr/>
        </p:nvSpPr>
        <p:spPr>
          <a:xfrm>
            <a:off x="457200" y="3131820"/>
            <a:ext cx="54864" cy="1120140"/>
          </a:xfrm>
          <a:prstGeom prst="rect">
            <a:avLst/>
          </a:prstGeom>
          <a:solidFill>
            <a:srgbClr val="059669"/>
          </a:solidFill>
          <a:ln w="12700">
            <a:solidFill>
              <a:srgbClr val="059669"/>
            </a:solidFill>
            <a:prstDash val="solid"/>
          </a:ln>
        </p:spPr>
      </p:sp>
      <p:sp>
        <p:nvSpPr>
          <p:cNvPr id="24" name="Shape 19"/>
          <p:cNvSpPr/>
          <p:nvPr/>
        </p:nvSpPr>
        <p:spPr>
          <a:xfrm>
            <a:off x="640080" y="3296412"/>
            <a:ext cx="329184" cy="329184"/>
          </a:xfrm>
          <a:prstGeom prst="ellipse">
            <a:avLst/>
          </a:prstGeom>
          <a:solidFill>
            <a:srgbClr val="059669"/>
          </a:solidFill>
          <a:ln w="12700">
            <a:solidFill>
              <a:srgbClr val="059669"/>
            </a:solidFill>
            <a:prstDash val="solid"/>
          </a:ln>
        </p:spPr>
      </p:sp>
      <p:pic>
        <p:nvPicPr>
          <p:cNvPr id="25" name="Image 3" descr="preencoded.png">    </p:cNvPr>
          <p:cNvPicPr>
            <a:picLocks noChangeAspect="1"/>
          </p:cNvPicPr>
          <p:nvPr/>
        </p:nvPicPr>
        <p:blipFill>
          <a:blip r:embed="rId4"/>
          <a:stretch>
            <a:fillRect/>
          </a:stretch>
        </p:blipFill>
        <p:spPr>
          <a:xfrm>
            <a:off x="676656" y="3332988"/>
            <a:ext cx="256032" cy="256032"/>
          </a:xfrm>
          <a:prstGeom prst="rect">
            <a:avLst/>
          </a:prstGeom>
        </p:spPr>
      </p:pic>
      <p:sp>
        <p:nvSpPr>
          <p:cNvPr id="26" name="Text 20"/>
          <p:cNvSpPr/>
          <p:nvPr/>
        </p:nvSpPr>
        <p:spPr>
          <a:xfrm>
            <a:off x="1051560" y="3268980"/>
            <a:ext cx="1859280" cy="845820"/>
          </a:xfrm>
          <a:prstGeom prst="rect">
            <a:avLst/>
          </a:prstGeom>
          <a:noFill/>
          <a:ln/>
        </p:spPr>
        <p:txBody>
          <a:bodyPr wrap="square" lIns="0" tIns="0" rIns="0" bIns="0" rtlCol="0" anchor="t">
            <a:normAutofit/>
          </a:bodyPr>
          <a:lstStyle/>
          <a:p>
            <a:pPr indent="0" marL="0">
              <a:buNone/>
            </a:pPr>
            <a:r>
              <a:rPr lang="en-US" sz="1150" b="1" dirty="0">
                <a:solidFill>
                  <a:srgbClr val="1A1A2E"/>
                </a:solidFill>
                <a:latin typeface="Calibri" pitchFamily="34" charset="0"/>
                <a:ea typeface="Calibri" pitchFamily="34" charset="-122"/>
                <a:cs typeface="Calibri" pitchFamily="34" charset="-120"/>
              </a:rPr>
              <a:t>Staff</a:t>
            </a:r>
            <a:endParaRPr lang="en-US" sz="1150" dirty="0"/>
          </a:p>
          <a:p>
            <a:pPr indent="0" marL="0">
              <a:buNone/>
            </a:pPr>
            <a:r>
              <a:rPr lang="en-US" sz="1050" dirty="0">
                <a:solidFill>
                  <a:srgbClr val="64748B"/>
                </a:solidFill>
                <a:latin typeface="Calibri" pitchFamily="34" charset="0"/>
                <a:ea typeface="Calibri" pitchFamily="34" charset="-122"/>
                <a:cs typeface="Calibri" pitchFamily="34" charset="-120"/>
              </a:rPr>
              <a:t>Augmentation: Zero downtime engineering talent supply</a:t>
            </a:r>
            <a:endParaRPr lang="en-US" sz="1150" dirty="0"/>
          </a:p>
        </p:txBody>
      </p:sp>
      <p:sp>
        <p:nvSpPr>
          <p:cNvPr id="27" name="Shape 21"/>
          <p:cNvSpPr/>
          <p:nvPr/>
        </p:nvSpPr>
        <p:spPr>
          <a:xfrm>
            <a:off x="3276600" y="3131820"/>
            <a:ext cx="2590800" cy="1120140"/>
          </a:xfrm>
          <a:prstGeom prst="rect">
            <a:avLst/>
          </a:prstGeom>
          <a:solidFill>
            <a:srgbClr val="E2E8F0"/>
          </a:solidFill>
          <a:ln w="12700">
            <a:solidFill>
              <a:srgbClr val="E2E8F0"/>
            </a:solidFill>
            <a:prstDash val="solid"/>
          </a:ln>
          <a:effectLst>
            <a:outerShdw sx="100000" sy="100000" kx="0" ky="0" algn="bl" rotWithShape="0" blurRad="127000" dist="38100" dir="2700000">
              <a:srgbClr val="000000">
                <a:alpha val="7000"/>
              </a:srgbClr>
            </a:outerShdw>
          </a:effectLst>
        </p:spPr>
      </p:sp>
      <p:sp>
        <p:nvSpPr>
          <p:cNvPr id="28" name="Shape 22"/>
          <p:cNvSpPr/>
          <p:nvPr/>
        </p:nvSpPr>
        <p:spPr>
          <a:xfrm>
            <a:off x="3276600" y="3131820"/>
            <a:ext cx="54864" cy="1120140"/>
          </a:xfrm>
          <a:prstGeom prst="rect">
            <a:avLst/>
          </a:prstGeom>
          <a:solidFill>
            <a:srgbClr val="059669"/>
          </a:solidFill>
          <a:ln w="12700">
            <a:solidFill>
              <a:srgbClr val="059669"/>
            </a:solidFill>
            <a:prstDash val="solid"/>
          </a:ln>
        </p:spPr>
      </p:sp>
      <p:sp>
        <p:nvSpPr>
          <p:cNvPr id="29" name="Shape 23"/>
          <p:cNvSpPr/>
          <p:nvPr/>
        </p:nvSpPr>
        <p:spPr>
          <a:xfrm>
            <a:off x="3459480" y="3296412"/>
            <a:ext cx="329184" cy="329184"/>
          </a:xfrm>
          <a:prstGeom prst="ellipse">
            <a:avLst/>
          </a:prstGeom>
          <a:solidFill>
            <a:srgbClr val="059669"/>
          </a:solidFill>
          <a:ln w="12700">
            <a:solidFill>
              <a:srgbClr val="059669"/>
            </a:solidFill>
            <a:prstDash val="solid"/>
          </a:ln>
        </p:spPr>
      </p:sp>
      <p:pic>
        <p:nvPicPr>
          <p:cNvPr id="30" name="Image 4" descr="preencoded.png">    </p:cNvPr>
          <p:cNvPicPr>
            <a:picLocks noChangeAspect="1"/>
          </p:cNvPicPr>
          <p:nvPr/>
        </p:nvPicPr>
        <p:blipFill>
          <a:blip r:embed="rId5"/>
          <a:stretch>
            <a:fillRect/>
          </a:stretch>
        </p:blipFill>
        <p:spPr>
          <a:xfrm>
            <a:off x="3496056" y="3332988"/>
            <a:ext cx="256032" cy="256032"/>
          </a:xfrm>
          <a:prstGeom prst="rect">
            <a:avLst/>
          </a:prstGeom>
        </p:spPr>
      </p:pic>
      <p:sp>
        <p:nvSpPr>
          <p:cNvPr id="31" name="Text 24"/>
          <p:cNvSpPr/>
          <p:nvPr/>
        </p:nvSpPr>
        <p:spPr>
          <a:xfrm>
            <a:off x="3870960" y="3268980"/>
            <a:ext cx="1859280" cy="845820"/>
          </a:xfrm>
          <a:prstGeom prst="rect">
            <a:avLst/>
          </a:prstGeom>
          <a:noFill/>
          <a:ln/>
        </p:spPr>
        <p:txBody>
          <a:bodyPr wrap="square" lIns="0" tIns="0" rIns="0" bIns="0" rtlCol="0" anchor="t">
            <a:normAutofit/>
          </a:bodyPr>
          <a:lstStyle/>
          <a:p>
            <a:pPr indent="0" marL="0">
              <a:buNone/>
            </a:pPr>
            <a:r>
              <a:rPr lang="en-US" sz="1150" b="1" dirty="0">
                <a:solidFill>
                  <a:srgbClr val="1A1A2E"/>
                </a:solidFill>
                <a:latin typeface="Calibri" pitchFamily="34" charset="0"/>
                <a:ea typeface="Calibri" pitchFamily="34" charset="-122"/>
                <a:cs typeface="Calibri" pitchFamily="34" charset="-120"/>
              </a:rPr>
              <a:t>Managed</a:t>
            </a:r>
            <a:endParaRPr lang="en-US" sz="1150" dirty="0"/>
          </a:p>
          <a:p>
            <a:pPr indent="0" marL="0">
              <a:buNone/>
            </a:pPr>
            <a:r>
              <a:rPr lang="en-US" sz="1050" dirty="0">
                <a:solidFill>
                  <a:srgbClr val="64748B"/>
                </a:solidFill>
                <a:latin typeface="Calibri" pitchFamily="34" charset="0"/>
                <a:ea typeface="Calibri" pitchFamily="34" charset="-122"/>
                <a:cs typeface="Calibri" pitchFamily="34" charset="-120"/>
              </a:rPr>
              <a:t>Services: Continuous AI/ML operational reliability</a:t>
            </a:r>
            <a:endParaRPr lang="en-US" sz="1150" dirty="0"/>
          </a:p>
        </p:txBody>
      </p:sp>
      <p:sp>
        <p:nvSpPr>
          <p:cNvPr id="32" name="Text 25"/>
          <p:cNvSpPr/>
          <p:nvPr/>
        </p:nvSpPr>
        <p:spPr>
          <a:xfrm>
            <a:off x="8229600" y="4828032"/>
            <a:ext cx="731520" cy="182880"/>
          </a:xfrm>
          <a:prstGeom prst="rect">
            <a:avLst/>
          </a:prstGeom>
          <a:noFill/>
          <a:ln/>
        </p:spPr>
        <p:txBody>
          <a:bodyPr wrap="square" rtlCol="0" anchor="ctr"/>
          <a:lstStyle/>
          <a:p>
            <a:pPr algn="r" indent="0" marL="0">
              <a:buNone/>
            </a:pPr>
            <a:r>
              <a:rPr lang="en-US" sz="1000" dirty="0">
                <a:solidFill>
                  <a:srgbClr val="047857"/>
                </a:solidFill>
                <a:latin typeface="Calibri" pitchFamily="34" charset="0"/>
                <a:ea typeface="Calibri" pitchFamily="34" charset="-122"/>
                <a:cs typeface="Calibri" pitchFamily="34" charset="-120"/>
              </a:rPr>
              <a:t>6 / 14</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6858000" y="2743200"/>
            <a:ext cx="3657600" cy="3657600"/>
          </a:xfrm>
          <a:prstGeom prst="ellipse">
            <a:avLst/>
          </a:prstGeom>
          <a:solidFill>
            <a:srgbClr val="059669">
              <a:alpha val="6000"/>
            </a:srgbClr>
          </a:solidFill>
          <a:ln w="12700">
            <a:solidFill>
              <a:srgbClr val="059669"/>
            </a:solidFill>
            <a:prstDash val="solid"/>
          </a:ln>
        </p:spPr>
      </p:sp>
      <p:sp>
        <p:nvSpPr>
          <p:cNvPr id="3" name="Shape 1"/>
          <p:cNvSpPr/>
          <p:nvPr/>
        </p:nvSpPr>
        <p:spPr>
          <a:xfrm>
            <a:off x="0" y="0"/>
            <a:ext cx="9144000" cy="475488"/>
          </a:xfrm>
          <a:prstGeom prst="rect">
            <a:avLst/>
          </a:prstGeom>
          <a:solidFill>
            <a:srgbClr val="0D1B2A"/>
          </a:solidFill>
          <a:ln/>
        </p:spPr>
      </p:sp>
      <p:sp>
        <p:nvSpPr>
          <p:cNvPr id="4" name="Text 2"/>
          <p:cNvSpPr/>
          <p:nvPr/>
        </p:nvSpPr>
        <p:spPr>
          <a:xfrm>
            <a:off x="365760" y="0"/>
            <a:ext cx="8412480" cy="475488"/>
          </a:xfrm>
          <a:prstGeom prst="rect">
            <a:avLst/>
          </a:prstGeom>
          <a:noFill/>
          <a:ln/>
        </p:spPr>
        <p:txBody>
          <a:bodyPr wrap="square" lIns="0" tIns="0" rIns="0" bIns="0" rtlCol="0" anchor="ctr"/>
          <a:lstStyle/>
          <a:p>
            <a:pPr algn="l" indent="0" marL="0">
              <a:buNone/>
            </a:pPr>
            <a:r>
              <a:rPr lang="en-US" sz="1100" b="1" spc="300" kern="0" dirty="0">
                <a:solidFill>
                  <a:srgbClr val="047857"/>
                </a:solidFill>
                <a:latin typeface="Calibri" pitchFamily="34" charset="0"/>
                <a:ea typeface="Calibri" pitchFamily="34" charset="-122"/>
                <a:cs typeface="Calibri" pitchFamily="34" charset="-120"/>
              </a:rPr>
              <a:t>OUR APPROACH</a:t>
            </a:r>
            <a:endParaRPr lang="en-US" sz="1100" dirty="0"/>
          </a:p>
        </p:txBody>
      </p:sp>
      <p:sp>
        <p:nvSpPr>
          <p:cNvPr id="5" name="Text 3"/>
          <p:cNvSpPr/>
          <p:nvPr/>
        </p:nvSpPr>
        <p:spPr>
          <a:xfrm>
            <a:off x="457200" y="548640"/>
            <a:ext cx="8229600" cy="822960"/>
          </a:xfrm>
          <a:prstGeom prst="rect">
            <a:avLst/>
          </a:prstGeom>
          <a:noFill/>
          <a:ln/>
        </p:spPr>
        <p:txBody>
          <a:bodyPr wrap="square" lIns="0" tIns="0" rIns="0" bIns="0" rtlCol="0" anchor="t">
            <a:normAutofit/>
          </a:bodyPr>
          <a:lstStyle/>
          <a:p>
            <a:pPr algn="l" indent="0" marL="0">
              <a:buNone/>
            </a:pPr>
            <a:r>
              <a:rPr lang="en-US" sz="2200" b="1" dirty="0">
                <a:solidFill>
                  <a:srgbClr val="1A1A2E"/>
                </a:solidFill>
                <a:latin typeface="Cambria" pitchFamily="34" charset="0"/>
                <a:ea typeface="Cambria" pitchFamily="34" charset="-122"/>
                <a:cs typeface="Cambria" pitchFamily="34" charset="-120"/>
              </a:rPr>
              <a:t>Genpact's Turning Point: One Lakehouse, Zero Silos</a:t>
            </a:r>
            <a:endParaRPr lang="en-US" sz="2200" dirty="0"/>
          </a:p>
        </p:txBody>
      </p:sp>
      <p:sp>
        <p:nvSpPr>
          <p:cNvPr id="6" name="Shape 4"/>
          <p:cNvSpPr/>
          <p:nvPr/>
        </p:nvSpPr>
        <p:spPr>
          <a:xfrm>
            <a:off x="457200" y="1463040"/>
            <a:ext cx="3977640" cy="2743200"/>
          </a:xfrm>
          <a:prstGeom prst="rect">
            <a:avLst/>
          </a:prstGeom>
          <a:solidFill>
            <a:srgbClr val="E2E8F0"/>
          </a:solidFill>
          <a:ln w="12700">
            <a:solidFill>
              <a:srgbClr val="E2E8F0"/>
            </a:solidFill>
            <a:prstDash val="solid"/>
          </a:ln>
          <a:effectLst>
            <a:outerShdw sx="100000" sy="100000" kx="0" ky="0" algn="bl" rotWithShape="0" blurRad="127000" dist="38100" dir="2700000">
              <a:srgbClr val="000000">
                <a:alpha val="6000"/>
              </a:srgbClr>
            </a:outerShdw>
          </a:effectLst>
        </p:spPr>
      </p:sp>
      <p:sp>
        <p:nvSpPr>
          <p:cNvPr id="7" name="Shape 5"/>
          <p:cNvSpPr/>
          <p:nvPr/>
        </p:nvSpPr>
        <p:spPr>
          <a:xfrm>
            <a:off x="457200" y="1463040"/>
            <a:ext cx="54864" cy="2743200"/>
          </a:xfrm>
          <a:prstGeom prst="rect">
            <a:avLst/>
          </a:prstGeom>
          <a:solidFill>
            <a:srgbClr val="059669"/>
          </a:solidFill>
          <a:ln w="12700">
            <a:solidFill>
              <a:srgbClr val="059669"/>
            </a:solidFill>
            <a:prstDash val="solid"/>
          </a:ln>
        </p:spPr>
      </p:sp>
      <p:sp>
        <p:nvSpPr>
          <p:cNvPr id="8" name="Text 6"/>
          <p:cNvSpPr/>
          <p:nvPr/>
        </p:nvSpPr>
        <p:spPr>
          <a:xfrm>
            <a:off x="685800" y="1600200"/>
            <a:ext cx="3611880" cy="2468880"/>
          </a:xfrm>
          <a:prstGeom prst="rect">
            <a:avLst/>
          </a:prstGeom>
          <a:noFill/>
          <a:ln/>
        </p:spPr>
        <p:txBody>
          <a:bodyPr wrap="square" rtlCol="0" anchor="t">
            <a:normAutofit/>
          </a:bodyPr>
          <a:lstStyle/>
          <a:p>
            <a:pPr marL="342900" indent="-342900">
              <a:spcAft>
                <a:spcPts val="800"/>
              </a:spcAft>
              <a:buSzPct val="100000"/>
              <a:buChar char="•"/>
            </a:pPr>
            <a:r>
              <a:rPr lang="en-US" sz="1000" dirty="0">
                <a:solidFill>
                  <a:srgbClr val="64748B"/>
                </a:solidFill>
                <a:latin typeface="Calibri" pitchFamily="34" charset="0"/>
                <a:ea typeface="Calibri" pitchFamily="34" charset="-122"/>
                <a:cs typeface="Calibri" pitchFamily="34" charset="-120"/>
              </a:rPr>
              <a:t>The Bronze/Silver/Gold medallion lakehouse on Azure Databricks replaces Genpact's legacy warehouse bottlenecks — raw data flows through refined layers to analytics-ready Gold tables, turning 3-4 day report delays into same-day delivery with unified governance at every layer.</a:t>
            </a:r>
            <a:endParaRPr lang="en-US" sz="1000" dirty="0"/>
          </a:p>
          <a:p>
            <a:pPr marL="342900" indent="-342900">
              <a:spcAft>
                <a:spcPts val="800"/>
              </a:spcAft>
              <a:buSzPct val="100000"/>
              <a:buChar char="•"/>
            </a:pPr>
            <a:r>
              <a:rPr lang="en-US" sz="1000" dirty="0">
                <a:solidFill>
                  <a:srgbClr val="64748B"/>
                </a:solidFill>
                <a:latin typeface="Calibri" pitchFamily="34" charset="0"/>
                <a:ea typeface="Calibri" pitchFamily="34" charset="-122"/>
                <a:cs typeface="Calibri" pitchFamily="34" charset="-120"/>
              </a:rPr>
              <a:t>A single governed platform for the entire AI/ML lifecycle eliminates the tool sprawl that currently fragments Genpact's model development — no separate tools, no disconnected workflows, just one path from experimentation to production with governance built in, not bolted on.</a:t>
            </a:r>
            <a:endParaRPr lang="en-US" sz="1000" dirty="0"/>
          </a:p>
          <a:p>
            <a:pPr marL="342900" indent="-342900">
              <a:spcAft>
                <a:spcPts val="800"/>
              </a:spcAft>
              <a:buSzPct val="100000"/>
              <a:buChar char="•"/>
            </a:pPr>
            <a:r>
              <a:rPr lang="en-US" sz="1000" dirty="0">
                <a:solidFill>
                  <a:srgbClr val="64748B"/>
                </a:solidFill>
                <a:latin typeface="Calibri" pitchFamily="34" charset="0"/>
                <a:ea typeface="Calibri" pitchFamily="34" charset="-122"/>
                <a:cs typeface="Calibri" pitchFamily="34" charset="-120"/>
              </a:rPr>
              <a:t>CMDB becomes the trusted data foundation that replaces Genpact's scattered silos — one source of truth that every team, every model, and every report relies on, eliminating the reconciliation chaos that throttles decision-making today.</a:t>
            </a:r>
            <a:endParaRPr lang="en-US" sz="1000" dirty="0"/>
          </a:p>
          <a:p>
            <a:pPr marL="342900" indent="-342900">
              <a:spcAft>
                <a:spcPts val="800"/>
              </a:spcAft>
              <a:buSzPct val="100000"/>
              <a:buChar char="•"/>
            </a:pPr>
            <a:r>
              <a:rPr lang="en-US" sz="1000" dirty="0">
                <a:solidFill>
                  <a:srgbClr val="64748B"/>
                </a:solidFill>
                <a:latin typeface="Calibri" pitchFamily="34" charset="0"/>
                <a:ea typeface="Calibri" pitchFamily="34" charset="-122"/>
                <a:cs typeface="Calibri" pitchFamily="34" charset="-120"/>
              </a:rPr>
              <a:t>This is where Genpact stops fighting its infrastructure and starts compounding on it — and beyond this architecture, we bring a full technology toolkit to accelerate every layer of the modernization journey.</a:t>
            </a:r>
            <a:endParaRPr lang="en-US" sz="1000" dirty="0"/>
          </a:p>
        </p:txBody>
      </p:sp>
      <p:sp>
        <p:nvSpPr>
          <p:cNvPr id="9" name="Shape 7"/>
          <p:cNvSpPr/>
          <p:nvPr/>
        </p:nvSpPr>
        <p:spPr>
          <a:xfrm>
            <a:off x="4709160" y="1463040"/>
            <a:ext cx="3977640" cy="2743200"/>
          </a:xfrm>
          <a:prstGeom prst="rect">
            <a:avLst/>
          </a:prstGeom>
          <a:solidFill>
            <a:srgbClr val="E2E8F0"/>
          </a:solidFill>
          <a:ln w="12700">
            <a:solidFill>
              <a:srgbClr val="E2E8F0"/>
            </a:solidFill>
            <a:prstDash val="solid"/>
          </a:ln>
          <a:effectLst>
            <a:outerShdw sx="100000" sy="100000" kx="0" ky="0" algn="bl" rotWithShape="0" blurRad="127000" dist="38100" dir="2700000">
              <a:srgbClr val="000000">
                <a:alpha val="6000"/>
              </a:srgbClr>
            </a:outerShdw>
          </a:effectLst>
        </p:spPr>
      </p:sp>
      <p:sp>
        <p:nvSpPr>
          <p:cNvPr id="10" name="Shape 8"/>
          <p:cNvSpPr/>
          <p:nvPr/>
        </p:nvSpPr>
        <p:spPr>
          <a:xfrm>
            <a:off x="4709160" y="1280160"/>
            <a:ext cx="3977640" cy="54864"/>
          </a:xfrm>
          <a:prstGeom prst="rect">
            <a:avLst/>
          </a:prstGeom>
          <a:solidFill>
            <a:srgbClr val="E8B84B"/>
          </a:solidFill>
          <a:ln w="12700">
            <a:solidFill>
              <a:srgbClr val="E8B84B"/>
            </a:solidFill>
            <a:prstDash val="solid"/>
          </a:ln>
        </p:spPr>
      </p:sp>
      <p:sp>
        <p:nvSpPr>
          <p:cNvPr id="11" name="Text 9"/>
          <p:cNvSpPr/>
          <p:nvPr/>
        </p:nvSpPr>
        <p:spPr>
          <a:xfrm>
            <a:off x="4709160" y="1874520"/>
            <a:ext cx="3977640" cy="1280160"/>
          </a:xfrm>
          <a:prstGeom prst="rect">
            <a:avLst/>
          </a:prstGeom>
          <a:noFill/>
          <a:ln/>
        </p:spPr>
        <p:txBody>
          <a:bodyPr wrap="square" lIns="0" tIns="0" rIns="0" bIns="0" rtlCol="0" anchor="ctr">
            <a:normAutofit/>
          </a:bodyPr>
          <a:lstStyle/>
          <a:p>
            <a:pPr algn="ctr" indent="0" marL="0">
              <a:buNone/>
            </a:pPr>
            <a:r>
              <a:rPr lang="en-US" sz="5600" b="1" dirty="0">
                <a:solidFill>
                  <a:srgbClr val="059669"/>
                </a:solidFill>
                <a:latin typeface="Cambria" pitchFamily="34" charset="0"/>
                <a:ea typeface="Cambria" pitchFamily="34" charset="-122"/>
                <a:cs typeface="Cambria" pitchFamily="34" charset="-120"/>
              </a:rPr>
              <a:t>85</a:t>
            </a:r>
            <a:endParaRPr lang="en-US" sz="5600" dirty="0"/>
          </a:p>
        </p:txBody>
      </p:sp>
      <p:sp>
        <p:nvSpPr>
          <p:cNvPr id="12" name="Text 10"/>
          <p:cNvSpPr/>
          <p:nvPr/>
        </p:nvSpPr>
        <p:spPr>
          <a:xfrm>
            <a:off x="4709160" y="3246120"/>
            <a:ext cx="3977640" cy="457200"/>
          </a:xfrm>
          <a:prstGeom prst="rect">
            <a:avLst/>
          </a:prstGeom>
          <a:noFill/>
          <a:ln/>
        </p:spPr>
        <p:txBody>
          <a:bodyPr wrap="square" lIns="0" tIns="0" rIns="0" bIns="0" rtlCol="0" anchor="ctr">
            <a:normAutofit/>
          </a:bodyPr>
          <a:lstStyle/>
          <a:p>
            <a:pPr algn="ctr" indent="0" marL="0">
              <a:buNone/>
            </a:pPr>
            <a:r>
              <a:rPr lang="en-US" sz="1300" dirty="0">
                <a:solidFill>
                  <a:srgbClr val="64748B"/>
                </a:solidFill>
                <a:latin typeface="Calibri" pitchFamily="34" charset="0"/>
                <a:ea typeface="Calibri" pitchFamily="34" charset="-122"/>
                <a:cs typeface="Calibri" pitchFamily="34" charset="-120"/>
              </a:rPr>
              <a:t>alignment score across Data Engineering, AI/ML &amp; Cloud Modernization</a:t>
            </a:r>
            <a:endParaRPr lang="en-US" sz="1300" dirty="0"/>
          </a:p>
        </p:txBody>
      </p:sp>
      <p:sp>
        <p:nvSpPr>
          <p:cNvPr id="13" name="Text 11"/>
          <p:cNvSpPr/>
          <p:nvPr/>
        </p:nvSpPr>
        <p:spPr>
          <a:xfrm>
            <a:off x="8229600" y="4828032"/>
            <a:ext cx="731520" cy="182880"/>
          </a:xfrm>
          <a:prstGeom prst="rect">
            <a:avLst/>
          </a:prstGeom>
          <a:noFill/>
          <a:ln/>
        </p:spPr>
        <p:txBody>
          <a:bodyPr wrap="square" rtlCol="0" anchor="ctr"/>
          <a:lstStyle/>
          <a:p>
            <a:pPr algn="r" indent="0" marL="0">
              <a:buNone/>
            </a:pPr>
            <a:r>
              <a:rPr lang="en-US" sz="1000" dirty="0">
                <a:solidFill>
                  <a:srgbClr val="047857"/>
                </a:solidFill>
                <a:latin typeface="Calibri" pitchFamily="34" charset="0"/>
                <a:ea typeface="Calibri" pitchFamily="34" charset="-122"/>
                <a:cs typeface="Calibri" pitchFamily="34" charset="-120"/>
              </a:rPr>
              <a:t>7 / 14</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6858000" y="2743200"/>
            <a:ext cx="3657600" cy="3657600"/>
          </a:xfrm>
          <a:prstGeom prst="ellipse">
            <a:avLst/>
          </a:prstGeom>
          <a:solidFill>
            <a:srgbClr val="059669">
              <a:alpha val="6000"/>
            </a:srgbClr>
          </a:solidFill>
          <a:ln w="12700">
            <a:solidFill>
              <a:srgbClr val="059669"/>
            </a:solidFill>
            <a:prstDash val="solid"/>
          </a:ln>
        </p:spPr>
      </p:sp>
      <p:sp>
        <p:nvSpPr>
          <p:cNvPr id="3" name="Shape 1"/>
          <p:cNvSpPr/>
          <p:nvPr/>
        </p:nvSpPr>
        <p:spPr>
          <a:xfrm>
            <a:off x="0" y="0"/>
            <a:ext cx="9144000" cy="475488"/>
          </a:xfrm>
          <a:prstGeom prst="rect">
            <a:avLst/>
          </a:prstGeom>
          <a:solidFill>
            <a:srgbClr val="0D1B2A"/>
          </a:solidFill>
          <a:ln/>
        </p:spPr>
      </p:sp>
      <p:sp>
        <p:nvSpPr>
          <p:cNvPr id="4" name="Text 2"/>
          <p:cNvSpPr/>
          <p:nvPr/>
        </p:nvSpPr>
        <p:spPr>
          <a:xfrm>
            <a:off x="365760" y="0"/>
            <a:ext cx="8412480" cy="475488"/>
          </a:xfrm>
          <a:prstGeom prst="rect">
            <a:avLst/>
          </a:prstGeom>
          <a:noFill/>
          <a:ln/>
        </p:spPr>
        <p:txBody>
          <a:bodyPr wrap="square" lIns="0" tIns="0" rIns="0" bIns="0" rtlCol="0" anchor="ctr"/>
          <a:lstStyle/>
          <a:p>
            <a:pPr algn="l" indent="0" marL="0">
              <a:buNone/>
            </a:pPr>
            <a:r>
              <a:rPr lang="en-US" sz="1100" b="1" spc="300" kern="0" dirty="0">
                <a:solidFill>
                  <a:srgbClr val="047857"/>
                </a:solidFill>
                <a:latin typeface="Calibri" pitchFamily="34" charset="0"/>
                <a:ea typeface="Calibri" pitchFamily="34" charset="-122"/>
                <a:cs typeface="Calibri" pitchFamily="34" charset="-120"/>
              </a:rPr>
              <a:t>TECHNOLOGY</a:t>
            </a:r>
            <a:endParaRPr lang="en-US" sz="1100" dirty="0"/>
          </a:p>
        </p:txBody>
      </p:sp>
      <p:sp>
        <p:nvSpPr>
          <p:cNvPr id="5" name="Text 3"/>
          <p:cNvSpPr/>
          <p:nvPr/>
        </p:nvSpPr>
        <p:spPr>
          <a:xfrm>
            <a:off x="457200" y="548640"/>
            <a:ext cx="8229600" cy="822960"/>
          </a:xfrm>
          <a:prstGeom prst="rect">
            <a:avLst/>
          </a:prstGeom>
          <a:noFill/>
          <a:ln/>
        </p:spPr>
        <p:txBody>
          <a:bodyPr wrap="square" lIns="0" tIns="0" rIns="0" bIns="0" rtlCol="0" anchor="t">
            <a:normAutofit/>
          </a:bodyPr>
          <a:lstStyle/>
          <a:p>
            <a:pPr algn="l" indent="0" marL="0">
              <a:buNone/>
            </a:pPr>
            <a:r>
              <a:rPr lang="en-US" sz="2200" b="1" dirty="0">
                <a:solidFill>
                  <a:srgbClr val="1A1A2E"/>
                </a:solidFill>
                <a:latin typeface="Cambria" pitchFamily="34" charset="0"/>
                <a:ea typeface="Cambria" pitchFamily="34" charset="-122"/>
                <a:cs typeface="Cambria" pitchFamily="34" charset="-120"/>
              </a:rPr>
              <a:t>Genpact's Full Arsenal for AI at Scale</a:t>
            </a:r>
            <a:endParaRPr lang="en-US" sz="2200" dirty="0"/>
          </a:p>
        </p:txBody>
      </p:sp>
      <p:sp>
        <p:nvSpPr>
          <p:cNvPr id="6" name="Text 4"/>
          <p:cNvSpPr/>
          <p:nvPr/>
        </p:nvSpPr>
        <p:spPr>
          <a:xfrm>
            <a:off x="457200" y="1417320"/>
            <a:ext cx="8229600" cy="320040"/>
          </a:xfrm>
          <a:prstGeom prst="rect">
            <a:avLst/>
          </a:prstGeom>
          <a:noFill/>
          <a:ln/>
        </p:spPr>
        <p:txBody>
          <a:bodyPr wrap="square" lIns="0" tIns="0" rIns="0" bIns="0" rtlCol="0" anchor="t">
            <a:normAutofit/>
          </a:bodyPr>
          <a:lstStyle/>
          <a:p>
            <a:pPr algn="l" indent="0" marL="0">
              <a:buNone/>
            </a:pPr>
            <a:r>
              <a:rPr lang="en-US" sz="1300" i="1" dirty="0">
                <a:solidFill>
                  <a:srgbClr val="047857"/>
                </a:solidFill>
                <a:latin typeface="Calibri" pitchFamily="34" charset="0"/>
                <a:ea typeface="Calibri" pitchFamily="34" charset="-122"/>
                <a:cs typeface="Calibri" pitchFamily="34" charset="-120"/>
              </a:rPr>
              <a:t>Lakehouse is your foundation — here's the complete toolkit powering your transformation.</a:t>
            </a:r>
            <a:endParaRPr lang="en-US" sz="1300" dirty="0"/>
          </a:p>
        </p:txBody>
      </p:sp>
      <p:sp>
        <p:nvSpPr>
          <p:cNvPr id="7" name="Shape 5"/>
          <p:cNvSpPr/>
          <p:nvPr/>
        </p:nvSpPr>
        <p:spPr>
          <a:xfrm>
            <a:off x="457200" y="1828800"/>
            <a:ext cx="2590800" cy="1120140"/>
          </a:xfrm>
          <a:prstGeom prst="rect">
            <a:avLst/>
          </a:prstGeom>
          <a:solidFill>
            <a:srgbClr val="E2E8F0"/>
          </a:solidFill>
          <a:ln w="12700">
            <a:solidFill>
              <a:srgbClr val="E2E8F0"/>
            </a:solidFill>
            <a:prstDash val="solid"/>
          </a:ln>
          <a:effectLst>
            <a:outerShdw sx="100000" sy="100000" kx="0" ky="0" algn="bl" rotWithShape="0" blurRad="127000" dist="38100" dir="2700000">
              <a:srgbClr val="000000">
                <a:alpha val="7000"/>
              </a:srgbClr>
            </a:outerShdw>
          </a:effectLst>
        </p:spPr>
      </p:sp>
      <p:sp>
        <p:nvSpPr>
          <p:cNvPr id="8" name="Shape 6"/>
          <p:cNvSpPr/>
          <p:nvPr/>
        </p:nvSpPr>
        <p:spPr>
          <a:xfrm>
            <a:off x="457200" y="1828800"/>
            <a:ext cx="54864" cy="1120140"/>
          </a:xfrm>
          <a:prstGeom prst="rect">
            <a:avLst/>
          </a:prstGeom>
          <a:solidFill>
            <a:srgbClr val="059669"/>
          </a:solidFill>
          <a:ln w="12700">
            <a:solidFill>
              <a:srgbClr val="059669"/>
            </a:solidFill>
            <a:prstDash val="solid"/>
          </a:ln>
        </p:spPr>
      </p:sp>
      <p:sp>
        <p:nvSpPr>
          <p:cNvPr id="9" name="Shape 7"/>
          <p:cNvSpPr/>
          <p:nvPr/>
        </p:nvSpPr>
        <p:spPr>
          <a:xfrm>
            <a:off x="640080" y="1993392"/>
            <a:ext cx="329184" cy="329184"/>
          </a:xfrm>
          <a:prstGeom prst="ellipse">
            <a:avLst/>
          </a:prstGeom>
          <a:solidFill>
            <a:srgbClr val="059669"/>
          </a:solidFill>
          <a:ln w="12700">
            <a:solidFill>
              <a:srgbClr val="059669"/>
            </a:solidFill>
            <a:prstDash val="solid"/>
          </a:ln>
        </p:spPr>
      </p:sp>
      <p:pic>
        <p:nvPicPr>
          <p:cNvPr id="10" name="Image 0" descr="preencoded.png">    </p:cNvPr>
          <p:cNvPicPr>
            <a:picLocks noChangeAspect="1"/>
          </p:cNvPicPr>
          <p:nvPr/>
        </p:nvPicPr>
        <p:blipFill>
          <a:blip r:embed="rId1"/>
          <a:stretch>
            <a:fillRect/>
          </a:stretch>
        </p:blipFill>
        <p:spPr>
          <a:xfrm>
            <a:off x="676656" y="2029968"/>
            <a:ext cx="256032" cy="256032"/>
          </a:xfrm>
          <a:prstGeom prst="rect">
            <a:avLst/>
          </a:prstGeom>
        </p:spPr>
      </p:pic>
      <p:sp>
        <p:nvSpPr>
          <p:cNvPr id="11" name="Text 8"/>
          <p:cNvSpPr/>
          <p:nvPr/>
        </p:nvSpPr>
        <p:spPr>
          <a:xfrm>
            <a:off x="1051560" y="1965960"/>
            <a:ext cx="1859280" cy="845820"/>
          </a:xfrm>
          <a:prstGeom prst="rect">
            <a:avLst/>
          </a:prstGeom>
          <a:noFill/>
          <a:ln/>
        </p:spPr>
        <p:txBody>
          <a:bodyPr wrap="square" lIns="0" tIns="0" rIns="0" bIns="0" rtlCol="0" anchor="t">
            <a:normAutofit/>
          </a:bodyPr>
          <a:lstStyle/>
          <a:p>
            <a:pPr indent="0" marL="0">
              <a:buNone/>
            </a:pPr>
            <a:r>
              <a:rPr lang="en-US" sz="1150" b="1" dirty="0">
                <a:solidFill>
                  <a:srgbClr val="1A1A2E"/>
                </a:solidFill>
                <a:latin typeface="Calibri" pitchFamily="34" charset="0"/>
                <a:ea typeface="Calibri" pitchFamily="34" charset="-122"/>
                <a:cs typeface="Calibri" pitchFamily="34" charset="-120"/>
              </a:rPr>
              <a:t>AI/ML</a:t>
            </a:r>
            <a:endParaRPr lang="en-US" sz="1150" dirty="0"/>
          </a:p>
          <a:p>
            <a:pPr indent="0" marL="0">
              <a:buNone/>
            </a:pPr>
            <a:r>
              <a:rPr lang="en-US" sz="1050" dirty="0">
                <a:solidFill>
                  <a:srgbClr val="64748B"/>
                </a:solidFill>
                <a:latin typeface="Calibri" pitchFamily="34" charset="0"/>
                <a:ea typeface="Calibri" pitchFamily="34" charset="-122"/>
                <a:cs typeface="Calibri" pitchFamily="34" charset="-120"/>
              </a:rPr>
              <a:t>Solutions: Governed lifecycle platform [Hot in 2026]</a:t>
            </a:r>
            <a:endParaRPr lang="en-US" sz="1150" dirty="0"/>
          </a:p>
        </p:txBody>
      </p:sp>
      <p:sp>
        <p:nvSpPr>
          <p:cNvPr id="12" name="Shape 9"/>
          <p:cNvSpPr/>
          <p:nvPr/>
        </p:nvSpPr>
        <p:spPr>
          <a:xfrm>
            <a:off x="3276600" y="1828800"/>
            <a:ext cx="2590800" cy="1120140"/>
          </a:xfrm>
          <a:prstGeom prst="rect">
            <a:avLst/>
          </a:prstGeom>
          <a:solidFill>
            <a:srgbClr val="E2E8F0"/>
          </a:solidFill>
          <a:ln w="12700">
            <a:solidFill>
              <a:srgbClr val="E2E8F0"/>
            </a:solidFill>
            <a:prstDash val="solid"/>
          </a:ln>
          <a:effectLst>
            <a:outerShdw sx="100000" sy="100000" kx="0" ky="0" algn="bl" rotWithShape="0" blurRad="127000" dist="38100" dir="2700000">
              <a:srgbClr val="000000">
                <a:alpha val="7000"/>
              </a:srgbClr>
            </a:outerShdw>
          </a:effectLst>
        </p:spPr>
      </p:sp>
      <p:sp>
        <p:nvSpPr>
          <p:cNvPr id="13" name="Shape 10"/>
          <p:cNvSpPr/>
          <p:nvPr/>
        </p:nvSpPr>
        <p:spPr>
          <a:xfrm>
            <a:off x="3276600" y="1828800"/>
            <a:ext cx="54864" cy="1120140"/>
          </a:xfrm>
          <a:prstGeom prst="rect">
            <a:avLst/>
          </a:prstGeom>
          <a:solidFill>
            <a:srgbClr val="059669"/>
          </a:solidFill>
          <a:ln w="12700">
            <a:solidFill>
              <a:srgbClr val="059669"/>
            </a:solidFill>
            <a:prstDash val="solid"/>
          </a:ln>
        </p:spPr>
      </p:sp>
      <p:sp>
        <p:nvSpPr>
          <p:cNvPr id="14" name="Shape 11"/>
          <p:cNvSpPr/>
          <p:nvPr/>
        </p:nvSpPr>
        <p:spPr>
          <a:xfrm>
            <a:off x="3459480" y="1993392"/>
            <a:ext cx="329184" cy="329184"/>
          </a:xfrm>
          <a:prstGeom prst="ellipse">
            <a:avLst/>
          </a:prstGeom>
          <a:solidFill>
            <a:srgbClr val="059669"/>
          </a:solidFill>
          <a:ln w="12700">
            <a:solidFill>
              <a:srgbClr val="059669"/>
            </a:solidFill>
            <a:prstDash val="solid"/>
          </a:ln>
        </p:spPr>
      </p:sp>
      <p:pic>
        <p:nvPicPr>
          <p:cNvPr id="15" name="Image 1" descr="preencoded.png">    </p:cNvPr>
          <p:cNvPicPr>
            <a:picLocks noChangeAspect="1"/>
          </p:cNvPicPr>
          <p:nvPr/>
        </p:nvPicPr>
        <p:blipFill>
          <a:blip r:embed="rId2"/>
          <a:stretch>
            <a:fillRect/>
          </a:stretch>
        </p:blipFill>
        <p:spPr>
          <a:xfrm>
            <a:off x="3496056" y="2029968"/>
            <a:ext cx="256032" cy="256032"/>
          </a:xfrm>
          <a:prstGeom prst="rect">
            <a:avLst/>
          </a:prstGeom>
        </p:spPr>
      </p:pic>
      <p:sp>
        <p:nvSpPr>
          <p:cNvPr id="16" name="Text 12"/>
          <p:cNvSpPr/>
          <p:nvPr/>
        </p:nvSpPr>
        <p:spPr>
          <a:xfrm>
            <a:off x="3870960" y="1965960"/>
            <a:ext cx="1859280" cy="845820"/>
          </a:xfrm>
          <a:prstGeom prst="rect">
            <a:avLst/>
          </a:prstGeom>
          <a:noFill/>
          <a:ln/>
        </p:spPr>
        <p:txBody>
          <a:bodyPr wrap="square" lIns="0" tIns="0" rIns="0" bIns="0" rtlCol="0" anchor="t">
            <a:normAutofit/>
          </a:bodyPr>
          <a:lstStyle/>
          <a:p>
            <a:pPr indent="0" marL="0">
              <a:buNone/>
            </a:pPr>
            <a:r>
              <a:rPr lang="en-US" sz="1150" b="1" dirty="0">
                <a:solidFill>
                  <a:srgbClr val="1A1A2E"/>
                </a:solidFill>
                <a:latin typeface="Calibri" pitchFamily="34" charset="0"/>
                <a:ea typeface="Calibri" pitchFamily="34" charset="-122"/>
                <a:cs typeface="Calibri" pitchFamily="34" charset="-120"/>
              </a:rPr>
              <a:t>MLOps</a:t>
            </a:r>
            <a:endParaRPr lang="en-US" sz="1150" dirty="0"/>
          </a:p>
          <a:p>
            <a:pPr indent="0" marL="0">
              <a:buNone/>
            </a:pPr>
            <a:r>
              <a:rPr lang="en-US" sz="1050" dirty="0">
                <a:solidFill>
                  <a:srgbClr val="64748B"/>
                </a:solidFill>
                <a:latin typeface="Calibri" pitchFamily="34" charset="0"/>
                <a:ea typeface="Calibri" pitchFamily="34" charset="-122"/>
                <a:cs typeface="Calibri" pitchFamily="34" charset="-120"/>
              </a:rPr>
              <a:t>Pipelines: Automated training and deployment</a:t>
            </a:r>
            <a:endParaRPr lang="en-US" sz="1150" dirty="0"/>
          </a:p>
        </p:txBody>
      </p:sp>
      <p:sp>
        <p:nvSpPr>
          <p:cNvPr id="17" name="Shape 13"/>
          <p:cNvSpPr/>
          <p:nvPr/>
        </p:nvSpPr>
        <p:spPr>
          <a:xfrm>
            <a:off x="6096000" y="1828800"/>
            <a:ext cx="2590800" cy="1120140"/>
          </a:xfrm>
          <a:prstGeom prst="rect">
            <a:avLst/>
          </a:prstGeom>
          <a:solidFill>
            <a:srgbClr val="E2E8F0"/>
          </a:solidFill>
          <a:ln w="12700">
            <a:solidFill>
              <a:srgbClr val="E2E8F0"/>
            </a:solidFill>
            <a:prstDash val="solid"/>
          </a:ln>
          <a:effectLst>
            <a:outerShdw sx="100000" sy="100000" kx="0" ky="0" algn="bl" rotWithShape="0" blurRad="127000" dist="38100" dir="2700000">
              <a:srgbClr val="000000">
                <a:alpha val="7000"/>
              </a:srgbClr>
            </a:outerShdw>
          </a:effectLst>
        </p:spPr>
      </p:sp>
      <p:sp>
        <p:nvSpPr>
          <p:cNvPr id="18" name="Shape 14"/>
          <p:cNvSpPr/>
          <p:nvPr/>
        </p:nvSpPr>
        <p:spPr>
          <a:xfrm>
            <a:off x="6096000" y="1828800"/>
            <a:ext cx="54864" cy="1120140"/>
          </a:xfrm>
          <a:prstGeom prst="rect">
            <a:avLst/>
          </a:prstGeom>
          <a:solidFill>
            <a:srgbClr val="059669"/>
          </a:solidFill>
          <a:ln w="12700">
            <a:solidFill>
              <a:srgbClr val="059669"/>
            </a:solidFill>
            <a:prstDash val="solid"/>
          </a:ln>
        </p:spPr>
      </p:sp>
      <p:sp>
        <p:nvSpPr>
          <p:cNvPr id="19" name="Shape 15"/>
          <p:cNvSpPr/>
          <p:nvPr/>
        </p:nvSpPr>
        <p:spPr>
          <a:xfrm>
            <a:off x="6278880" y="1993392"/>
            <a:ext cx="329184" cy="329184"/>
          </a:xfrm>
          <a:prstGeom prst="ellipse">
            <a:avLst/>
          </a:prstGeom>
          <a:solidFill>
            <a:srgbClr val="059669"/>
          </a:solidFill>
          <a:ln w="12700">
            <a:solidFill>
              <a:srgbClr val="059669"/>
            </a:solidFill>
            <a:prstDash val="solid"/>
          </a:ln>
        </p:spPr>
      </p:sp>
      <p:pic>
        <p:nvPicPr>
          <p:cNvPr id="20" name="Image 2" descr="preencoded.png">    </p:cNvPr>
          <p:cNvPicPr>
            <a:picLocks noChangeAspect="1"/>
          </p:cNvPicPr>
          <p:nvPr/>
        </p:nvPicPr>
        <p:blipFill>
          <a:blip r:embed="rId3"/>
          <a:stretch>
            <a:fillRect/>
          </a:stretch>
        </p:blipFill>
        <p:spPr>
          <a:xfrm>
            <a:off x="6315456" y="2029968"/>
            <a:ext cx="256032" cy="256032"/>
          </a:xfrm>
          <a:prstGeom prst="rect">
            <a:avLst/>
          </a:prstGeom>
        </p:spPr>
      </p:pic>
      <p:sp>
        <p:nvSpPr>
          <p:cNvPr id="21" name="Text 16"/>
          <p:cNvSpPr/>
          <p:nvPr/>
        </p:nvSpPr>
        <p:spPr>
          <a:xfrm>
            <a:off x="6690360" y="1965960"/>
            <a:ext cx="1859280" cy="845820"/>
          </a:xfrm>
          <a:prstGeom prst="rect">
            <a:avLst/>
          </a:prstGeom>
          <a:noFill/>
          <a:ln/>
        </p:spPr>
        <p:txBody>
          <a:bodyPr wrap="square" lIns="0" tIns="0" rIns="0" bIns="0" rtlCol="0" anchor="t">
            <a:normAutofit/>
          </a:bodyPr>
          <a:lstStyle/>
          <a:p>
            <a:pPr indent="0" marL="0">
              <a:buNone/>
            </a:pPr>
            <a:r>
              <a:rPr lang="en-US" sz="1150" b="1" dirty="0">
                <a:solidFill>
                  <a:srgbClr val="1A1A2E"/>
                </a:solidFill>
                <a:latin typeface="Calibri" pitchFamily="34" charset="0"/>
                <a:ea typeface="Calibri" pitchFamily="34" charset="-122"/>
                <a:cs typeface="Calibri" pitchFamily="34" charset="-120"/>
              </a:rPr>
              <a:t>Agentic</a:t>
            </a:r>
            <a:endParaRPr lang="en-US" sz="1150" dirty="0"/>
          </a:p>
          <a:p>
            <a:pPr indent="0" marL="0">
              <a:buNone/>
            </a:pPr>
            <a:r>
              <a:rPr lang="en-US" sz="1050" dirty="0">
                <a:solidFill>
                  <a:srgbClr val="64748B"/>
                </a:solidFill>
                <a:latin typeface="Calibri" pitchFamily="34" charset="0"/>
                <a:ea typeface="Calibri" pitchFamily="34" charset="-122"/>
                <a:cs typeface="Calibri" pitchFamily="34" charset="-120"/>
              </a:rPr>
              <a:t>AI: Autonomous resolution workflows [Hot in 2026]</a:t>
            </a:r>
            <a:endParaRPr lang="en-US" sz="1150" dirty="0"/>
          </a:p>
        </p:txBody>
      </p:sp>
      <p:sp>
        <p:nvSpPr>
          <p:cNvPr id="22" name="Shape 17"/>
          <p:cNvSpPr/>
          <p:nvPr/>
        </p:nvSpPr>
        <p:spPr>
          <a:xfrm>
            <a:off x="457200" y="3131820"/>
            <a:ext cx="2590800" cy="1120140"/>
          </a:xfrm>
          <a:prstGeom prst="rect">
            <a:avLst/>
          </a:prstGeom>
          <a:solidFill>
            <a:srgbClr val="E2E8F0"/>
          </a:solidFill>
          <a:ln w="12700">
            <a:solidFill>
              <a:srgbClr val="E2E8F0"/>
            </a:solidFill>
            <a:prstDash val="solid"/>
          </a:ln>
          <a:effectLst>
            <a:outerShdw sx="100000" sy="100000" kx="0" ky="0" algn="bl" rotWithShape="0" blurRad="127000" dist="38100" dir="2700000">
              <a:srgbClr val="000000">
                <a:alpha val="7000"/>
              </a:srgbClr>
            </a:outerShdw>
          </a:effectLst>
        </p:spPr>
      </p:sp>
      <p:sp>
        <p:nvSpPr>
          <p:cNvPr id="23" name="Shape 18"/>
          <p:cNvSpPr/>
          <p:nvPr/>
        </p:nvSpPr>
        <p:spPr>
          <a:xfrm>
            <a:off x="457200" y="3131820"/>
            <a:ext cx="54864" cy="1120140"/>
          </a:xfrm>
          <a:prstGeom prst="rect">
            <a:avLst/>
          </a:prstGeom>
          <a:solidFill>
            <a:srgbClr val="059669"/>
          </a:solidFill>
          <a:ln w="12700">
            <a:solidFill>
              <a:srgbClr val="059669"/>
            </a:solidFill>
            <a:prstDash val="solid"/>
          </a:ln>
        </p:spPr>
      </p:sp>
      <p:sp>
        <p:nvSpPr>
          <p:cNvPr id="24" name="Shape 19"/>
          <p:cNvSpPr/>
          <p:nvPr/>
        </p:nvSpPr>
        <p:spPr>
          <a:xfrm>
            <a:off x="640080" y="3296412"/>
            <a:ext cx="329184" cy="329184"/>
          </a:xfrm>
          <a:prstGeom prst="ellipse">
            <a:avLst/>
          </a:prstGeom>
          <a:solidFill>
            <a:srgbClr val="059669"/>
          </a:solidFill>
          <a:ln w="12700">
            <a:solidFill>
              <a:srgbClr val="059669"/>
            </a:solidFill>
            <a:prstDash val="solid"/>
          </a:ln>
        </p:spPr>
      </p:sp>
      <p:pic>
        <p:nvPicPr>
          <p:cNvPr id="25" name="Image 3" descr="preencoded.png">    </p:cNvPr>
          <p:cNvPicPr>
            <a:picLocks noChangeAspect="1"/>
          </p:cNvPicPr>
          <p:nvPr/>
        </p:nvPicPr>
        <p:blipFill>
          <a:blip r:embed="rId4"/>
          <a:stretch>
            <a:fillRect/>
          </a:stretch>
        </p:blipFill>
        <p:spPr>
          <a:xfrm>
            <a:off x="676656" y="3332988"/>
            <a:ext cx="256032" cy="256032"/>
          </a:xfrm>
          <a:prstGeom prst="rect">
            <a:avLst/>
          </a:prstGeom>
        </p:spPr>
      </p:pic>
      <p:sp>
        <p:nvSpPr>
          <p:cNvPr id="26" name="Text 20"/>
          <p:cNvSpPr/>
          <p:nvPr/>
        </p:nvSpPr>
        <p:spPr>
          <a:xfrm>
            <a:off x="1051560" y="3268980"/>
            <a:ext cx="1859280" cy="845820"/>
          </a:xfrm>
          <a:prstGeom prst="rect">
            <a:avLst/>
          </a:prstGeom>
          <a:noFill/>
          <a:ln/>
        </p:spPr>
        <p:txBody>
          <a:bodyPr wrap="square" lIns="0" tIns="0" rIns="0" bIns="0" rtlCol="0" anchor="t">
            <a:normAutofit/>
          </a:bodyPr>
          <a:lstStyle/>
          <a:p>
            <a:pPr indent="0" marL="0">
              <a:buNone/>
            </a:pPr>
            <a:r>
              <a:rPr lang="en-US" sz="1350" b="1" dirty="0">
                <a:solidFill>
                  <a:srgbClr val="1A1A2E"/>
                </a:solidFill>
                <a:latin typeface="Calibri" pitchFamily="34" charset="0"/>
                <a:ea typeface="Calibri" pitchFamily="34" charset="-122"/>
                <a:cs typeface="Calibri" pitchFamily="34" charset="-120"/>
              </a:rPr>
              <a:t>Lakehouse:</a:t>
            </a:r>
            <a:endParaRPr lang="en-US" sz="1350" dirty="0"/>
          </a:p>
          <a:p>
            <a:pPr indent="0" marL="0">
              <a:buNone/>
            </a:pPr>
            <a:r>
              <a:rPr lang="en-US" sz="1250" dirty="0">
                <a:solidFill>
                  <a:srgbClr val="64748B"/>
                </a:solidFill>
                <a:latin typeface="Calibri" pitchFamily="34" charset="0"/>
                <a:ea typeface="Calibri" pitchFamily="34" charset="-122"/>
                <a:cs typeface="Calibri" pitchFamily="34" charset="-120"/>
              </a:rPr>
              <a:t>Bronze/Silver/Gold unified data layers</a:t>
            </a:r>
            <a:endParaRPr lang="en-US" sz="1350" dirty="0"/>
          </a:p>
        </p:txBody>
      </p:sp>
      <p:sp>
        <p:nvSpPr>
          <p:cNvPr id="27" name="Shape 21"/>
          <p:cNvSpPr/>
          <p:nvPr/>
        </p:nvSpPr>
        <p:spPr>
          <a:xfrm>
            <a:off x="3276600" y="3131820"/>
            <a:ext cx="2590800" cy="1120140"/>
          </a:xfrm>
          <a:prstGeom prst="rect">
            <a:avLst/>
          </a:prstGeom>
          <a:solidFill>
            <a:srgbClr val="E2E8F0"/>
          </a:solidFill>
          <a:ln w="12700">
            <a:solidFill>
              <a:srgbClr val="E2E8F0"/>
            </a:solidFill>
            <a:prstDash val="solid"/>
          </a:ln>
          <a:effectLst>
            <a:outerShdw sx="100000" sy="100000" kx="0" ky="0" algn="bl" rotWithShape="0" blurRad="127000" dist="38100" dir="2700000">
              <a:srgbClr val="000000">
                <a:alpha val="7000"/>
              </a:srgbClr>
            </a:outerShdw>
          </a:effectLst>
        </p:spPr>
      </p:sp>
      <p:sp>
        <p:nvSpPr>
          <p:cNvPr id="28" name="Shape 22"/>
          <p:cNvSpPr/>
          <p:nvPr/>
        </p:nvSpPr>
        <p:spPr>
          <a:xfrm>
            <a:off x="3276600" y="3131820"/>
            <a:ext cx="54864" cy="1120140"/>
          </a:xfrm>
          <a:prstGeom prst="rect">
            <a:avLst/>
          </a:prstGeom>
          <a:solidFill>
            <a:srgbClr val="059669"/>
          </a:solidFill>
          <a:ln w="12700">
            <a:solidFill>
              <a:srgbClr val="059669"/>
            </a:solidFill>
            <a:prstDash val="solid"/>
          </a:ln>
        </p:spPr>
      </p:sp>
      <p:sp>
        <p:nvSpPr>
          <p:cNvPr id="29" name="Shape 23"/>
          <p:cNvSpPr/>
          <p:nvPr/>
        </p:nvSpPr>
        <p:spPr>
          <a:xfrm>
            <a:off x="3459480" y="3296412"/>
            <a:ext cx="329184" cy="329184"/>
          </a:xfrm>
          <a:prstGeom prst="ellipse">
            <a:avLst/>
          </a:prstGeom>
          <a:solidFill>
            <a:srgbClr val="059669"/>
          </a:solidFill>
          <a:ln w="12700">
            <a:solidFill>
              <a:srgbClr val="059669"/>
            </a:solidFill>
            <a:prstDash val="solid"/>
          </a:ln>
        </p:spPr>
      </p:sp>
      <p:pic>
        <p:nvPicPr>
          <p:cNvPr id="30" name="Image 4" descr="preencoded.png">    </p:cNvPr>
          <p:cNvPicPr>
            <a:picLocks noChangeAspect="1"/>
          </p:cNvPicPr>
          <p:nvPr/>
        </p:nvPicPr>
        <p:blipFill>
          <a:blip r:embed="rId5"/>
          <a:stretch>
            <a:fillRect/>
          </a:stretch>
        </p:blipFill>
        <p:spPr>
          <a:xfrm>
            <a:off x="3496056" y="3332988"/>
            <a:ext cx="256032" cy="256032"/>
          </a:xfrm>
          <a:prstGeom prst="rect">
            <a:avLst/>
          </a:prstGeom>
        </p:spPr>
      </p:pic>
      <p:sp>
        <p:nvSpPr>
          <p:cNvPr id="31" name="Text 24"/>
          <p:cNvSpPr/>
          <p:nvPr/>
        </p:nvSpPr>
        <p:spPr>
          <a:xfrm>
            <a:off x="3870960" y="3268980"/>
            <a:ext cx="1859280" cy="845820"/>
          </a:xfrm>
          <a:prstGeom prst="rect">
            <a:avLst/>
          </a:prstGeom>
          <a:noFill/>
          <a:ln/>
        </p:spPr>
        <p:txBody>
          <a:bodyPr wrap="square" lIns="0" tIns="0" rIns="0" bIns="0" rtlCol="0" anchor="t">
            <a:normAutofit/>
          </a:bodyPr>
          <a:lstStyle/>
          <a:p>
            <a:pPr indent="0" marL="0">
              <a:buNone/>
            </a:pPr>
            <a:r>
              <a:rPr lang="en-US" sz="1150" b="1" dirty="0">
                <a:solidFill>
                  <a:srgbClr val="1A1A2E"/>
                </a:solidFill>
                <a:latin typeface="Calibri" pitchFamily="34" charset="0"/>
                <a:ea typeface="Calibri" pitchFamily="34" charset="-122"/>
                <a:cs typeface="Calibri" pitchFamily="34" charset="-120"/>
              </a:rPr>
              <a:t>Azure</a:t>
            </a:r>
            <a:endParaRPr lang="en-US" sz="1150" dirty="0"/>
          </a:p>
          <a:p>
            <a:pPr indent="0" marL="0">
              <a:buNone/>
            </a:pPr>
            <a:r>
              <a:rPr lang="en-US" sz="1050" dirty="0">
                <a:solidFill>
                  <a:srgbClr val="64748B"/>
                </a:solidFill>
                <a:latin typeface="Calibri" pitchFamily="34" charset="0"/>
                <a:ea typeface="Calibri" pitchFamily="34" charset="-122"/>
                <a:cs typeface="Calibri" pitchFamily="34" charset="-120"/>
              </a:rPr>
              <a:t>Databricks: Unified analytics and governance</a:t>
            </a:r>
            <a:endParaRPr lang="en-US" sz="1150" dirty="0"/>
          </a:p>
        </p:txBody>
      </p:sp>
      <p:sp>
        <p:nvSpPr>
          <p:cNvPr id="32" name="Shape 25"/>
          <p:cNvSpPr/>
          <p:nvPr/>
        </p:nvSpPr>
        <p:spPr>
          <a:xfrm>
            <a:off x="6096000" y="3131820"/>
            <a:ext cx="2590800" cy="1120140"/>
          </a:xfrm>
          <a:prstGeom prst="rect">
            <a:avLst/>
          </a:prstGeom>
          <a:solidFill>
            <a:srgbClr val="E2E8F0"/>
          </a:solidFill>
          <a:ln w="12700">
            <a:solidFill>
              <a:srgbClr val="E2E8F0"/>
            </a:solidFill>
            <a:prstDash val="solid"/>
          </a:ln>
          <a:effectLst>
            <a:outerShdw sx="100000" sy="100000" kx="0" ky="0" algn="bl" rotWithShape="0" blurRad="127000" dist="38100" dir="2700000">
              <a:srgbClr val="000000">
                <a:alpha val="7000"/>
              </a:srgbClr>
            </a:outerShdw>
          </a:effectLst>
        </p:spPr>
      </p:sp>
      <p:sp>
        <p:nvSpPr>
          <p:cNvPr id="33" name="Shape 26"/>
          <p:cNvSpPr/>
          <p:nvPr/>
        </p:nvSpPr>
        <p:spPr>
          <a:xfrm>
            <a:off x="6096000" y="3131820"/>
            <a:ext cx="54864" cy="1120140"/>
          </a:xfrm>
          <a:prstGeom prst="rect">
            <a:avLst/>
          </a:prstGeom>
          <a:solidFill>
            <a:srgbClr val="059669"/>
          </a:solidFill>
          <a:ln w="12700">
            <a:solidFill>
              <a:srgbClr val="059669"/>
            </a:solidFill>
            <a:prstDash val="solid"/>
          </a:ln>
        </p:spPr>
      </p:sp>
      <p:sp>
        <p:nvSpPr>
          <p:cNvPr id="34" name="Shape 27"/>
          <p:cNvSpPr/>
          <p:nvPr/>
        </p:nvSpPr>
        <p:spPr>
          <a:xfrm>
            <a:off x="6278880" y="3296412"/>
            <a:ext cx="329184" cy="329184"/>
          </a:xfrm>
          <a:prstGeom prst="ellipse">
            <a:avLst/>
          </a:prstGeom>
          <a:solidFill>
            <a:srgbClr val="059669"/>
          </a:solidFill>
          <a:ln w="12700">
            <a:solidFill>
              <a:srgbClr val="059669"/>
            </a:solidFill>
            <a:prstDash val="solid"/>
          </a:ln>
        </p:spPr>
      </p:sp>
      <p:pic>
        <p:nvPicPr>
          <p:cNvPr id="35" name="Image 5" descr="preencoded.png">    </p:cNvPr>
          <p:cNvPicPr>
            <a:picLocks noChangeAspect="1"/>
          </p:cNvPicPr>
          <p:nvPr/>
        </p:nvPicPr>
        <p:blipFill>
          <a:blip r:embed="rId6"/>
          <a:stretch>
            <a:fillRect/>
          </a:stretch>
        </p:blipFill>
        <p:spPr>
          <a:xfrm>
            <a:off x="6315456" y="3332988"/>
            <a:ext cx="256032" cy="256032"/>
          </a:xfrm>
          <a:prstGeom prst="rect">
            <a:avLst/>
          </a:prstGeom>
        </p:spPr>
      </p:pic>
      <p:sp>
        <p:nvSpPr>
          <p:cNvPr id="36" name="Text 28"/>
          <p:cNvSpPr/>
          <p:nvPr/>
        </p:nvSpPr>
        <p:spPr>
          <a:xfrm>
            <a:off x="6690360" y="3268980"/>
            <a:ext cx="1859280" cy="845820"/>
          </a:xfrm>
          <a:prstGeom prst="rect">
            <a:avLst/>
          </a:prstGeom>
          <a:noFill/>
          <a:ln/>
        </p:spPr>
        <p:txBody>
          <a:bodyPr wrap="square" lIns="0" tIns="0" rIns="0" bIns="0" rtlCol="0" anchor="t">
            <a:normAutofit/>
          </a:bodyPr>
          <a:lstStyle/>
          <a:p>
            <a:pPr indent="0" marL="0">
              <a:buNone/>
            </a:pPr>
            <a:r>
              <a:rPr lang="en-US" sz="1400" b="1" dirty="0">
                <a:solidFill>
                  <a:srgbClr val="1A1A2E"/>
                </a:solidFill>
                <a:latin typeface="Calibri" pitchFamily="34" charset="0"/>
                <a:ea typeface="Calibri" pitchFamily="34" charset="-122"/>
                <a:cs typeface="Calibri" pitchFamily="34" charset="-120"/>
              </a:rPr>
              <a:t>CMDB:</a:t>
            </a:r>
            <a:endParaRPr lang="en-US" sz="1400" dirty="0"/>
          </a:p>
          <a:p>
            <a:pPr indent="0" marL="0">
              <a:buNone/>
            </a:pPr>
            <a:r>
              <a:rPr lang="en-US" sz="1300" dirty="0">
                <a:solidFill>
                  <a:srgbClr val="64748B"/>
                </a:solidFill>
                <a:latin typeface="Calibri" pitchFamily="34" charset="0"/>
                <a:ea typeface="Calibri" pitchFamily="34" charset="-122"/>
                <a:cs typeface="Calibri" pitchFamily="34" charset="-120"/>
              </a:rPr>
              <a:t>Configuration and asset management</a:t>
            </a:r>
            <a:endParaRPr lang="en-US" sz="1400" dirty="0"/>
          </a:p>
        </p:txBody>
      </p:sp>
      <p:sp>
        <p:nvSpPr>
          <p:cNvPr id="37" name="Text 29"/>
          <p:cNvSpPr/>
          <p:nvPr/>
        </p:nvSpPr>
        <p:spPr>
          <a:xfrm>
            <a:off x="8229600" y="4828032"/>
            <a:ext cx="731520" cy="182880"/>
          </a:xfrm>
          <a:prstGeom prst="rect">
            <a:avLst/>
          </a:prstGeom>
          <a:noFill/>
          <a:ln/>
        </p:spPr>
        <p:txBody>
          <a:bodyPr wrap="square" rtlCol="0" anchor="ctr"/>
          <a:lstStyle/>
          <a:p>
            <a:pPr algn="r" indent="0" marL="0">
              <a:buNone/>
            </a:pPr>
            <a:r>
              <a:rPr lang="en-US" sz="1000" dirty="0">
                <a:solidFill>
                  <a:srgbClr val="047857"/>
                </a:solidFill>
                <a:latin typeface="Calibri" pitchFamily="34" charset="0"/>
                <a:ea typeface="Calibri" pitchFamily="34" charset="-122"/>
                <a:cs typeface="Calibri" pitchFamily="34" charset="-120"/>
              </a:rPr>
              <a:t>8 / 14</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114800" y="91440"/>
            <a:ext cx="4572000" cy="3200400"/>
          </a:xfrm>
          <a:prstGeom prst="rect">
            <a:avLst/>
          </a:prstGeom>
          <a:noFill/>
          <a:ln/>
        </p:spPr>
        <p:txBody>
          <a:bodyPr wrap="square" lIns="0" tIns="0" rIns="0" bIns="0" rtlCol="0" anchor="ctr"/>
          <a:lstStyle/>
          <a:p>
            <a:pPr algn="r" indent="0" marL="0">
              <a:buNone/>
            </a:pPr>
            <a:r>
              <a:rPr lang="en-US" sz="16000" b="1" dirty="0">
                <a:solidFill>
                  <a:srgbClr val="059669">
                    <a:alpha val="15000"/>
                  </a:srgbClr>
                </a:solidFill>
                <a:latin typeface="Calibri" pitchFamily="34" charset="0"/>
                <a:ea typeface="Calibri" pitchFamily="34" charset="-122"/>
                <a:cs typeface="Calibri" pitchFamily="34" charset="-120"/>
              </a:rPr>
              <a:t>09</a:t>
            </a:r>
            <a:endParaRPr lang="en-US" sz="16000" dirty="0"/>
          </a:p>
        </p:txBody>
      </p:sp>
      <p:sp>
        <p:nvSpPr>
          <p:cNvPr id="3" name="Shape 1"/>
          <p:cNvSpPr/>
          <p:nvPr/>
        </p:nvSpPr>
        <p:spPr>
          <a:xfrm>
            <a:off x="548640" y="1097280"/>
            <a:ext cx="54864" cy="2560320"/>
          </a:xfrm>
          <a:prstGeom prst="rect">
            <a:avLst/>
          </a:prstGeom>
          <a:solidFill>
            <a:srgbClr val="059669"/>
          </a:solidFill>
          <a:ln/>
        </p:spPr>
      </p:sp>
      <p:sp>
        <p:nvSpPr>
          <p:cNvPr id="4" name="Text 2"/>
          <p:cNvSpPr/>
          <p:nvPr/>
        </p:nvSpPr>
        <p:spPr>
          <a:xfrm>
            <a:off x="822960" y="1188720"/>
            <a:ext cx="7772400" cy="320040"/>
          </a:xfrm>
          <a:prstGeom prst="rect">
            <a:avLst/>
          </a:prstGeom>
          <a:noFill/>
          <a:ln/>
        </p:spPr>
        <p:txBody>
          <a:bodyPr wrap="square" lIns="0" tIns="0" rIns="0" bIns="0" rtlCol="0" anchor="ctr"/>
          <a:lstStyle/>
          <a:p>
            <a:pPr algn="l" indent="0" marL="0">
              <a:buNone/>
            </a:pPr>
            <a:r>
              <a:rPr lang="en-US" sz="1100" b="1" spc="300" kern="0" dirty="0">
                <a:solidFill>
                  <a:srgbClr val="047857"/>
                </a:solidFill>
                <a:latin typeface="Calibri" pitchFamily="34" charset="0"/>
                <a:ea typeface="Calibri" pitchFamily="34" charset="-122"/>
                <a:cs typeface="Calibri" pitchFamily="34" charset="-120"/>
              </a:rPr>
              <a:t>SECTION</a:t>
            </a:r>
            <a:endParaRPr lang="en-US" sz="1100" dirty="0"/>
          </a:p>
        </p:txBody>
      </p:sp>
      <p:sp>
        <p:nvSpPr>
          <p:cNvPr id="5" name="Text 3"/>
          <p:cNvSpPr/>
          <p:nvPr/>
        </p:nvSpPr>
        <p:spPr>
          <a:xfrm>
            <a:off x="822960" y="1600200"/>
            <a:ext cx="7772400" cy="1645920"/>
          </a:xfrm>
          <a:prstGeom prst="rect">
            <a:avLst/>
          </a:prstGeom>
          <a:noFill/>
          <a:ln/>
        </p:spPr>
        <p:txBody>
          <a:bodyPr wrap="square" lIns="0" tIns="0" rIns="0" bIns="0" rtlCol="0" anchor="t"/>
          <a:lstStyle/>
          <a:p>
            <a:pPr algn="l" indent="0" marL="0">
              <a:buNone/>
            </a:pPr>
            <a:r>
              <a:rPr lang="en-US" sz="2600" b="1" spc="200" kern="0" dirty="0">
                <a:solidFill>
                  <a:srgbClr val="F8F9FA"/>
                </a:solidFill>
                <a:latin typeface="Calibri" pitchFamily="34" charset="0"/>
                <a:ea typeface="Calibri" pitchFamily="34" charset="-122"/>
                <a:cs typeface="Calibri" pitchFamily="34" charset="-120"/>
              </a:rPr>
              <a:t>PROOF: A BENCHMARK MIRRORING GENPACT'S REALITY</a:t>
            </a:r>
            <a:endParaRPr lang="en-US" sz="2600" dirty="0"/>
          </a:p>
        </p:txBody>
      </p:sp>
      <p:sp>
        <p:nvSpPr>
          <p:cNvPr id="6" name="Text 4"/>
          <p:cNvSpPr/>
          <p:nvPr/>
        </p:nvSpPr>
        <p:spPr>
          <a:xfrm>
            <a:off x="822960" y="3337560"/>
            <a:ext cx="7315200" cy="548640"/>
          </a:xfrm>
          <a:prstGeom prst="rect">
            <a:avLst/>
          </a:prstGeom>
          <a:noFill/>
          <a:ln/>
        </p:spPr>
        <p:txBody>
          <a:bodyPr wrap="square" lIns="0" tIns="0" rIns="0" bIns="0" rtlCol="0" anchor="ctr"/>
          <a:lstStyle/>
          <a:p>
            <a:pPr algn="l" indent="0" marL="0">
              <a:buNone/>
            </a:pPr>
            <a:r>
              <a:rPr lang="en-US" sz="1400" i="1" dirty="0">
                <a:solidFill>
                  <a:srgbClr val="C8D8E8"/>
                </a:solidFill>
                <a:latin typeface="Calibri Light" pitchFamily="34" charset="0"/>
                <a:ea typeface="Calibri Light" pitchFamily="34" charset="-122"/>
                <a:cs typeface="Calibri Light" pitchFamily="34" charset="-120"/>
              </a:rPr>
              <a:t>A real-world case study with outcomes that speak directly to Genpact's needs.</a:t>
            </a:r>
            <a:endParaRPr lang="en-US" sz="1400" dirty="0"/>
          </a:p>
        </p:txBody>
      </p:sp>
      <p:sp>
        <p:nvSpPr>
          <p:cNvPr id="7" name="Text 5"/>
          <p:cNvSpPr/>
          <p:nvPr/>
        </p:nvSpPr>
        <p:spPr>
          <a:xfrm>
            <a:off x="8229600" y="4828032"/>
            <a:ext cx="731520" cy="182880"/>
          </a:xfrm>
          <a:prstGeom prst="rect">
            <a:avLst/>
          </a:prstGeom>
          <a:noFill/>
          <a:ln/>
        </p:spPr>
        <p:txBody>
          <a:bodyPr wrap="square" rtlCol="0" anchor="ctr"/>
          <a:lstStyle/>
          <a:p>
            <a:pPr algn="r" indent="0" marL="0">
              <a:buNone/>
            </a:pPr>
            <a:r>
              <a:rPr lang="en-US" sz="1000" dirty="0">
                <a:solidFill>
                  <a:srgbClr val="C8D8E8"/>
                </a:solidFill>
                <a:latin typeface="Calibri" pitchFamily="34" charset="0"/>
                <a:ea typeface="Calibri" pitchFamily="34" charset="-122"/>
                <a:cs typeface="Calibri" pitchFamily="34" charset="-120"/>
              </a:rPr>
              <a:t>9 / 14</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6858000" y="2743200"/>
            <a:ext cx="3657600" cy="3657600"/>
          </a:xfrm>
          <a:prstGeom prst="ellipse">
            <a:avLst/>
          </a:prstGeom>
          <a:solidFill>
            <a:srgbClr val="059669">
              <a:alpha val="6000"/>
            </a:srgbClr>
          </a:solidFill>
          <a:ln w="12700">
            <a:solidFill>
              <a:srgbClr val="059669"/>
            </a:solidFill>
            <a:prstDash val="solid"/>
          </a:ln>
        </p:spPr>
      </p:sp>
      <p:sp>
        <p:nvSpPr>
          <p:cNvPr id="3" name="Shape 1"/>
          <p:cNvSpPr/>
          <p:nvPr/>
        </p:nvSpPr>
        <p:spPr>
          <a:xfrm>
            <a:off x="0" y="0"/>
            <a:ext cx="9144000" cy="475488"/>
          </a:xfrm>
          <a:prstGeom prst="rect">
            <a:avLst/>
          </a:prstGeom>
          <a:solidFill>
            <a:srgbClr val="0D1B2A"/>
          </a:solidFill>
          <a:ln/>
        </p:spPr>
      </p:sp>
      <p:sp>
        <p:nvSpPr>
          <p:cNvPr id="4" name="Text 2"/>
          <p:cNvSpPr/>
          <p:nvPr/>
        </p:nvSpPr>
        <p:spPr>
          <a:xfrm>
            <a:off x="365760" y="0"/>
            <a:ext cx="8412480" cy="475488"/>
          </a:xfrm>
          <a:prstGeom prst="rect">
            <a:avLst/>
          </a:prstGeom>
          <a:noFill/>
          <a:ln/>
        </p:spPr>
        <p:txBody>
          <a:bodyPr wrap="square" lIns="0" tIns="0" rIns="0" bIns="0" rtlCol="0" anchor="ctr"/>
          <a:lstStyle/>
          <a:p>
            <a:pPr algn="l" indent="0" marL="0">
              <a:buNone/>
            </a:pPr>
            <a:r>
              <a:rPr lang="en-US" sz="1100" b="1" spc="300" kern="0" dirty="0">
                <a:solidFill>
                  <a:srgbClr val="047857"/>
                </a:solidFill>
                <a:latin typeface="Calibri" pitchFamily="34" charset="0"/>
                <a:ea typeface="Calibri" pitchFamily="34" charset="-122"/>
                <a:cs typeface="Calibri" pitchFamily="34" charset="-120"/>
              </a:rPr>
              <a:t>CASE STUDY</a:t>
            </a:r>
            <a:endParaRPr lang="en-US" sz="1100" dirty="0"/>
          </a:p>
        </p:txBody>
      </p:sp>
      <p:sp>
        <p:nvSpPr>
          <p:cNvPr id="5" name="Text 3"/>
          <p:cNvSpPr/>
          <p:nvPr/>
        </p:nvSpPr>
        <p:spPr>
          <a:xfrm>
            <a:off x="457200" y="548640"/>
            <a:ext cx="8229600" cy="777240"/>
          </a:xfrm>
          <a:prstGeom prst="rect">
            <a:avLst/>
          </a:prstGeom>
          <a:noFill/>
          <a:ln/>
        </p:spPr>
        <p:txBody>
          <a:bodyPr wrap="square" lIns="0" tIns="0" rIns="0" bIns="0" rtlCol="0" anchor="t">
            <a:normAutofit/>
          </a:bodyPr>
          <a:lstStyle/>
          <a:p>
            <a:pPr algn="l" indent="0" marL="0">
              <a:buNone/>
            </a:pPr>
            <a:r>
              <a:rPr lang="en-US" sz="2100" b="1" dirty="0">
                <a:solidFill>
                  <a:srgbClr val="1A1A2E"/>
                </a:solidFill>
                <a:latin typeface="Cambria" pitchFamily="34" charset="0"/>
                <a:ea typeface="Cambria" pitchFamily="34" charset="-122"/>
                <a:cs typeface="Cambria" pitchFamily="34" charset="-120"/>
              </a:rPr>
              <a:t>78% Faster Regression Cycles — Proof for Genpact's Bottlenecks</a:t>
            </a:r>
            <a:endParaRPr lang="en-US" sz="2100" dirty="0"/>
          </a:p>
        </p:txBody>
      </p:sp>
      <p:sp>
        <p:nvSpPr>
          <p:cNvPr id="6" name="Shape 4"/>
          <p:cNvSpPr/>
          <p:nvPr/>
        </p:nvSpPr>
        <p:spPr>
          <a:xfrm>
            <a:off x="457200" y="1417320"/>
            <a:ext cx="8229600" cy="1234440"/>
          </a:xfrm>
          <a:prstGeom prst="rect">
            <a:avLst/>
          </a:prstGeom>
          <a:solidFill>
            <a:srgbClr val="E2E8F0"/>
          </a:solidFill>
          <a:ln w="12700">
            <a:solidFill>
              <a:srgbClr val="E2E8F0"/>
            </a:solidFill>
            <a:prstDash val="solid"/>
          </a:ln>
          <a:effectLst>
            <a:outerShdw sx="100000" sy="100000" kx="0" ky="0" algn="bl" rotWithShape="0" blurRad="127000" dist="38100" dir="2700000">
              <a:srgbClr val="000000">
                <a:alpha val="7000"/>
              </a:srgbClr>
            </a:outerShdw>
          </a:effectLst>
        </p:spPr>
      </p:sp>
      <p:sp>
        <p:nvSpPr>
          <p:cNvPr id="7" name="Shape 5"/>
          <p:cNvSpPr/>
          <p:nvPr/>
        </p:nvSpPr>
        <p:spPr>
          <a:xfrm>
            <a:off x="457200" y="1417320"/>
            <a:ext cx="8229600" cy="54864"/>
          </a:xfrm>
          <a:prstGeom prst="rect">
            <a:avLst/>
          </a:prstGeom>
          <a:solidFill>
            <a:srgbClr val="E8B84B"/>
          </a:solidFill>
          <a:ln w="12700">
            <a:solidFill>
              <a:srgbClr val="E8B84B"/>
            </a:solidFill>
            <a:prstDash val="solid"/>
          </a:ln>
        </p:spPr>
      </p:sp>
      <p:sp>
        <p:nvSpPr>
          <p:cNvPr id="8" name="Text 6"/>
          <p:cNvSpPr/>
          <p:nvPr/>
        </p:nvSpPr>
        <p:spPr>
          <a:xfrm>
            <a:off x="685800" y="1508760"/>
            <a:ext cx="7772400" cy="1051560"/>
          </a:xfrm>
          <a:prstGeom prst="rect">
            <a:avLst/>
          </a:prstGeom>
          <a:noFill/>
          <a:ln/>
        </p:spPr>
        <p:txBody>
          <a:bodyPr wrap="square" rtlCol="0" anchor="ctr">
            <a:normAutofit/>
          </a:bodyPr>
          <a:lstStyle/>
          <a:p>
            <a:pPr indent="0" marL="0">
              <a:buNone/>
            </a:pPr>
            <a:r>
              <a:rPr lang="en-US" sz="1500" i="1" dirty="0">
                <a:solidFill>
                  <a:srgbClr val="1A1A2E"/>
                </a:solidFill>
                <a:latin typeface="Cambria" pitchFamily="34" charset="0"/>
                <a:ea typeface="Cambria" pitchFamily="34" charset="-122"/>
                <a:cs typeface="Cambria" pitchFamily="34" charset="-120"/>
              </a:rPr>
              <a:t>"A benchmark engagement where the same Azure Databricks lakehouse and governed AI/ML platform we propose for Genpact replaced rigid legacy infrastructure."</a:t>
            </a:r>
            <a:endParaRPr lang="en-US" sz="1500" dirty="0"/>
          </a:p>
        </p:txBody>
      </p:sp>
      <p:sp>
        <p:nvSpPr>
          <p:cNvPr id="9" name="Shape 7"/>
          <p:cNvSpPr/>
          <p:nvPr/>
        </p:nvSpPr>
        <p:spPr>
          <a:xfrm>
            <a:off x="457200" y="2788920"/>
            <a:ext cx="3931920" cy="804672"/>
          </a:xfrm>
          <a:prstGeom prst="rect">
            <a:avLst/>
          </a:prstGeom>
          <a:solidFill>
            <a:srgbClr val="E2E8F0"/>
          </a:solidFill>
          <a:ln w="12700">
            <a:solidFill>
              <a:srgbClr val="E2E8F0"/>
            </a:solidFill>
            <a:prstDash val="solid"/>
          </a:ln>
          <a:effectLst>
            <a:outerShdw sx="100000" sy="100000" kx="0" ky="0" algn="bl" rotWithShape="0" blurRad="127000" dist="38100" dir="2700000">
              <a:srgbClr val="000000">
                <a:alpha val="6000"/>
              </a:srgbClr>
            </a:outerShdw>
          </a:effectLst>
        </p:spPr>
      </p:sp>
      <p:sp>
        <p:nvSpPr>
          <p:cNvPr id="10" name="Shape 8"/>
          <p:cNvSpPr/>
          <p:nvPr/>
        </p:nvSpPr>
        <p:spPr>
          <a:xfrm>
            <a:off x="457200" y="2788920"/>
            <a:ext cx="54864" cy="804672"/>
          </a:xfrm>
          <a:prstGeom prst="rect">
            <a:avLst/>
          </a:prstGeom>
          <a:solidFill>
            <a:srgbClr val="059669"/>
          </a:solidFill>
          <a:ln w="12700">
            <a:solidFill>
              <a:srgbClr val="059669"/>
            </a:solidFill>
            <a:prstDash val="solid"/>
          </a:ln>
        </p:spPr>
      </p:sp>
      <p:pic>
        <p:nvPicPr>
          <p:cNvPr id="11" name="Image 0" descr="preencoded.png">    </p:cNvPr>
          <p:cNvPicPr>
            <a:picLocks noChangeAspect="1"/>
          </p:cNvPicPr>
          <p:nvPr/>
        </p:nvPicPr>
        <p:blipFill>
          <a:blip r:embed="rId1"/>
          <a:stretch>
            <a:fillRect/>
          </a:stretch>
        </p:blipFill>
        <p:spPr>
          <a:xfrm>
            <a:off x="621792" y="2990088"/>
            <a:ext cx="329184" cy="329184"/>
          </a:xfrm>
          <a:prstGeom prst="rect">
            <a:avLst/>
          </a:prstGeom>
        </p:spPr>
      </p:pic>
      <p:sp>
        <p:nvSpPr>
          <p:cNvPr id="12" name="Text 9"/>
          <p:cNvSpPr/>
          <p:nvPr/>
        </p:nvSpPr>
        <p:spPr>
          <a:xfrm>
            <a:off x="1060704" y="2788920"/>
            <a:ext cx="3273552" cy="804672"/>
          </a:xfrm>
          <a:prstGeom prst="rect">
            <a:avLst/>
          </a:prstGeom>
          <a:noFill/>
          <a:ln/>
        </p:spPr>
        <p:txBody>
          <a:bodyPr wrap="square" lIns="0" tIns="0" rIns="0" bIns="0" rtlCol="0" anchor="ctr">
            <a:normAutofit/>
          </a:bodyPr>
          <a:lstStyle/>
          <a:p>
            <a:pPr indent="0" marL="0">
              <a:buNone/>
            </a:pPr>
            <a:r>
              <a:rPr lang="en-US" sz="1100" dirty="0">
                <a:solidFill>
                  <a:srgbClr val="64748B"/>
                </a:solidFill>
                <a:latin typeface="Calibri" pitchFamily="34" charset="0"/>
                <a:ea typeface="Calibri" pitchFamily="34" charset="-122"/>
                <a:cs typeface="Calibri" pitchFamily="34" charset="-120"/>
              </a:rPr>
              <a:t>Built Bronze/Silver/Gold medallion lakehouse on Azure Databricks — the exact architecture we're recommending to dissolve Genpact's fragmented data silos</a:t>
            </a:r>
            <a:endParaRPr lang="en-US" sz="1100" dirty="0"/>
          </a:p>
        </p:txBody>
      </p:sp>
      <p:sp>
        <p:nvSpPr>
          <p:cNvPr id="13" name="Shape 10"/>
          <p:cNvSpPr/>
          <p:nvPr/>
        </p:nvSpPr>
        <p:spPr>
          <a:xfrm>
            <a:off x="4754880" y="2788920"/>
            <a:ext cx="3931920" cy="804672"/>
          </a:xfrm>
          <a:prstGeom prst="rect">
            <a:avLst/>
          </a:prstGeom>
          <a:solidFill>
            <a:srgbClr val="E2E8F0"/>
          </a:solidFill>
          <a:ln w="12700">
            <a:solidFill>
              <a:srgbClr val="E2E8F0"/>
            </a:solidFill>
            <a:prstDash val="solid"/>
          </a:ln>
          <a:effectLst>
            <a:outerShdw sx="100000" sy="100000" kx="0" ky="0" algn="bl" rotWithShape="0" blurRad="127000" dist="38100" dir="2700000">
              <a:srgbClr val="000000">
                <a:alpha val="6000"/>
              </a:srgbClr>
            </a:outerShdw>
          </a:effectLst>
        </p:spPr>
      </p:sp>
      <p:sp>
        <p:nvSpPr>
          <p:cNvPr id="14" name="Shape 11"/>
          <p:cNvSpPr/>
          <p:nvPr/>
        </p:nvSpPr>
        <p:spPr>
          <a:xfrm>
            <a:off x="4754880" y="2788920"/>
            <a:ext cx="54864" cy="804672"/>
          </a:xfrm>
          <a:prstGeom prst="rect">
            <a:avLst/>
          </a:prstGeom>
          <a:solidFill>
            <a:srgbClr val="059669"/>
          </a:solidFill>
          <a:ln w="12700">
            <a:solidFill>
              <a:srgbClr val="059669"/>
            </a:solidFill>
            <a:prstDash val="solid"/>
          </a:ln>
        </p:spPr>
      </p:sp>
      <p:pic>
        <p:nvPicPr>
          <p:cNvPr id="15" name="Image 1" descr="preencoded.png">    </p:cNvPr>
          <p:cNvPicPr>
            <a:picLocks noChangeAspect="1"/>
          </p:cNvPicPr>
          <p:nvPr/>
        </p:nvPicPr>
        <p:blipFill>
          <a:blip r:embed="rId2"/>
          <a:stretch>
            <a:fillRect/>
          </a:stretch>
        </p:blipFill>
        <p:spPr>
          <a:xfrm>
            <a:off x="4919472" y="2990088"/>
            <a:ext cx="329184" cy="329184"/>
          </a:xfrm>
          <a:prstGeom prst="rect">
            <a:avLst/>
          </a:prstGeom>
        </p:spPr>
      </p:pic>
      <p:sp>
        <p:nvSpPr>
          <p:cNvPr id="16" name="Text 12"/>
          <p:cNvSpPr/>
          <p:nvPr/>
        </p:nvSpPr>
        <p:spPr>
          <a:xfrm>
            <a:off x="5358384" y="2788920"/>
            <a:ext cx="3273552" cy="804672"/>
          </a:xfrm>
          <a:prstGeom prst="rect">
            <a:avLst/>
          </a:prstGeom>
          <a:noFill/>
          <a:ln/>
        </p:spPr>
        <p:txBody>
          <a:bodyPr wrap="square" lIns="0" tIns="0" rIns="0" bIns="0" rtlCol="0" anchor="ctr">
            <a:normAutofit/>
          </a:bodyPr>
          <a:lstStyle/>
          <a:p>
            <a:pPr indent="0" marL="0">
              <a:buNone/>
            </a:pPr>
            <a:r>
              <a:rPr lang="en-US" sz="1100" dirty="0">
                <a:solidFill>
                  <a:srgbClr val="64748B"/>
                </a:solidFill>
                <a:latin typeface="Calibri" pitchFamily="34" charset="0"/>
                <a:ea typeface="Calibri" pitchFamily="34" charset="-122"/>
                <a:cs typeface="Calibri" pitchFamily="34" charset="-120"/>
              </a:rPr>
              <a:t>Consolidated fragmented AI/ML lifecycle tools into a single governed platform, eliminating the tool sprawl that currently throttles Genpact's AI scalability</a:t>
            </a:r>
            <a:endParaRPr lang="en-US" sz="1100" dirty="0"/>
          </a:p>
        </p:txBody>
      </p:sp>
      <p:sp>
        <p:nvSpPr>
          <p:cNvPr id="17" name="Shape 13"/>
          <p:cNvSpPr/>
          <p:nvPr/>
        </p:nvSpPr>
        <p:spPr>
          <a:xfrm>
            <a:off x="457200" y="3611880"/>
            <a:ext cx="3931920" cy="804672"/>
          </a:xfrm>
          <a:prstGeom prst="rect">
            <a:avLst/>
          </a:prstGeom>
          <a:solidFill>
            <a:srgbClr val="E2E8F0"/>
          </a:solidFill>
          <a:ln w="12700">
            <a:solidFill>
              <a:srgbClr val="E2E8F0"/>
            </a:solidFill>
            <a:prstDash val="solid"/>
          </a:ln>
          <a:effectLst>
            <a:outerShdw sx="100000" sy="100000" kx="0" ky="0" algn="bl" rotWithShape="0" blurRad="127000" dist="38100" dir="2700000">
              <a:srgbClr val="000000">
                <a:alpha val="6000"/>
              </a:srgbClr>
            </a:outerShdw>
          </a:effectLst>
        </p:spPr>
      </p:sp>
      <p:sp>
        <p:nvSpPr>
          <p:cNvPr id="18" name="Shape 14"/>
          <p:cNvSpPr/>
          <p:nvPr/>
        </p:nvSpPr>
        <p:spPr>
          <a:xfrm>
            <a:off x="457200" y="3611880"/>
            <a:ext cx="54864" cy="804672"/>
          </a:xfrm>
          <a:prstGeom prst="rect">
            <a:avLst/>
          </a:prstGeom>
          <a:solidFill>
            <a:srgbClr val="059669"/>
          </a:solidFill>
          <a:ln w="12700">
            <a:solidFill>
              <a:srgbClr val="059669"/>
            </a:solidFill>
            <a:prstDash val="solid"/>
          </a:ln>
        </p:spPr>
      </p:sp>
      <p:pic>
        <p:nvPicPr>
          <p:cNvPr id="19" name="Image 2" descr="preencoded.png">    </p:cNvPr>
          <p:cNvPicPr>
            <a:picLocks noChangeAspect="1"/>
          </p:cNvPicPr>
          <p:nvPr/>
        </p:nvPicPr>
        <p:blipFill>
          <a:blip r:embed="rId3"/>
          <a:stretch>
            <a:fillRect/>
          </a:stretch>
        </p:blipFill>
        <p:spPr>
          <a:xfrm>
            <a:off x="621792" y="3813048"/>
            <a:ext cx="329184" cy="329184"/>
          </a:xfrm>
          <a:prstGeom prst="rect">
            <a:avLst/>
          </a:prstGeom>
        </p:spPr>
      </p:pic>
      <p:sp>
        <p:nvSpPr>
          <p:cNvPr id="20" name="Text 15"/>
          <p:cNvSpPr/>
          <p:nvPr/>
        </p:nvSpPr>
        <p:spPr>
          <a:xfrm>
            <a:off x="1060704" y="3611880"/>
            <a:ext cx="3273552" cy="804672"/>
          </a:xfrm>
          <a:prstGeom prst="rect">
            <a:avLst/>
          </a:prstGeom>
          <a:noFill/>
          <a:ln/>
        </p:spPr>
        <p:txBody>
          <a:bodyPr wrap="square" lIns="0" tIns="0" rIns="0" bIns="0" rtlCol="0" anchor="ctr">
            <a:normAutofit/>
          </a:bodyPr>
          <a:lstStyle/>
          <a:p>
            <a:pPr indent="0" marL="0">
              <a:buNone/>
            </a:pPr>
            <a:r>
              <a:rPr lang="en-US" sz="1100" dirty="0">
                <a:solidFill>
                  <a:srgbClr val="64748B"/>
                </a:solidFill>
                <a:latin typeface="Calibri" pitchFamily="34" charset="0"/>
                <a:ea typeface="Calibri" pitchFamily="34" charset="-122"/>
                <a:cs typeface="Calibri" pitchFamily="34" charset="-120"/>
              </a:rPr>
              <a:t>Delivered 78% faster regression cycles by replacing legacy warehouse bottlenecks with unified, governed data pipelines that accelerate every downstream process</a:t>
            </a:r>
            <a:endParaRPr lang="en-US" sz="1100" dirty="0"/>
          </a:p>
        </p:txBody>
      </p:sp>
      <p:sp>
        <p:nvSpPr>
          <p:cNvPr id="21" name="Shape 16"/>
          <p:cNvSpPr/>
          <p:nvPr/>
        </p:nvSpPr>
        <p:spPr>
          <a:xfrm>
            <a:off x="4754880" y="3611880"/>
            <a:ext cx="3931920" cy="804672"/>
          </a:xfrm>
          <a:prstGeom prst="rect">
            <a:avLst/>
          </a:prstGeom>
          <a:solidFill>
            <a:srgbClr val="E2E8F0"/>
          </a:solidFill>
          <a:ln w="12700">
            <a:solidFill>
              <a:srgbClr val="E2E8F0"/>
            </a:solidFill>
            <a:prstDash val="solid"/>
          </a:ln>
          <a:effectLst>
            <a:outerShdw sx="100000" sy="100000" kx="0" ky="0" algn="bl" rotWithShape="0" blurRad="127000" dist="38100" dir="2700000">
              <a:srgbClr val="000000">
                <a:alpha val="6000"/>
              </a:srgbClr>
            </a:outerShdw>
          </a:effectLst>
        </p:spPr>
      </p:sp>
      <p:sp>
        <p:nvSpPr>
          <p:cNvPr id="22" name="Shape 17"/>
          <p:cNvSpPr/>
          <p:nvPr/>
        </p:nvSpPr>
        <p:spPr>
          <a:xfrm>
            <a:off x="4754880" y="3611880"/>
            <a:ext cx="54864" cy="804672"/>
          </a:xfrm>
          <a:prstGeom prst="rect">
            <a:avLst/>
          </a:prstGeom>
          <a:solidFill>
            <a:srgbClr val="059669"/>
          </a:solidFill>
          <a:ln w="12700">
            <a:solidFill>
              <a:srgbClr val="059669"/>
            </a:solidFill>
            <a:prstDash val="solid"/>
          </a:ln>
        </p:spPr>
      </p:sp>
      <p:pic>
        <p:nvPicPr>
          <p:cNvPr id="23" name="Image 3" descr="preencoded.png">    </p:cNvPr>
          <p:cNvPicPr>
            <a:picLocks noChangeAspect="1"/>
          </p:cNvPicPr>
          <p:nvPr/>
        </p:nvPicPr>
        <p:blipFill>
          <a:blip r:embed="rId4"/>
          <a:stretch>
            <a:fillRect/>
          </a:stretch>
        </p:blipFill>
        <p:spPr>
          <a:xfrm>
            <a:off x="4919472" y="3813048"/>
            <a:ext cx="329184" cy="329184"/>
          </a:xfrm>
          <a:prstGeom prst="rect">
            <a:avLst/>
          </a:prstGeom>
        </p:spPr>
      </p:pic>
      <p:sp>
        <p:nvSpPr>
          <p:cNvPr id="24" name="Text 18"/>
          <p:cNvSpPr/>
          <p:nvPr/>
        </p:nvSpPr>
        <p:spPr>
          <a:xfrm>
            <a:off x="5358384" y="3611880"/>
            <a:ext cx="3273552" cy="804672"/>
          </a:xfrm>
          <a:prstGeom prst="rect">
            <a:avLst/>
          </a:prstGeom>
          <a:noFill/>
          <a:ln/>
        </p:spPr>
        <p:txBody>
          <a:bodyPr wrap="square" lIns="0" tIns="0" rIns="0" bIns="0" rtlCol="0" anchor="ctr">
            <a:normAutofit/>
          </a:bodyPr>
          <a:lstStyle/>
          <a:p>
            <a:pPr indent="0" marL="0">
              <a:buNone/>
            </a:pPr>
            <a:r>
              <a:rPr lang="en-US" sz="1000" dirty="0">
                <a:solidFill>
                  <a:srgbClr val="64748B"/>
                </a:solidFill>
                <a:latin typeface="Calibri" pitchFamily="34" charset="0"/>
                <a:ea typeface="Calibri" pitchFamily="34" charset="-122"/>
                <a:cs typeface="Calibri" pitchFamily="34" charset="-120"/>
              </a:rPr>
              <a:t>Maintained zero project delays throughout delivery using our talent supply chain model — the same approach that ensures Genpact's engineering teams scale without capacity gaps</a:t>
            </a:r>
            <a:endParaRPr lang="en-US" sz="1000" dirty="0"/>
          </a:p>
        </p:txBody>
      </p:sp>
      <p:sp>
        <p:nvSpPr>
          <p:cNvPr id="25" name="Text 19"/>
          <p:cNvSpPr/>
          <p:nvPr/>
        </p:nvSpPr>
        <p:spPr>
          <a:xfrm>
            <a:off x="8229600" y="4828032"/>
            <a:ext cx="731520" cy="182880"/>
          </a:xfrm>
          <a:prstGeom prst="rect">
            <a:avLst/>
          </a:prstGeom>
          <a:noFill/>
          <a:ln/>
        </p:spPr>
        <p:txBody>
          <a:bodyPr wrap="square" rtlCol="0" anchor="ctr"/>
          <a:lstStyle/>
          <a:p>
            <a:pPr algn="r" indent="0" marL="0">
              <a:buNone/>
            </a:pPr>
            <a:r>
              <a:rPr lang="en-US" sz="1000" dirty="0">
                <a:solidFill>
                  <a:srgbClr val="047857"/>
                </a:solidFill>
                <a:latin typeface="Calibri" pitchFamily="34" charset="0"/>
                <a:ea typeface="Calibri" pitchFamily="34" charset="-122"/>
                <a:cs typeface="Calibri" pitchFamily="34" charset="-120"/>
              </a:rPr>
              <a:t>10 / 14</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6858000" y="2743200"/>
            <a:ext cx="3657600" cy="3657600"/>
          </a:xfrm>
          <a:prstGeom prst="ellipse">
            <a:avLst/>
          </a:prstGeom>
          <a:solidFill>
            <a:srgbClr val="059669">
              <a:alpha val="6000"/>
            </a:srgbClr>
          </a:solidFill>
          <a:ln w="12700">
            <a:solidFill>
              <a:srgbClr val="059669"/>
            </a:solidFill>
            <a:prstDash val="solid"/>
          </a:ln>
        </p:spPr>
      </p:sp>
      <p:sp>
        <p:nvSpPr>
          <p:cNvPr id="3" name="Shape 1"/>
          <p:cNvSpPr/>
          <p:nvPr/>
        </p:nvSpPr>
        <p:spPr>
          <a:xfrm>
            <a:off x="0" y="0"/>
            <a:ext cx="9144000" cy="475488"/>
          </a:xfrm>
          <a:prstGeom prst="rect">
            <a:avLst/>
          </a:prstGeom>
          <a:solidFill>
            <a:srgbClr val="0D1B2A"/>
          </a:solidFill>
          <a:ln/>
        </p:spPr>
      </p:sp>
      <p:sp>
        <p:nvSpPr>
          <p:cNvPr id="4" name="Text 2"/>
          <p:cNvSpPr/>
          <p:nvPr/>
        </p:nvSpPr>
        <p:spPr>
          <a:xfrm>
            <a:off x="365760" y="0"/>
            <a:ext cx="8412480" cy="475488"/>
          </a:xfrm>
          <a:prstGeom prst="rect">
            <a:avLst/>
          </a:prstGeom>
          <a:noFill/>
          <a:ln/>
        </p:spPr>
        <p:txBody>
          <a:bodyPr wrap="square" lIns="0" tIns="0" rIns="0" bIns="0" rtlCol="0" anchor="ctr"/>
          <a:lstStyle/>
          <a:p>
            <a:pPr algn="l" indent="0" marL="0">
              <a:buNone/>
            </a:pPr>
            <a:r>
              <a:rPr lang="en-US" sz="1100" b="1" spc="300" kern="0" dirty="0">
                <a:solidFill>
                  <a:srgbClr val="047857"/>
                </a:solidFill>
                <a:latin typeface="Calibri" pitchFamily="34" charset="0"/>
                <a:ea typeface="Calibri" pitchFamily="34" charset="-122"/>
                <a:cs typeface="Calibri" pitchFamily="34" charset="-120"/>
              </a:rPr>
              <a:t>OUR APPROACH</a:t>
            </a:r>
            <a:endParaRPr lang="en-US" sz="1100" dirty="0"/>
          </a:p>
        </p:txBody>
      </p:sp>
      <p:sp>
        <p:nvSpPr>
          <p:cNvPr id="5" name="Text 3"/>
          <p:cNvSpPr/>
          <p:nvPr/>
        </p:nvSpPr>
        <p:spPr>
          <a:xfrm>
            <a:off x="457200" y="548640"/>
            <a:ext cx="8229600" cy="822960"/>
          </a:xfrm>
          <a:prstGeom prst="rect">
            <a:avLst/>
          </a:prstGeom>
          <a:noFill/>
          <a:ln/>
        </p:spPr>
        <p:txBody>
          <a:bodyPr wrap="square" lIns="0" tIns="0" rIns="0" bIns="0" rtlCol="0" anchor="t">
            <a:normAutofit/>
          </a:bodyPr>
          <a:lstStyle/>
          <a:p>
            <a:pPr algn="l" indent="0" marL="0">
              <a:buNone/>
            </a:pPr>
            <a:r>
              <a:rPr lang="en-US" sz="2200" b="1" dirty="0">
                <a:solidFill>
                  <a:srgbClr val="1A1A2E"/>
                </a:solidFill>
                <a:latin typeface="Cambria" pitchFamily="34" charset="0"/>
                <a:ea typeface="Cambria" pitchFamily="34" charset="-122"/>
                <a:cs typeface="Cambria" pitchFamily="34" charset="-120"/>
              </a:rPr>
              <a:t>Why Quarks | Parallels That Prove the Fit</a:t>
            </a:r>
            <a:endParaRPr lang="en-US" sz="2200" dirty="0"/>
          </a:p>
        </p:txBody>
      </p:sp>
      <p:sp>
        <p:nvSpPr>
          <p:cNvPr id="6" name="Shape 4"/>
          <p:cNvSpPr/>
          <p:nvPr/>
        </p:nvSpPr>
        <p:spPr>
          <a:xfrm>
            <a:off x="457200" y="1463040"/>
            <a:ext cx="3977640" cy="2743200"/>
          </a:xfrm>
          <a:prstGeom prst="rect">
            <a:avLst/>
          </a:prstGeom>
          <a:solidFill>
            <a:srgbClr val="E2E8F0"/>
          </a:solidFill>
          <a:ln w="12700">
            <a:solidFill>
              <a:srgbClr val="E2E8F0"/>
            </a:solidFill>
            <a:prstDash val="solid"/>
          </a:ln>
          <a:effectLst>
            <a:outerShdw sx="100000" sy="100000" kx="0" ky="0" algn="bl" rotWithShape="0" blurRad="127000" dist="38100" dir="2700000">
              <a:srgbClr val="000000">
                <a:alpha val="6000"/>
              </a:srgbClr>
            </a:outerShdw>
          </a:effectLst>
        </p:spPr>
      </p:sp>
      <p:sp>
        <p:nvSpPr>
          <p:cNvPr id="7" name="Shape 5"/>
          <p:cNvSpPr/>
          <p:nvPr/>
        </p:nvSpPr>
        <p:spPr>
          <a:xfrm>
            <a:off x="457200" y="1463040"/>
            <a:ext cx="54864" cy="2743200"/>
          </a:xfrm>
          <a:prstGeom prst="rect">
            <a:avLst/>
          </a:prstGeom>
          <a:solidFill>
            <a:srgbClr val="059669"/>
          </a:solidFill>
          <a:ln w="12700">
            <a:solidFill>
              <a:srgbClr val="059669"/>
            </a:solidFill>
            <a:prstDash val="solid"/>
          </a:ln>
        </p:spPr>
      </p:sp>
      <p:sp>
        <p:nvSpPr>
          <p:cNvPr id="8" name="Text 6"/>
          <p:cNvSpPr/>
          <p:nvPr/>
        </p:nvSpPr>
        <p:spPr>
          <a:xfrm>
            <a:off x="685800" y="1600200"/>
            <a:ext cx="3611880" cy="2468880"/>
          </a:xfrm>
          <a:prstGeom prst="rect">
            <a:avLst/>
          </a:prstGeom>
          <a:noFill/>
          <a:ln/>
        </p:spPr>
        <p:txBody>
          <a:bodyPr wrap="square" rtlCol="0" anchor="t">
            <a:normAutofit/>
          </a:bodyPr>
          <a:lstStyle/>
          <a:p>
            <a:pPr marL="342900" indent="-342900">
              <a:spcAft>
                <a:spcPts val="800"/>
              </a:spcAft>
              <a:buSzPct val="100000"/>
              <a:buChar char="•"/>
            </a:pPr>
            <a:r>
              <a:rPr lang="en-US" sz="1000" dirty="0">
                <a:solidFill>
                  <a:srgbClr val="64748B"/>
                </a:solidFill>
                <a:latin typeface="Calibri" pitchFamily="34" charset="0"/>
                <a:ea typeface="Calibri" pitchFamily="34" charset="-122"/>
                <a:cs typeface="Calibri" pitchFamily="34" charset="-120"/>
              </a:rPr>
              <a:t>Complex Platform Consolidation: Our benchmark client wrestled with the same fragmented data silos choking Genpact today — we unified everything into one governed AI/ML lifecycle platform with no separate tools, and that exact playbook applies here.</a:t>
            </a:r>
            <a:endParaRPr lang="en-US" sz="1000" dirty="0"/>
          </a:p>
          <a:p>
            <a:pPr marL="342900" indent="-342900">
              <a:spcAft>
                <a:spcPts val="800"/>
              </a:spcAft>
              <a:buSzPct val="100000"/>
              <a:buChar char="•"/>
            </a:pPr>
            <a:r>
              <a:rPr lang="en-US" sz="1000" dirty="0">
                <a:solidFill>
                  <a:srgbClr val="64748B"/>
                </a:solidFill>
                <a:latin typeface="Calibri" pitchFamily="34" charset="0"/>
                <a:ea typeface="Calibri" pitchFamily="34" charset="-122"/>
                <a:cs typeface="Calibri" pitchFamily="34" charset="-120"/>
              </a:rPr>
              <a:t>Lakehouse at Scale: The Bronze/Silver/Gold medallion architecture we built on Azure Databricks handled explosive data volumes with unified governance — the same scalability Genpact's rigid infrastructure is blocking right now.</a:t>
            </a:r>
            <a:endParaRPr lang="en-US" sz="1000" dirty="0"/>
          </a:p>
          <a:p>
            <a:pPr marL="342900" indent="-342900">
              <a:spcAft>
                <a:spcPts val="800"/>
              </a:spcAft>
              <a:buSzPct val="100000"/>
              <a:buChar char="•"/>
            </a:pPr>
            <a:r>
              <a:rPr lang="en-US" sz="1000" dirty="0">
                <a:solidFill>
                  <a:srgbClr val="64748B"/>
                </a:solidFill>
                <a:latin typeface="Calibri" pitchFamily="34" charset="0"/>
                <a:ea typeface="Calibri" pitchFamily="34" charset="-122"/>
                <a:cs typeface="Calibri" pitchFamily="34" charset="-120"/>
              </a:rPr>
              <a:t>Zero-Delay Talent Supply Chain: When engineering capacity gaps stalled our benchmark client, our managed talent model cut resource replacement time to zero project downtime — directly closing the staffing gap Genpact faces across multi-stack teams.</a:t>
            </a:r>
            <a:endParaRPr lang="en-US" sz="1000" dirty="0"/>
          </a:p>
        </p:txBody>
      </p:sp>
      <p:sp>
        <p:nvSpPr>
          <p:cNvPr id="9" name="Shape 7"/>
          <p:cNvSpPr/>
          <p:nvPr/>
        </p:nvSpPr>
        <p:spPr>
          <a:xfrm>
            <a:off x="4709160" y="1463040"/>
            <a:ext cx="3977640" cy="2743200"/>
          </a:xfrm>
          <a:prstGeom prst="rect">
            <a:avLst/>
          </a:prstGeom>
          <a:solidFill>
            <a:srgbClr val="E2E8F0"/>
          </a:solidFill>
          <a:ln w="12700">
            <a:solidFill>
              <a:srgbClr val="E2E8F0"/>
            </a:solidFill>
            <a:prstDash val="solid"/>
          </a:ln>
          <a:effectLst>
            <a:outerShdw sx="100000" sy="100000" kx="0" ky="0" algn="bl" rotWithShape="0" blurRad="127000" dist="38100" dir="2700000">
              <a:srgbClr val="000000">
                <a:alpha val="6000"/>
              </a:srgbClr>
            </a:outerShdw>
          </a:effectLst>
        </p:spPr>
      </p:sp>
      <p:sp>
        <p:nvSpPr>
          <p:cNvPr id="10" name="Shape 8"/>
          <p:cNvSpPr/>
          <p:nvPr/>
        </p:nvSpPr>
        <p:spPr>
          <a:xfrm>
            <a:off x="4709160" y="1280160"/>
            <a:ext cx="3977640" cy="54864"/>
          </a:xfrm>
          <a:prstGeom prst="rect">
            <a:avLst/>
          </a:prstGeom>
          <a:solidFill>
            <a:srgbClr val="E8B84B"/>
          </a:solidFill>
          <a:ln w="12700">
            <a:solidFill>
              <a:srgbClr val="E8B84B"/>
            </a:solidFill>
            <a:prstDash val="solid"/>
          </a:ln>
        </p:spPr>
      </p:sp>
      <p:sp>
        <p:nvSpPr>
          <p:cNvPr id="11" name="Text 9"/>
          <p:cNvSpPr/>
          <p:nvPr/>
        </p:nvSpPr>
        <p:spPr>
          <a:xfrm>
            <a:off x="4709160" y="1874520"/>
            <a:ext cx="3977640" cy="1280160"/>
          </a:xfrm>
          <a:prstGeom prst="rect">
            <a:avLst/>
          </a:prstGeom>
          <a:noFill/>
          <a:ln/>
        </p:spPr>
        <p:txBody>
          <a:bodyPr wrap="square" lIns="0" tIns="0" rIns="0" bIns="0" rtlCol="0" anchor="ctr">
            <a:normAutofit/>
          </a:bodyPr>
          <a:lstStyle/>
          <a:p>
            <a:pPr algn="ctr" indent="0" marL="0">
              <a:buNone/>
            </a:pPr>
            <a:r>
              <a:rPr lang="en-US" sz="3650" b="1" dirty="0">
                <a:solidFill>
                  <a:srgbClr val="059669"/>
                </a:solidFill>
                <a:latin typeface="Cambria" pitchFamily="34" charset="0"/>
                <a:ea typeface="Cambria" pitchFamily="34" charset="-122"/>
                <a:cs typeface="Cambria" pitchFamily="34" charset="-120"/>
              </a:rPr>
              <a:t>Days → Minutes</a:t>
            </a:r>
            <a:endParaRPr lang="en-US" sz="3650" dirty="0"/>
          </a:p>
        </p:txBody>
      </p:sp>
      <p:sp>
        <p:nvSpPr>
          <p:cNvPr id="12" name="Text 10"/>
          <p:cNvSpPr/>
          <p:nvPr/>
        </p:nvSpPr>
        <p:spPr>
          <a:xfrm>
            <a:off x="4709160" y="3246120"/>
            <a:ext cx="3977640" cy="457200"/>
          </a:xfrm>
          <a:prstGeom prst="rect">
            <a:avLst/>
          </a:prstGeom>
          <a:noFill/>
          <a:ln/>
        </p:spPr>
        <p:txBody>
          <a:bodyPr wrap="square" lIns="0" tIns="0" rIns="0" bIns="0" rtlCol="0" anchor="ctr">
            <a:normAutofit/>
          </a:bodyPr>
          <a:lstStyle/>
          <a:p>
            <a:pPr algn="ctr" indent="0" marL="0">
              <a:buNone/>
            </a:pPr>
            <a:r>
              <a:rPr lang="en-US" sz="1300" dirty="0">
                <a:solidFill>
                  <a:srgbClr val="64748B"/>
                </a:solidFill>
                <a:latin typeface="Calibri" pitchFamily="34" charset="0"/>
                <a:ea typeface="Calibri" pitchFamily="34" charset="-122"/>
                <a:cs typeface="Calibri" pitchFamily="34" charset="-120"/>
              </a:rPr>
              <a:t>Report generation transformed — directly eliminating Genpact's 3-4 day bottleneck</a:t>
            </a:r>
            <a:endParaRPr lang="en-US" sz="1300" dirty="0"/>
          </a:p>
        </p:txBody>
      </p:sp>
      <p:sp>
        <p:nvSpPr>
          <p:cNvPr id="13" name="Text 11"/>
          <p:cNvSpPr/>
          <p:nvPr/>
        </p:nvSpPr>
        <p:spPr>
          <a:xfrm>
            <a:off x="8229600" y="4828032"/>
            <a:ext cx="731520" cy="182880"/>
          </a:xfrm>
          <a:prstGeom prst="rect">
            <a:avLst/>
          </a:prstGeom>
          <a:noFill/>
          <a:ln/>
        </p:spPr>
        <p:txBody>
          <a:bodyPr wrap="square" rtlCol="0" anchor="ctr"/>
          <a:lstStyle/>
          <a:p>
            <a:pPr algn="r" indent="0" marL="0">
              <a:buNone/>
            </a:pPr>
            <a:r>
              <a:rPr lang="en-US" sz="1000" dirty="0">
                <a:solidFill>
                  <a:srgbClr val="047857"/>
                </a:solidFill>
                <a:latin typeface="Calibri" pitchFamily="34" charset="0"/>
                <a:ea typeface="Calibri" pitchFamily="34" charset="-122"/>
                <a:cs typeface="Calibri" pitchFamily="34" charset="-120"/>
              </a:rPr>
              <a:t>11 / 14</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6858000" y="2743200"/>
            <a:ext cx="3657600" cy="3657600"/>
          </a:xfrm>
          <a:prstGeom prst="ellipse">
            <a:avLst/>
          </a:prstGeom>
          <a:solidFill>
            <a:srgbClr val="059669">
              <a:alpha val="6000"/>
            </a:srgbClr>
          </a:solidFill>
          <a:ln w="12700">
            <a:solidFill>
              <a:srgbClr val="059669"/>
            </a:solidFill>
            <a:prstDash val="solid"/>
          </a:ln>
        </p:spPr>
      </p:sp>
      <p:sp>
        <p:nvSpPr>
          <p:cNvPr id="3" name="Shape 1"/>
          <p:cNvSpPr/>
          <p:nvPr/>
        </p:nvSpPr>
        <p:spPr>
          <a:xfrm>
            <a:off x="0" y="0"/>
            <a:ext cx="9144000" cy="475488"/>
          </a:xfrm>
          <a:prstGeom prst="rect">
            <a:avLst/>
          </a:prstGeom>
          <a:solidFill>
            <a:srgbClr val="0D1B2A"/>
          </a:solidFill>
          <a:ln/>
        </p:spPr>
      </p:sp>
      <p:sp>
        <p:nvSpPr>
          <p:cNvPr id="4" name="Text 2"/>
          <p:cNvSpPr/>
          <p:nvPr/>
        </p:nvSpPr>
        <p:spPr>
          <a:xfrm>
            <a:off x="365760" y="0"/>
            <a:ext cx="8412480" cy="475488"/>
          </a:xfrm>
          <a:prstGeom prst="rect">
            <a:avLst/>
          </a:prstGeom>
          <a:noFill/>
          <a:ln/>
        </p:spPr>
        <p:txBody>
          <a:bodyPr wrap="square" lIns="0" tIns="0" rIns="0" bIns="0" rtlCol="0" anchor="ctr"/>
          <a:lstStyle/>
          <a:p>
            <a:pPr algn="l" indent="0" marL="0">
              <a:buNone/>
            </a:pPr>
            <a:r>
              <a:rPr lang="en-US" sz="1100" b="1" spc="300" kern="0" dirty="0">
                <a:solidFill>
                  <a:srgbClr val="047857"/>
                </a:solidFill>
                <a:latin typeface="Calibri" pitchFamily="34" charset="0"/>
                <a:ea typeface="Calibri" pitchFamily="34" charset="-122"/>
                <a:cs typeface="Calibri" pitchFamily="34" charset="-120"/>
              </a:rPr>
              <a:t>ENGAGEMENT</a:t>
            </a:r>
            <a:endParaRPr lang="en-US" sz="1100" dirty="0"/>
          </a:p>
        </p:txBody>
      </p:sp>
      <p:sp>
        <p:nvSpPr>
          <p:cNvPr id="5" name="Text 3"/>
          <p:cNvSpPr/>
          <p:nvPr/>
        </p:nvSpPr>
        <p:spPr>
          <a:xfrm>
            <a:off x="457200" y="548640"/>
            <a:ext cx="8229600" cy="777240"/>
          </a:xfrm>
          <a:prstGeom prst="rect">
            <a:avLst/>
          </a:prstGeom>
          <a:noFill/>
          <a:ln/>
        </p:spPr>
        <p:txBody>
          <a:bodyPr wrap="square" lIns="0" tIns="0" rIns="0" bIns="0" rtlCol="0" anchor="t">
            <a:normAutofit/>
          </a:bodyPr>
          <a:lstStyle/>
          <a:p>
            <a:pPr algn="l" indent="0" marL="0">
              <a:buNone/>
            </a:pPr>
            <a:r>
              <a:rPr lang="en-US" sz="2100" b="1" dirty="0">
                <a:solidFill>
                  <a:srgbClr val="1A1A2E"/>
                </a:solidFill>
                <a:latin typeface="Cambria" pitchFamily="34" charset="0"/>
                <a:ea typeface="Cambria" pitchFamily="34" charset="-122"/>
                <a:cs typeface="Cambria" pitchFamily="34" charset="-120"/>
              </a:rPr>
              <a:t>Three Low-Risk Paths to Genpact's Days-to-Minutes Future</a:t>
            </a:r>
            <a:endParaRPr lang="en-US" sz="2100" dirty="0"/>
          </a:p>
        </p:txBody>
      </p:sp>
      <p:sp>
        <p:nvSpPr>
          <p:cNvPr id="6" name="Text 4"/>
          <p:cNvSpPr/>
          <p:nvPr/>
        </p:nvSpPr>
        <p:spPr>
          <a:xfrm>
            <a:off x="457200" y="1371600"/>
            <a:ext cx="8229600" cy="320040"/>
          </a:xfrm>
          <a:prstGeom prst="rect">
            <a:avLst/>
          </a:prstGeom>
          <a:noFill/>
          <a:ln/>
        </p:spPr>
        <p:txBody>
          <a:bodyPr wrap="square" lIns="0" tIns="0" rIns="0" bIns="0" rtlCol="0" anchor="t">
            <a:normAutofit/>
          </a:bodyPr>
          <a:lstStyle/>
          <a:p>
            <a:pPr algn="l" indent="0" marL="0">
              <a:buNone/>
            </a:pPr>
            <a:r>
              <a:rPr lang="en-US" sz="1000" i="1" dirty="0">
                <a:solidFill>
                  <a:srgbClr val="047857"/>
                </a:solidFill>
                <a:latin typeface="Calibri" pitchFamily="34" charset="0"/>
                <a:ea typeface="Calibri" pitchFamily="34" charset="-122"/>
                <a:cs typeface="Calibri" pitchFamily="34" charset="-120"/>
              </a:rPr>
              <a:t>The benchmark proved the fit — now choose the entry point that meets Genpact exactly where you are today, whether that is assessing readiness, going hands-on with the architecture, or proving the transformation on one critical pipeline.</a:t>
            </a:r>
            <a:endParaRPr lang="en-US" sz="1000" dirty="0"/>
          </a:p>
        </p:txBody>
      </p:sp>
      <p:sp>
        <p:nvSpPr>
          <p:cNvPr id="7" name="Shape 5"/>
          <p:cNvSpPr/>
          <p:nvPr/>
        </p:nvSpPr>
        <p:spPr>
          <a:xfrm>
            <a:off x="457200" y="1783080"/>
            <a:ext cx="2609088" cy="457200"/>
          </a:xfrm>
          <a:prstGeom prst="rect">
            <a:avLst/>
          </a:prstGeom>
          <a:solidFill>
            <a:srgbClr val="047857"/>
          </a:solidFill>
          <a:ln w="12700">
            <a:solidFill>
              <a:srgbClr val="047857"/>
            </a:solidFill>
            <a:prstDash val="solid"/>
          </a:ln>
        </p:spPr>
      </p:sp>
      <p:sp>
        <p:nvSpPr>
          <p:cNvPr id="8" name="Text 6"/>
          <p:cNvSpPr/>
          <p:nvPr/>
        </p:nvSpPr>
        <p:spPr>
          <a:xfrm>
            <a:off x="457200" y="1783080"/>
            <a:ext cx="2609088" cy="45720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Discovery Workshop</a:t>
            </a:r>
            <a:endParaRPr lang="en-US" sz="1300" dirty="0"/>
          </a:p>
        </p:txBody>
      </p:sp>
      <p:sp>
        <p:nvSpPr>
          <p:cNvPr id="9" name="Shape 7"/>
          <p:cNvSpPr/>
          <p:nvPr/>
        </p:nvSpPr>
        <p:spPr>
          <a:xfrm>
            <a:off x="457200" y="2240280"/>
            <a:ext cx="2609088" cy="2194560"/>
          </a:xfrm>
          <a:prstGeom prst="rect">
            <a:avLst/>
          </a:prstGeom>
          <a:solidFill>
            <a:srgbClr val="E2E8F0"/>
          </a:solidFill>
          <a:ln w="12700">
            <a:solidFill>
              <a:srgbClr val="E2E8F0"/>
            </a:solidFill>
            <a:prstDash val="solid"/>
          </a:ln>
          <a:effectLst>
            <a:outerShdw sx="100000" sy="100000" kx="0" ky="0" algn="bl" rotWithShape="0" blurRad="127000" dist="38100" dir="2700000">
              <a:srgbClr val="000000">
                <a:alpha val="5000"/>
              </a:srgbClr>
            </a:outerShdw>
          </a:effectLst>
        </p:spPr>
      </p:sp>
      <p:sp>
        <p:nvSpPr>
          <p:cNvPr id="10" name="Text 8"/>
          <p:cNvSpPr/>
          <p:nvPr/>
        </p:nvSpPr>
        <p:spPr>
          <a:xfrm>
            <a:off x="566928" y="2331720"/>
            <a:ext cx="2389632" cy="2011680"/>
          </a:xfrm>
          <a:prstGeom prst="rect">
            <a:avLst/>
          </a:prstGeom>
          <a:noFill/>
          <a:ln/>
        </p:spPr>
        <p:txBody>
          <a:bodyPr wrap="square" rtlCol="0" anchor="t">
            <a:normAutofit/>
          </a:bodyPr>
          <a:lstStyle/>
          <a:p>
            <a:pPr marL="342900" indent="-342900">
              <a:spcAft>
                <a:spcPts val="600"/>
              </a:spcAft>
              <a:buSzPct val="100000"/>
              <a:buChar char="•"/>
            </a:pPr>
            <a:r>
              <a:rPr lang="en-US" sz="1000" dirty="0">
                <a:solidFill>
                  <a:srgbClr val="64748B"/>
                </a:solidFill>
                <a:latin typeface="Calibri" pitchFamily="34" charset="0"/>
                <a:ea typeface="Calibri" pitchFamily="34" charset="-122"/>
                <a:cs typeface="Calibri" pitchFamily="34" charset="-120"/>
              </a:rPr>
              <a:t>2-week assessment of Genpact's current data infrastructure and AI/ML readiness</a:t>
            </a:r>
            <a:endParaRPr lang="en-US" sz="1000" dirty="0"/>
          </a:p>
          <a:p>
            <a:pPr marL="342900" indent="-342900">
              <a:spcAft>
                <a:spcPts val="600"/>
              </a:spcAft>
              <a:buSzPct val="100000"/>
              <a:buChar char="•"/>
            </a:pPr>
            <a:r>
              <a:rPr lang="en-US" sz="1000" dirty="0">
                <a:solidFill>
                  <a:srgbClr val="64748B"/>
                </a:solidFill>
                <a:latin typeface="Calibri" pitchFamily="34" charset="0"/>
                <a:ea typeface="Calibri" pitchFamily="34" charset="-122"/>
                <a:cs typeface="Calibri" pitchFamily="34" charset="-120"/>
              </a:rPr>
              <a:t>Maps the fragmentation across your legacy silos and identifies every bottleneck</a:t>
            </a:r>
            <a:endParaRPr lang="en-US" sz="1000" dirty="0"/>
          </a:p>
          <a:p>
            <a:pPr marL="342900" indent="-342900">
              <a:spcAft>
                <a:spcPts val="600"/>
              </a:spcAft>
              <a:buSzPct val="100000"/>
              <a:buChar char="•"/>
            </a:pPr>
            <a:r>
              <a:rPr lang="en-US" sz="1000" dirty="0">
                <a:solidFill>
                  <a:srgbClr val="64748B"/>
                </a:solidFill>
                <a:latin typeface="Calibri" pitchFamily="34" charset="0"/>
                <a:ea typeface="Calibri" pitchFamily="34" charset="-122"/>
                <a:cs typeface="Calibri" pitchFamily="34" charset="-120"/>
              </a:rPr>
              <a:t>Delivers a prioritized modernization roadmap with zero downstream commitment</a:t>
            </a:r>
            <a:endParaRPr lang="en-US" sz="1000" dirty="0"/>
          </a:p>
        </p:txBody>
      </p:sp>
      <p:sp>
        <p:nvSpPr>
          <p:cNvPr id="11" name="Shape 9"/>
          <p:cNvSpPr/>
          <p:nvPr/>
        </p:nvSpPr>
        <p:spPr>
          <a:xfrm>
            <a:off x="3267456" y="1783080"/>
            <a:ext cx="2609088" cy="457200"/>
          </a:xfrm>
          <a:prstGeom prst="rect">
            <a:avLst/>
          </a:prstGeom>
          <a:solidFill>
            <a:srgbClr val="059669"/>
          </a:solidFill>
          <a:ln w="12700">
            <a:solidFill>
              <a:srgbClr val="059669"/>
            </a:solidFill>
            <a:prstDash val="solid"/>
          </a:ln>
        </p:spPr>
      </p:sp>
      <p:sp>
        <p:nvSpPr>
          <p:cNvPr id="12" name="Text 10"/>
          <p:cNvSpPr/>
          <p:nvPr/>
        </p:nvSpPr>
        <p:spPr>
          <a:xfrm>
            <a:off x="3267456" y="1783080"/>
            <a:ext cx="2609088" cy="45720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Capability Deep-Dive</a:t>
            </a:r>
            <a:endParaRPr lang="en-US" sz="1300" dirty="0"/>
          </a:p>
        </p:txBody>
      </p:sp>
      <p:sp>
        <p:nvSpPr>
          <p:cNvPr id="13" name="Shape 11"/>
          <p:cNvSpPr/>
          <p:nvPr/>
        </p:nvSpPr>
        <p:spPr>
          <a:xfrm>
            <a:off x="3267456" y="2240280"/>
            <a:ext cx="2609088" cy="2194560"/>
          </a:xfrm>
          <a:prstGeom prst="rect">
            <a:avLst/>
          </a:prstGeom>
          <a:solidFill>
            <a:srgbClr val="E2E8F0"/>
          </a:solidFill>
          <a:ln w="12700">
            <a:solidFill>
              <a:srgbClr val="E2E8F0"/>
            </a:solidFill>
            <a:prstDash val="solid"/>
          </a:ln>
          <a:effectLst>
            <a:outerShdw sx="100000" sy="100000" kx="0" ky="0" algn="bl" rotWithShape="0" blurRad="127000" dist="38100" dir="2700000">
              <a:srgbClr val="000000">
                <a:alpha val="5000"/>
              </a:srgbClr>
            </a:outerShdw>
          </a:effectLst>
        </p:spPr>
      </p:sp>
      <p:sp>
        <p:nvSpPr>
          <p:cNvPr id="14" name="Text 12"/>
          <p:cNvSpPr/>
          <p:nvPr/>
        </p:nvSpPr>
        <p:spPr>
          <a:xfrm>
            <a:off x="3377184" y="2331720"/>
            <a:ext cx="2389632" cy="2011680"/>
          </a:xfrm>
          <a:prstGeom prst="rect">
            <a:avLst/>
          </a:prstGeom>
          <a:noFill/>
          <a:ln/>
        </p:spPr>
        <p:txBody>
          <a:bodyPr wrap="square" rtlCol="0" anchor="t">
            <a:normAutofit/>
          </a:bodyPr>
          <a:lstStyle/>
          <a:p>
            <a:pPr marL="342900" indent="-342900">
              <a:spcAft>
                <a:spcPts val="600"/>
              </a:spcAft>
              <a:buSzPct val="100000"/>
              <a:buChar char="•"/>
            </a:pPr>
            <a:r>
              <a:rPr lang="en-US" sz="1000" dirty="0">
                <a:solidFill>
                  <a:srgbClr val="64748B"/>
                </a:solidFill>
                <a:latin typeface="Calibri" pitchFamily="34" charset="0"/>
                <a:ea typeface="Calibri" pitchFamily="34" charset="-122"/>
                <a:cs typeface="Calibri" pitchFamily="34" charset="-120"/>
              </a:rPr>
              <a:t>Hands-on technical exploration of the Azure Databricks lakehouse and governed AI/ML platform</a:t>
            </a:r>
            <a:endParaRPr lang="en-US" sz="1000" dirty="0"/>
          </a:p>
          <a:p>
            <a:pPr marL="342900" indent="-342900">
              <a:spcAft>
                <a:spcPts val="600"/>
              </a:spcAft>
              <a:buSzPct val="100000"/>
              <a:buChar char="•"/>
            </a:pPr>
            <a:r>
              <a:rPr lang="en-US" sz="1000" dirty="0">
                <a:solidFill>
                  <a:srgbClr val="64748B"/>
                </a:solidFill>
                <a:latin typeface="Calibri" pitchFamily="34" charset="0"/>
                <a:ea typeface="Calibri" pitchFamily="34" charset="-122"/>
                <a:cs typeface="Calibri" pitchFamily="34" charset="-120"/>
              </a:rPr>
              <a:t>Walks Genpact's engineering leaders through Bronze/Silver/Gold medallion architecture firsthand</a:t>
            </a:r>
            <a:endParaRPr lang="en-US" sz="1000" dirty="0"/>
          </a:p>
          <a:p>
            <a:pPr marL="342900" indent="-342900">
              <a:spcAft>
                <a:spcPts val="600"/>
              </a:spcAft>
              <a:buSzPct val="100000"/>
              <a:buChar char="•"/>
            </a:pPr>
            <a:r>
              <a:rPr lang="en-US" sz="1000" dirty="0">
                <a:solidFill>
                  <a:srgbClr val="64748B"/>
                </a:solidFill>
                <a:latin typeface="Calibri" pitchFamily="34" charset="0"/>
                <a:ea typeface="Calibri" pitchFamily="34" charset="-122"/>
                <a:cs typeface="Calibri" pitchFamily="34" charset="-120"/>
              </a:rPr>
              <a:t>Shows exactly how consolidated lifecycle tooling eliminates your 3-4 day report delays</a:t>
            </a:r>
            <a:endParaRPr lang="en-US" sz="1000" dirty="0"/>
          </a:p>
        </p:txBody>
      </p:sp>
      <p:sp>
        <p:nvSpPr>
          <p:cNvPr id="15" name="Shape 13"/>
          <p:cNvSpPr/>
          <p:nvPr/>
        </p:nvSpPr>
        <p:spPr>
          <a:xfrm>
            <a:off x="6077712" y="1783080"/>
            <a:ext cx="2609088" cy="457200"/>
          </a:xfrm>
          <a:prstGeom prst="rect">
            <a:avLst/>
          </a:prstGeom>
          <a:solidFill>
            <a:srgbClr val="0D1B2A"/>
          </a:solidFill>
          <a:ln w="12700">
            <a:solidFill>
              <a:srgbClr val="0D1B2A"/>
            </a:solidFill>
            <a:prstDash val="solid"/>
          </a:ln>
        </p:spPr>
      </p:sp>
      <p:sp>
        <p:nvSpPr>
          <p:cNvPr id="16" name="Text 14"/>
          <p:cNvSpPr/>
          <p:nvPr/>
        </p:nvSpPr>
        <p:spPr>
          <a:xfrm>
            <a:off x="6077712" y="1783080"/>
            <a:ext cx="2609088" cy="45720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Pilot Engagement</a:t>
            </a:r>
            <a:endParaRPr lang="en-US" sz="1300" dirty="0"/>
          </a:p>
        </p:txBody>
      </p:sp>
      <p:sp>
        <p:nvSpPr>
          <p:cNvPr id="17" name="Shape 15"/>
          <p:cNvSpPr/>
          <p:nvPr/>
        </p:nvSpPr>
        <p:spPr>
          <a:xfrm>
            <a:off x="6077712" y="2240280"/>
            <a:ext cx="2609088" cy="2194560"/>
          </a:xfrm>
          <a:prstGeom prst="rect">
            <a:avLst/>
          </a:prstGeom>
          <a:solidFill>
            <a:srgbClr val="E2E8F0"/>
          </a:solidFill>
          <a:ln w="12700">
            <a:solidFill>
              <a:srgbClr val="E2E8F0"/>
            </a:solidFill>
            <a:prstDash val="solid"/>
          </a:ln>
          <a:effectLst>
            <a:outerShdw sx="100000" sy="100000" kx="0" ky="0" algn="bl" rotWithShape="0" blurRad="127000" dist="38100" dir="2700000">
              <a:srgbClr val="000000">
                <a:alpha val="5000"/>
              </a:srgbClr>
            </a:outerShdw>
          </a:effectLst>
        </p:spPr>
      </p:sp>
      <p:sp>
        <p:nvSpPr>
          <p:cNvPr id="18" name="Text 16"/>
          <p:cNvSpPr/>
          <p:nvPr/>
        </p:nvSpPr>
        <p:spPr>
          <a:xfrm>
            <a:off x="6187440" y="2331720"/>
            <a:ext cx="2389632" cy="2011680"/>
          </a:xfrm>
          <a:prstGeom prst="rect">
            <a:avLst/>
          </a:prstGeom>
          <a:noFill/>
          <a:ln/>
        </p:spPr>
        <p:txBody>
          <a:bodyPr wrap="square" rtlCol="0" anchor="t">
            <a:normAutofit/>
          </a:bodyPr>
          <a:lstStyle/>
          <a:p>
            <a:pPr marL="342900" indent="-342900">
              <a:spcAft>
                <a:spcPts val="600"/>
              </a:spcAft>
              <a:buSzPct val="100000"/>
              <a:buChar char="•"/>
            </a:pPr>
            <a:r>
              <a:rPr lang="en-US" sz="1000" dirty="0">
                <a:solidFill>
                  <a:srgbClr val="64748B"/>
                </a:solidFill>
                <a:latin typeface="Calibri" pitchFamily="34" charset="0"/>
                <a:ea typeface="Calibri" pitchFamily="34" charset="-122"/>
                <a:cs typeface="Calibri" pitchFamily="34" charset="-120"/>
              </a:rPr>
              <a:t>Scoped proof-of-concept on one critical Genpact report pipeline using your real data</a:t>
            </a:r>
            <a:endParaRPr lang="en-US" sz="1000" dirty="0"/>
          </a:p>
          <a:p>
            <a:pPr marL="342900" indent="-342900">
              <a:spcAft>
                <a:spcPts val="600"/>
              </a:spcAft>
              <a:buSzPct val="100000"/>
              <a:buChar char="•"/>
            </a:pPr>
            <a:r>
              <a:rPr lang="en-US" sz="1000" dirty="0">
                <a:solidFill>
                  <a:srgbClr val="64748B"/>
                </a:solidFill>
                <a:latin typeface="Calibri" pitchFamily="34" charset="0"/>
                <a:ea typeface="Calibri" pitchFamily="34" charset="-122"/>
                <a:cs typeface="Calibri" pitchFamily="34" charset="-120"/>
              </a:rPr>
              <a:t>Demonstrates the days-to-minutes transformation live, not on a slide</a:t>
            </a:r>
            <a:endParaRPr lang="en-US" sz="1000" dirty="0"/>
          </a:p>
          <a:p>
            <a:pPr marL="342900" indent="-342900">
              <a:spcAft>
                <a:spcPts val="600"/>
              </a:spcAft>
              <a:buSzPct val="100000"/>
              <a:buChar char="•"/>
            </a:pPr>
            <a:r>
              <a:rPr lang="en-US" sz="1000" dirty="0">
                <a:solidFill>
                  <a:srgbClr val="64748B"/>
                </a:solidFill>
                <a:latin typeface="Calibri" pitchFamily="34" charset="0"/>
                <a:ea typeface="Calibri" pitchFamily="34" charset="-122"/>
                <a:cs typeface="Calibri" pitchFamily="34" charset="-120"/>
              </a:rPr>
              <a:t>Lowest-risk way to validate value before committing to full-scale lakehouse modernization</a:t>
            </a:r>
            <a:endParaRPr lang="en-US" sz="1000" dirty="0"/>
          </a:p>
        </p:txBody>
      </p:sp>
      <p:sp>
        <p:nvSpPr>
          <p:cNvPr id="19" name="Text 17"/>
          <p:cNvSpPr/>
          <p:nvPr/>
        </p:nvSpPr>
        <p:spPr>
          <a:xfrm>
            <a:off x="8229600" y="4828032"/>
            <a:ext cx="731520" cy="182880"/>
          </a:xfrm>
          <a:prstGeom prst="rect">
            <a:avLst/>
          </a:prstGeom>
          <a:noFill/>
          <a:ln/>
        </p:spPr>
        <p:txBody>
          <a:bodyPr wrap="square" rtlCol="0" anchor="ctr"/>
          <a:lstStyle/>
          <a:p>
            <a:pPr algn="r" indent="0" marL="0">
              <a:buNone/>
            </a:pPr>
            <a:r>
              <a:rPr lang="en-US" sz="1000" dirty="0">
                <a:solidFill>
                  <a:srgbClr val="047857"/>
                </a:solidFill>
                <a:latin typeface="Calibri" pitchFamily="34" charset="0"/>
                <a:ea typeface="Calibri" pitchFamily="34" charset="-122"/>
                <a:cs typeface="Calibri" pitchFamily="34" charset="-120"/>
              </a:rPr>
              <a:t>12 / 14</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114800" y="91440"/>
            <a:ext cx="4572000" cy="3200400"/>
          </a:xfrm>
          <a:prstGeom prst="rect">
            <a:avLst/>
          </a:prstGeom>
          <a:noFill/>
          <a:ln/>
        </p:spPr>
        <p:txBody>
          <a:bodyPr wrap="square" lIns="0" tIns="0" rIns="0" bIns="0" rtlCol="0" anchor="ctr"/>
          <a:lstStyle/>
          <a:p>
            <a:pPr algn="r" indent="0" marL="0">
              <a:buNone/>
            </a:pPr>
            <a:r>
              <a:rPr lang="en-US" sz="16000" b="1" dirty="0">
                <a:solidFill>
                  <a:srgbClr val="059669">
                    <a:alpha val="15000"/>
                  </a:srgbClr>
                </a:solidFill>
                <a:latin typeface="Calibri" pitchFamily="34" charset="0"/>
                <a:ea typeface="Calibri" pitchFamily="34" charset="-122"/>
                <a:cs typeface="Calibri" pitchFamily="34" charset="-120"/>
              </a:rPr>
              <a:t>013</a:t>
            </a:r>
            <a:endParaRPr lang="en-US" sz="16000" dirty="0"/>
          </a:p>
        </p:txBody>
      </p:sp>
      <p:sp>
        <p:nvSpPr>
          <p:cNvPr id="3" name="Shape 1"/>
          <p:cNvSpPr/>
          <p:nvPr/>
        </p:nvSpPr>
        <p:spPr>
          <a:xfrm>
            <a:off x="548640" y="1097280"/>
            <a:ext cx="54864" cy="2560320"/>
          </a:xfrm>
          <a:prstGeom prst="rect">
            <a:avLst/>
          </a:prstGeom>
          <a:solidFill>
            <a:srgbClr val="059669"/>
          </a:solidFill>
          <a:ln/>
        </p:spPr>
      </p:sp>
      <p:sp>
        <p:nvSpPr>
          <p:cNvPr id="4" name="Text 2"/>
          <p:cNvSpPr/>
          <p:nvPr/>
        </p:nvSpPr>
        <p:spPr>
          <a:xfrm>
            <a:off x="822960" y="1188720"/>
            <a:ext cx="7772400" cy="320040"/>
          </a:xfrm>
          <a:prstGeom prst="rect">
            <a:avLst/>
          </a:prstGeom>
          <a:noFill/>
          <a:ln/>
        </p:spPr>
        <p:txBody>
          <a:bodyPr wrap="square" lIns="0" tIns="0" rIns="0" bIns="0" rtlCol="0" anchor="ctr"/>
          <a:lstStyle/>
          <a:p>
            <a:pPr algn="l" indent="0" marL="0">
              <a:buNone/>
            </a:pPr>
            <a:r>
              <a:rPr lang="en-US" sz="1100" b="1" spc="300" kern="0" dirty="0">
                <a:solidFill>
                  <a:srgbClr val="047857"/>
                </a:solidFill>
                <a:latin typeface="Calibri" pitchFamily="34" charset="0"/>
                <a:ea typeface="Calibri" pitchFamily="34" charset="-122"/>
                <a:cs typeface="Calibri" pitchFamily="34" charset="-120"/>
              </a:rPr>
              <a:t>SECTION</a:t>
            </a:r>
            <a:endParaRPr lang="en-US" sz="1100" dirty="0"/>
          </a:p>
        </p:txBody>
      </p:sp>
      <p:sp>
        <p:nvSpPr>
          <p:cNvPr id="5" name="Text 3"/>
          <p:cNvSpPr/>
          <p:nvPr/>
        </p:nvSpPr>
        <p:spPr>
          <a:xfrm>
            <a:off x="822960" y="1600200"/>
            <a:ext cx="7772400" cy="1645920"/>
          </a:xfrm>
          <a:prstGeom prst="rect">
            <a:avLst/>
          </a:prstGeom>
          <a:noFill/>
          <a:ln/>
        </p:spPr>
        <p:txBody>
          <a:bodyPr wrap="square" lIns="0" tIns="0" rIns="0" bIns="0" rtlCol="0" anchor="t"/>
          <a:lstStyle/>
          <a:p>
            <a:pPr algn="l" indent="0" marL="0">
              <a:buNone/>
            </a:pPr>
            <a:r>
              <a:rPr lang="en-US" sz="2600" b="1" spc="200" kern="0" dirty="0">
                <a:solidFill>
                  <a:srgbClr val="F8F9FA"/>
                </a:solidFill>
                <a:latin typeface="Calibri" pitchFamily="34" charset="0"/>
                <a:ea typeface="Calibri" pitchFamily="34" charset="-122"/>
                <a:cs typeface="Calibri" pitchFamily="34" charset="-120"/>
              </a:rPr>
              <a:t>NEXT STEPS | LET'S BUILD TOGETHER</a:t>
            </a:r>
            <a:endParaRPr lang="en-US" sz="2600" dirty="0"/>
          </a:p>
        </p:txBody>
      </p:sp>
      <p:sp>
        <p:nvSpPr>
          <p:cNvPr id="6" name="Text 4"/>
          <p:cNvSpPr/>
          <p:nvPr/>
        </p:nvSpPr>
        <p:spPr>
          <a:xfrm>
            <a:off x="822960" y="3337560"/>
            <a:ext cx="7315200" cy="548640"/>
          </a:xfrm>
          <a:prstGeom prst="rect">
            <a:avLst/>
          </a:prstGeom>
          <a:noFill/>
          <a:ln/>
        </p:spPr>
        <p:txBody>
          <a:bodyPr wrap="square" lIns="0" tIns="0" rIns="0" bIns="0" rtlCol="0" anchor="ctr"/>
          <a:lstStyle/>
          <a:p>
            <a:pPr algn="l" indent="0" marL="0">
              <a:buNone/>
            </a:pPr>
            <a:r>
              <a:rPr lang="en-US" sz="1400" i="1" dirty="0">
                <a:solidFill>
                  <a:srgbClr val="C8D8E8"/>
                </a:solidFill>
                <a:latin typeface="Calibri Light" pitchFamily="34" charset="0"/>
                <a:ea typeface="Calibri Light" pitchFamily="34" charset="-122"/>
                <a:cs typeface="Calibri Light" pitchFamily="34" charset="-120"/>
              </a:rPr>
              <a:t>From 3-4 day delays to minutes — the journey starts with one conversation.</a:t>
            </a:r>
            <a:endParaRPr lang="en-US" sz="1400" dirty="0"/>
          </a:p>
        </p:txBody>
      </p:sp>
      <p:sp>
        <p:nvSpPr>
          <p:cNvPr id="7" name="Text 5"/>
          <p:cNvSpPr/>
          <p:nvPr/>
        </p:nvSpPr>
        <p:spPr>
          <a:xfrm>
            <a:off x="8229600" y="4828032"/>
            <a:ext cx="731520" cy="182880"/>
          </a:xfrm>
          <a:prstGeom prst="rect">
            <a:avLst/>
          </a:prstGeom>
          <a:noFill/>
          <a:ln/>
        </p:spPr>
        <p:txBody>
          <a:bodyPr wrap="square" rtlCol="0" anchor="ctr"/>
          <a:lstStyle/>
          <a:p>
            <a:pPr algn="r" indent="0" marL="0">
              <a:buNone/>
            </a:pPr>
            <a:r>
              <a:rPr lang="en-US" sz="1000" dirty="0">
                <a:solidFill>
                  <a:srgbClr val="C8D8E8"/>
                </a:solidFill>
                <a:latin typeface="Calibri" pitchFamily="34" charset="0"/>
                <a:ea typeface="Calibri" pitchFamily="34" charset="-122"/>
                <a:cs typeface="Calibri" pitchFamily="34" charset="-120"/>
              </a:rPr>
              <a:t>13 / 14</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6400800" y="-1645920"/>
            <a:ext cx="5943600" cy="5943600"/>
          </a:xfrm>
          <a:prstGeom prst="ellipse">
            <a:avLst/>
          </a:prstGeom>
          <a:solidFill>
            <a:srgbClr val="059669">
              <a:alpha val="25000"/>
            </a:srgbClr>
          </a:solidFill>
          <a:ln/>
        </p:spPr>
      </p:sp>
      <p:sp>
        <p:nvSpPr>
          <p:cNvPr id="3" name="Shape 1"/>
          <p:cNvSpPr/>
          <p:nvPr/>
        </p:nvSpPr>
        <p:spPr>
          <a:xfrm>
            <a:off x="8412480" y="2560320"/>
            <a:ext cx="3840480" cy="3840480"/>
          </a:xfrm>
          <a:prstGeom prst="ellipse">
            <a:avLst/>
          </a:prstGeom>
          <a:solidFill>
            <a:srgbClr val="034D32">
              <a:alpha val="60000"/>
            </a:srgbClr>
          </a:solidFill>
          <a:ln/>
        </p:spPr>
      </p:sp>
      <p:sp>
        <p:nvSpPr>
          <p:cNvPr id="4" name="Shape 2"/>
          <p:cNvSpPr/>
          <p:nvPr/>
        </p:nvSpPr>
        <p:spPr>
          <a:xfrm>
            <a:off x="7772400" y="5669280"/>
            <a:ext cx="1645920" cy="1645920"/>
          </a:xfrm>
          <a:prstGeom prst="rect">
            <a:avLst/>
          </a:prstGeom>
          <a:solidFill>
            <a:srgbClr val="047857">
              <a:alpha val="20000"/>
            </a:srgbClr>
          </a:solidFill>
          <a:ln/>
        </p:spPr>
      </p:sp>
      <p:sp>
        <p:nvSpPr>
          <p:cNvPr id="5" name="Text 3"/>
          <p:cNvSpPr/>
          <p:nvPr/>
        </p:nvSpPr>
        <p:spPr>
          <a:xfrm>
            <a:off x="457200" y="731520"/>
            <a:ext cx="8229600" cy="640080"/>
          </a:xfrm>
          <a:prstGeom prst="rect">
            <a:avLst/>
          </a:prstGeom>
          <a:noFill/>
          <a:ln/>
        </p:spPr>
        <p:txBody>
          <a:bodyPr wrap="square" lIns="0" tIns="0" rIns="0" bIns="0" rtlCol="0" anchor="ctr">
            <a:normAutofit/>
          </a:bodyPr>
          <a:lstStyle/>
          <a:p>
            <a:pPr algn="ctr" indent="0" marL="0">
              <a:buNone/>
            </a:pPr>
            <a:r>
              <a:rPr lang="en-US" sz="2800" b="1" dirty="0">
                <a:solidFill>
                  <a:srgbClr val="F8F9FA"/>
                </a:solidFill>
                <a:latin typeface="Calibri" pitchFamily="34" charset="0"/>
                <a:ea typeface="Calibri" pitchFamily="34" charset="-122"/>
                <a:cs typeface="Calibri" pitchFamily="34" charset="-120"/>
              </a:rPr>
              <a:t>Let's Turn Genpact's Days into Minutes</a:t>
            </a:r>
            <a:endParaRPr lang="en-US" sz="2800" dirty="0"/>
          </a:p>
        </p:txBody>
      </p:sp>
      <p:sp>
        <p:nvSpPr>
          <p:cNvPr id="6" name="Text 4"/>
          <p:cNvSpPr/>
          <p:nvPr/>
        </p:nvSpPr>
        <p:spPr>
          <a:xfrm>
            <a:off x="457200" y="1463040"/>
            <a:ext cx="8229600" cy="914400"/>
          </a:xfrm>
          <a:prstGeom prst="rect">
            <a:avLst/>
          </a:prstGeom>
          <a:noFill/>
          <a:ln/>
        </p:spPr>
        <p:txBody>
          <a:bodyPr wrap="square" lIns="0" tIns="0" rIns="0" bIns="0" rtlCol="0" anchor="ctr">
            <a:normAutofit/>
          </a:bodyPr>
          <a:lstStyle/>
          <a:p>
            <a:pPr algn="ctr" indent="0" marL="0">
              <a:buNone/>
            </a:pPr>
            <a:r>
              <a:rPr lang="en-US" sz="2100" b="1" dirty="0">
                <a:solidFill>
                  <a:srgbClr val="047857"/>
                </a:solidFill>
                <a:latin typeface="Calibri" pitchFamily="34" charset="0"/>
                <a:ea typeface="Calibri" pitchFamily="34" charset="-122"/>
                <a:cs typeface="Calibri" pitchFamily="34" charset="-120"/>
              </a:rPr>
              <a:t>Start with a focused 2-week discovery workshop — mapping your roadmap from legacy delays to AI at scale.</a:t>
            </a:r>
            <a:endParaRPr lang="en-US" sz="2100" dirty="0"/>
          </a:p>
        </p:txBody>
      </p:sp>
      <p:sp>
        <p:nvSpPr>
          <p:cNvPr id="7" name="Text 5"/>
          <p:cNvSpPr/>
          <p:nvPr/>
        </p:nvSpPr>
        <p:spPr>
          <a:xfrm>
            <a:off x="457200" y="2468880"/>
            <a:ext cx="8229600" cy="274320"/>
          </a:xfrm>
          <a:prstGeom prst="rect">
            <a:avLst/>
          </a:prstGeom>
          <a:noFill/>
          <a:ln/>
        </p:spPr>
        <p:txBody>
          <a:bodyPr wrap="square" lIns="0" tIns="0" rIns="0" bIns="0" rtlCol="0" anchor="ctr">
            <a:normAutofit/>
          </a:bodyPr>
          <a:lstStyle/>
          <a:p>
            <a:pPr algn="ctr" indent="0" marL="0">
              <a:buNone/>
            </a:pPr>
            <a:r>
              <a:rPr lang="en-US" sz="1400" i="1" dirty="0">
                <a:solidFill>
                  <a:srgbClr val="C8D8E8"/>
                </a:solidFill>
                <a:latin typeface="Calibri Light" pitchFamily="34" charset="0"/>
                <a:ea typeface="Calibri Light" pitchFamily="34" charset="-122"/>
                <a:cs typeface="Calibri Light" pitchFamily="34" charset="-120"/>
              </a:rPr>
              <a:t>Accelerate revenue intelligence</a:t>
            </a:r>
            <a:endParaRPr lang="en-US" sz="1400" dirty="0"/>
          </a:p>
        </p:txBody>
      </p:sp>
      <p:sp>
        <p:nvSpPr>
          <p:cNvPr id="8" name="Shape 6"/>
          <p:cNvSpPr/>
          <p:nvPr/>
        </p:nvSpPr>
        <p:spPr>
          <a:xfrm>
            <a:off x="548640" y="2788920"/>
            <a:ext cx="3840480" cy="640080"/>
          </a:xfrm>
          <a:prstGeom prst="rect">
            <a:avLst/>
          </a:prstGeom>
          <a:solidFill>
            <a:srgbClr val="059669"/>
          </a:solidFill>
          <a:ln/>
        </p:spPr>
      </p:sp>
      <p:sp>
        <p:nvSpPr>
          <p:cNvPr id="9" name="Text 7"/>
          <p:cNvSpPr/>
          <p:nvPr/>
        </p:nvSpPr>
        <p:spPr>
          <a:xfrm>
            <a:off x="548640" y="2788920"/>
            <a:ext cx="3840480" cy="640080"/>
          </a:xfrm>
          <a:prstGeom prst="rect">
            <a:avLst/>
          </a:prstGeom>
          <a:noFill/>
          <a:ln/>
        </p:spPr>
        <p:txBody>
          <a:bodyPr wrap="square" lIns="0" tIns="0" rIns="0" bIns="0" rtlCol="0" anchor="ctr">
            <a:normAutofit/>
          </a:bodyPr>
          <a:lstStyle/>
          <a:p>
            <a:pPr algn="ctr" indent="0" marL="0">
              <a:buNone/>
            </a:pPr>
            <a:r>
              <a:rPr lang="en-US" sz="1300" b="1" dirty="0">
                <a:solidFill>
                  <a:srgbClr val="F8F9FA"/>
                </a:solidFill>
                <a:latin typeface="Calibri" pitchFamily="34" charset="0"/>
                <a:ea typeface="Calibri" pitchFamily="34" charset="-122"/>
                <a:cs typeface="Calibri" pitchFamily="34" charset="-120"/>
              </a:rPr>
              <a:t>Visit: www.qtsolv.com</a:t>
            </a:r>
            <a:endParaRPr lang="en-US" sz="1300" dirty="0"/>
          </a:p>
        </p:txBody>
      </p:sp>
      <p:sp>
        <p:nvSpPr>
          <p:cNvPr id="10" name="Shape 8"/>
          <p:cNvSpPr/>
          <p:nvPr/>
        </p:nvSpPr>
        <p:spPr>
          <a:xfrm>
            <a:off x="4754880" y="2788920"/>
            <a:ext cx="3840480" cy="640080"/>
          </a:xfrm>
          <a:prstGeom prst="rect">
            <a:avLst/>
          </a:prstGeom>
          <a:solidFill>
            <a:srgbClr val="059669"/>
          </a:solidFill>
          <a:ln/>
        </p:spPr>
      </p:sp>
      <p:sp>
        <p:nvSpPr>
          <p:cNvPr id="11" name="Text 9"/>
          <p:cNvSpPr/>
          <p:nvPr/>
        </p:nvSpPr>
        <p:spPr>
          <a:xfrm>
            <a:off x="4754880" y="2788920"/>
            <a:ext cx="3840480" cy="640080"/>
          </a:xfrm>
          <a:prstGeom prst="rect">
            <a:avLst/>
          </a:prstGeom>
          <a:noFill/>
          <a:ln/>
        </p:spPr>
        <p:txBody>
          <a:bodyPr wrap="square" lIns="0" tIns="0" rIns="0" bIns="0" rtlCol="0" anchor="ctr">
            <a:normAutofit/>
          </a:bodyPr>
          <a:lstStyle/>
          <a:p>
            <a:pPr algn="ctr" indent="0" marL="0">
              <a:buNone/>
            </a:pPr>
            <a:r>
              <a:rPr lang="en-US" sz="1300" b="1" dirty="0">
                <a:solidFill>
                  <a:srgbClr val="F8F9FA"/>
                </a:solidFill>
                <a:latin typeface="Calibri" pitchFamily="34" charset="0"/>
                <a:ea typeface="Calibri" pitchFamily="34" charset="-122"/>
                <a:cs typeface="Calibri" pitchFamily="34" charset="-120"/>
              </a:rPr>
              <a:t>Email: bhavya.singhal@qtsolv.com</a:t>
            </a:r>
            <a:endParaRPr lang="en-US" sz="1300" dirty="0"/>
          </a:p>
        </p:txBody>
      </p:sp>
      <p:sp>
        <p:nvSpPr>
          <p:cNvPr id="12" name="Text 10"/>
          <p:cNvSpPr/>
          <p:nvPr/>
        </p:nvSpPr>
        <p:spPr>
          <a:xfrm>
            <a:off x="457200" y="3566160"/>
            <a:ext cx="8229600" cy="274320"/>
          </a:xfrm>
          <a:prstGeom prst="rect">
            <a:avLst/>
          </a:prstGeom>
          <a:noFill/>
          <a:ln/>
        </p:spPr>
        <p:txBody>
          <a:bodyPr wrap="square" lIns="0" tIns="0" rIns="0" bIns="0" rtlCol="0" anchor="ctr">
            <a:normAutofit/>
          </a:bodyPr>
          <a:lstStyle/>
          <a:p>
            <a:pPr algn="ctr" indent="0" marL="0">
              <a:buNone/>
            </a:pPr>
            <a:r>
              <a:rPr lang="en-US" sz="1200" dirty="0">
                <a:solidFill>
                  <a:srgbClr val="C8D8E8"/>
                </a:solidFill>
                <a:latin typeface="Calibri Light" pitchFamily="34" charset="0"/>
                <a:ea typeface="Calibri Light" pitchFamily="34" charset="-122"/>
                <a:cs typeface="Calibri Light" pitchFamily="34" charset="-120"/>
              </a:rPr>
              <a:t>Quarks Technosoft Pvt. Ltd.</a:t>
            </a:r>
            <a:endParaRPr lang="en-US" sz="1200" dirty="0"/>
          </a:p>
        </p:txBody>
      </p:sp>
      <p:sp>
        <p:nvSpPr>
          <p:cNvPr id="13" name="Text 11"/>
          <p:cNvSpPr/>
          <p:nvPr/>
        </p:nvSpPr>
        <p:spPr>
          <a:xfrm>
            <a:off x="8229600" y="4828032"/>
            <a:ext cx="731520" cy="182880"/>
          </a:xfrm>
          <a:prstGeom prst="rect">
            <a:avLst/>
          </a:prstGeom>
          <a:noFill/>
          <a:ln/>
        </p:spPr>
        <p:txBody>
          <a:bodyPr wrap="square" rtlCol="0" anchor="ctr"/>
          <a:lstStyle/>
          <a:p>
            <a:pPr algn="r" indent="0" marL="0">
              <a:buNone/>
            </a:pPr>
            <a:r>
              <a:rPr lang="en-US" sz="1000" dirty="0">
                <a:solidFill>
                  <a:srgbClr val="C8D8E8"/>
                </a:solidFill>
                <a:latin typeface="Calibri" pitchFamily="34" charset="0"/>
                <a:ea typeface="Calibri" pitchFamily="34" charset="-122"/>
                <a:cs typeface="Calibri" pitchFamily="34" charset="-120"/>
              </a:rPr>
              <a:t>14 / 14</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Modernizing Genpact's Data Infrastructure for AI at Scale</dc:title>
  <dc:subject>PptxGenJS Presentation</dc:subject>
  <dc:creator>Sales Brain</dc:creator>
  <cp:lastModifiedBy>Sales Brain</cp:lastModifiedBy>
  <cp:revision>1</cp:revision>
  <dcterms:created xsi:type="dcterms:W3CDTF">2026-07-01T07:11:36Z</dcterms:created>
  <dcterms:modified xsi:type="dcterms:W3CDTF">2026-07-01T07:11:36Z</dcterms:modified>
</cp:coreProperties>
</file>