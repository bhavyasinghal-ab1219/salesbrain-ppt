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52"/>
    <p:restoredTop sz="94610"/>
  </p:normalViewPr>
  <p:slideViewPr>
    <p:cSldViewPr snapToGrid="0" snapToObjects="1">
      <p:cViewPr varScale="1">
        <p:scale>
          <a:sx n="148" d="100"/>
          <a:sy n="148"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286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tailored this to accelerate Autodesk’s AI/ML and GenAI with a robust MLOps and ML platform foundation. With deep Kubernetes, data platform, and enterprise QE expertise, we’ll improve reliability while speeding delivery. Our Tata Motors work cut regression from 3 days to 2.5 hours and reduced defect escape to 0.3%—we’ll bring that rigor to your SaaS portfolio.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start with Autodesk’s context and goals, then surface key challenges in scaling AI/ML platforms, cloud-native infrastructure, and quality across diverse CAD formats. Next, we’ll outline our solution and approach, then share proof and pricing before closing with clear next steps. Stop me anytime with questions.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dive into solutions, let’s align on Autodesk’s near-term imperatives: scaling GenAI/ML with robust MLOps, hardening cloud reliability, and elevating quality across complex CAD/3D workflows. We’ll apply platform-first MLOps, Kubernetes and data pipeline reliability patterns, and enterprise-grade test automation to de-risk speed at portfolio scale.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seeing friction from a fragmented ML stack and slow, inconsistent deployments across product lines. Platform scale on Kubernetes plus Spark/Presto/Hive is stressing reliability and cost, slowing SaaS velocity. Without rigorous QE across diverse CAD/3D formats, interoperability and performance slip, driving regressions and customer pain.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by nailing the baseline—lead time, retrain cadence, coverage, and SLOs—so we can see where flow stalls. We’ll instrument pipelines and services to surface bottlenecks, then prioritize fixes that unlock the most velocity with least risk. Results like 0.3% defect escape at Tata Motors show what disciplined measurement can enable.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lead with production-grade MLOps and ML platforms to quickly scale AI/ML and GenAI across Autodesk’s products, then harden the cloud-native stack for reliability and speed. Our enterprise QE ensures interoperability and performance across complex CAD/3D formats—proven by cutting regression from 3 days to 2.5 hours and driving defect escape to 0.3%.</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accelerate AI with a robust MLOps + ML platform—feature store, registry, and CI/CD—paired with proven GenAI patterns. In parallel, we optimize Kubernetes and big data platforms for reliable SaaS scale, and automate CAD/3D regression to deliver 3 days to 2.5 hours with 0.3% escapes. We can embed senior engineers to jumpstart adoption across Autodesk’s product lines.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lead with AI/ML and GenAI platform acceleration, then show how MLOps, cloud-native foundations, and QE make it repeatable at Autodesk scale. Our Tata Motors case proved the model—cutting regression from 3 days to 2.5 hours while driving defect escape down to 0.3%. We can embed senior engineers to jumpstart your platforms and ship value fast.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operate natively across this stack, so we can plug into your current environments fast and scale confidently. Our QE toolchain spans Playwright through JMeter plus CAD validators to ensure interoperability and performance across diverse formats. Backed by outcomes like cutting regression to 2.5 hours at Tata Motors, we bring proven acceleration to your ML and platform initiatives.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manual model ops and siloed infrastructure slow AI velocity and reliability. We propose automated MLOps on a resilient Kubernetes data platform with rigorous CAD/3D quality and performance gates. We’ve delivered this before—cutting regression from 3 days to 2.5 hours and reaching 0.3% defect escape.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Tata Motors, we compressed regression from three days to 2.5 hours and cut defect escape to 0.3% with full-stack QA across web, APIs, and OBD. The same playbook slots into Autodesk’s pipelines to harden CI/CD, accelerate MLOps, and validate CAD/3D interoperability at scale. We’ll embed senior engineers to stand this up quickly and transfer practices.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offer three flexible paths: a Platform Acceleration Pod to build and harden MLOps and ML platforms, Managed QE-as-a-Service to assure performance and interoperability across CAD/3D, and embedded senior engineers to boost squad velocity. We can start with one and blend as priorities evolve. Our Tata Motors work hit 0.3% defect escape and cut regression from 3 days to 2.5 hours—this is the bar we set.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kept pricing simple and aligned to measurable value for Autodesk. Choose a pod for rapid MLOps and GenAI outcomes, a managed service for SLO-backed operations, or staff aug when you need senior capacity fast. Every engagement begins with discovery and clear KPIs so we can track success together.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battle-tested leaders who embed with your teams to move fast without breaking reliability. They’ll align roadmaps, stand up MLOps and data pipelines, and harden CI/CD while driving measurable quality gains. Our Tata Motors program cut regression to 2.5 hours and achieved 0.3% defect escape—the same rigor we’ll bring to Autodesk.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already at 85% alignment; now let’s turn that into momentum. We’ll lock scope and success metrics, blueprint the MLOps platform, and stand up a focused pilot pod. In 4–6 weeks, we’ll have measurable outcomes and a clear scale plan.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lock a 60–90 minute workshop with your core team to finalize scope, success metrics, and owners. From there, we’ll kick off a focused 6–8 week pilot to harden MLOps, accelerate the ML platform, and stand up QE automation across key CAD/3D paths. Our Tata Motors program cut regression from 3 days to 2.5 hours and defect escape to 0.3%—we’re ready to replicate that for Autodesk.</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_MASTER">
    <p:bg>
      <p:bgPr>
        <a:solidFill>
          <a:srgbClr val="F0FAFA"/>
        </a:solidFill>
        <a:effectLst/>
      </p:bgPr>
    </p:bg>
    <p:spTree>
      <p:nvGrpSpPr>
        <p:cNvPr id="1" name=""/>
        <p:cNvGrpSpPr/>
        <p:nvPr/>
      </p:nvGrpSpPr>
      <p:grpSpPr>
        <a:xfrm>
          <a:off x="0" y="0"/>
          <a:ext cx="0" cy="0"/>
          <a:chOff x="0" y="0"/>
          <a:chExt cx="0" cy="0"/>
        </a:xfrm>
      </p:grpSpPr>
      <p:sp>
        <p:nvSpPr>
          <p:cNvPr id="2" name="Shape 0"/>
          <p:cNvSpPr/>
          <p:nvPr/>
        </p:nvSpPr>
        <p:spPr>
          <a:xfrm>
            <a:off x="365760" y="4462272"/>
            <a:ext cx="8412480" cy="0"/>
          </a:xfrm>
          <a:prstGeom prst="line">
            <a:avLst/>
          </a:prstGeom>
          <a:noFill/>
          <a:ln w="6350">
            <a:solidFill>
              <a:srgbClr val="00A896"/>
            </a:solidFill>
            <a:prstDash val="solid"/>
          </a:ln>
        </p:spPr>
      </p:sp>
      <p:sp>
        <p:nvSpPr>
          <p:cNvPr id="3" name="Text 1"/>
          <p:cNvSpPr/>
          <p:nvPr/>
        </p:nvSpPr>
        <p:spPr>
          <a:xfrm>
            <a:off x="457200" y="4526280"/>
            <a:ext cx="2743200" cy="182880"/>
          </a:xfrm>
          <a:prstGeom prst="rect">
            <a:avLst/>
          </a:prstGeom>
          <a:noFill/>
          <a:ln/>
        </p:spPr>
        <p:txBody>
          <a:bodyPr wrap="square" rtlCol="0" anchor="ctr"/>
          <a:lstStyle/>
          <a:p>
            <a:pPr marL="0" indent="0" algn="l">
              <a:buNone/>
            </a:pPr>
            <a:r>
              <a:rPr lang="en-US" sz="900" dirty="0">
                <a:solidFill>
                  <a:srgbClr val="00A896"/>
                </a:solidFill>
                <a:latin typeface="Calibri" pitchFamily="34" charset="0"/>
                <a:ea typeface="Calibri" pitchFamily="34" charset="-122"/>
                <a:cs typeface="Calibri" pitchFamily="34" charset="-120"/>
              </a:rPr>
              <a:t>Quarks Technosoft Pvt. Ltd.</a:t>
            </a:r>
            <a:endParaRPr lang="en-US" sz="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MASTER">
    <p:bg>
      <p:bgPr>
        <a:solidFill>
          <a:srgbClr val="028090"/>
        </a:solidFill>
        <a:effectLst/>
      </p:bgPr>
    </p:bg>
    <p:spTree>
      <p:nvGrpSpPr>
        <p:cNvPr id="1" name=""/>
        <p:cNvGrpSpPr/>
        <p:nvPr/>
      </p:nvGrpSpPr>
      <p:grpSpPr>
        <a:xfrm>
          <a:off x="0" y="0"/>
          <a:ext cx="0" cy="0"/>
          <a:chOff x="0" y="0"/>
          <a:chExt cx="0" cy="0"/>
        </a:xfrm>
      </p:grpSpPr>
      <p:sp>
        <p:nvSpPr>
          <p:cNvPr id="2" name="Shape 0"/>
          <p:cNvSpPr/>
          <p:nvPr/>
        </p:nvSpPr>
        <p:spPr>
          <a:xfrm>
            <a:off x="365760" y="4462272"/>
            <a:ext cx="8412480" cy="0"/>
          </a:xfrm>
          <a:prstGeom prst="line">
            <a:avLst/>
          </a:prstGeom>
          <a:noFill/>
          <a:ln w="6350">
            <a:solidFill>
              <a:srgbClr val="00A896"/>
            </a:solidFill>
            <a:prstDash val="solid"/>
          </a:ln>
        </p:spPr>
      </p:sp>
      <p:sp>
        <p:nvSpPr>
          <p:cNvPr id="3" name="Text 1"/>
          <p:cNvSpPr/>
          <p:nvPr/>
        </p:nvSpPr>
        <p:spPr>
          <a:xfrm>
            <a:off x="457200" y="4526280"/>
            <a:ext cx="2743200" cy="182880"/>
          </a:xfrm>
          <a:prstGeom prst="rect">
            <a:avLst/>
          </a:prstGeom>
          <a:noFill/>
          <a:ln/>
        </p:spPr>
        <p:txBody>
          <a:bodyPr wrap="square" rtlCol="0" anchor="ctr"/>
          <a:lstStyle/>
          <a:p>
            <a:pPr marL="0" indent="0" algn="l">
              <a:buNone/>
            </a:pPr>
            <a:r>
              <a:rPr lang="en-US" sz="900" dirty="0">
                <a:solidFill>
                  <a:srgbClr val="B2EAE8"/>
                </a:solidFill>
                <a:latin typeface="Calibri" pitchFamily="34" charset="0"/>
                <a:ea typeface="Calibri" pitchFamily="34" charset="-122"/>
                <a:cs typeface="Calibri" pitchFamily="34" charset="-120"/>
              </a:rPr>
              <a:t>Quarks Technosoft Pvt. Ltd.</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8090"/>
        </a:solidFill>
        <a:effectLst/>
      </p:bgPr>
    </p:bg>
    <p:spTree>
      <p:nvGrpSpPr>
        <p:cNvPr id="1" name=""/>
        <p:cNvGrpSpPr/>
        <p:nvPr/>
      </p:nvGrpSpPr>
      <p:grpSpPr>
        <a:xfrm>
          <a:off x="0" y="0"/>
          <a:ext cx="0" cy="0"/>
          <a:chOff x="0" y="0"/>
          <a:chExt cx="0" cy="0"/>
        </a:xfrm>
      </p:grpSpPr>
      <p:sp>
        <p:nvSpPr>
          <p:cNvPr id="2" name="Shape 0"/>
          <p:cNvSpPr/>
          <p:nvPr/>
        </p:nvSpPr>
        <p:spPr>
          <a:xfrm>
            <a:off x="6583680" y="-1097280"/>
            <a:ext cx="4114800" cy="4114800"/>
          </a:xfrm>
          <a:prstGeom prst="ellipse">
            <a:avLst/>
          </a:prstGeom>
          <a:solidFill>
            <a:srgbClr val="02C39A">
              <a:alpha val="18000"/>
            </a:srgbClr>
          </a:solidFill>
          <a:ln w="12700">
            <a:solidFill>
              <a:srgbClr val="02C39A"/>
            </a:solidFill>
            <a:prstDash val="solid"/>
          </a:ln>
        </p:spPr>
        <p:txBody>
          <a:bodyPr/>
          <a:lstStyle/>
          <a:p>
            <a:endParaRPr lang="en-US"/>
          </a:p>
        </p:txBody>
      </p:sp>
      <p:sp>
        <p:nvSpPr>
          <p:cNvPr id="3" name="Shape 1"/>
          <p:cNvSpPr/>
          <p:nvPr/>
        </p:nvSpPr>
        <p:spPr>
          <a:xfrm>
            <a:off x="7132320" y="-548640"/>
            <a:ext cx="2743200" cy="2743200"/>
          </a:xfrm>
          <a:prstGeom prst="ellipse">
            <a:avLst/>
          </a:prstGeom>
          <a:solidFill>
            <a:srgbClr val="00A896">
              <a:alpha val="25000"/>
            </a:srgbClr>
          </a:solidFill>
          <a:ln w="12700">
            <a:solidFill>
              <a:srgbClr val="00A896"/>
            </a:solidFill>
            <a:prstDash val="solid"/>
          </a:ln>
        </p:spPr>
        <p:txBody>
          <a:bodyPr/>
          <a:lstStyle/>
          <a:p>
            <a:endParaRPr lang="en-US"/>
          </a:p>
        </p:txBody>
      </p:sp>
      <p:sp>
        <p:nvSpPr>
          <p:cNvPr id="4" name="Text 2"/>
          <p:cNvSpPr/>
          <p:nvPr/>
        </p:nvSpPr>
        <p:spPr>
          <a:xfrm>
            <a:off x="548640" y="640080"/>
            <a:ext cx="5486400" cy="274320"/>
          </a:xfrm>
          <a:prstGeom prst="rect">
            <a:avLst/>
          </a:prstGeom>
          <a:noFill/>
          <a:ln/>
        </p:spPr>
        <p:txBody>
          <a:bodyPr wrap="square" lIns="0" tIns="0" rIns="0" bIns="0" rtlCol="0" anchor="ctr"/>
          <a:lstStyle/>
          <a:p>
            <a:pPr marL="0" indent="0" algn="l">
              <a:buNone/>
            </a:pPr>
            <a:r>
              <a:rPr lang="en-US" sz="1000" b="1" kern="0" spc="400" dirty="0">
                <a:solidFill>
                  <a:srgbClr val="02C39A"/>
                </a:solidFill>
                <a:latin typeface="Calibri" pitchFamily="34" charset="0"/>
                <a:ea typeface="Calibri" pitchFamily="34" charset="-122"/>
                <a:cs typeface="Calibri" pitchFamily="34" charset="-120"/>
              </a:rPr>
              <a:t>SALES PRESENTATION</a:t>
            </a:r>
            <a:endParaRPr lang="en-US" sz="1000" dirty="0"/>
          </a:p>
        </p:txBody>
      </p:sp>
      <p:sp>
        <p:nvSpPr>
          <p:cNvPr id="5" name="Text 3"/>
          <p:cNvSpPr/>
          <p:nvPr/>
        </p:nvSpPr>
        <p:spPr>
          <a:xfrm>
            <a:off x="548640" y="960120"/>
            <a:ext cx="7132320" cy="1371600"/>
          </a:xfrm>
          <a:prstGeom prst="rect">
            <a:avLst/>
          </a:prstGeom>
          <a:noFill/>
          <a:ln/>
        </p:spPr>
        <p:txBody>
          <a:bodyPr wrap="square" lIns="0" tIns="0" rIns="0" bIns="0" rtlCol="0" anchor="t"/>
          <a:lstStyle/>
          <a:p>
            <a:pPr marL="0" indent="0" algn="l">
              <a:buNone/>
            </a:pPr>
            <a:r>
              <a:rPr lang="en-US" sz="4000" b="1" dirty="0">
                <a:solidFill>
                  <a:srgbClr val="FFFFFF"/>
                </a:solidFill>
                <a:latin typeface="Cambria" pitchFamily="34" charset="0"/>
                <a:ea typeface="Cambria" pitchFamily="34" charset="-122"/>
                <a:cs typeface="Cambria" pitchFamily="34" charset="-120"/>
              </a:rPr>
              <a:t>Autodesk AI/ML &amp; GenAI Platform Acceleration</a:t>
            </a:r>
            <a:endParaRPr lang="en-US" sz="4000" dirty="0"/>
          </a:p>
        </p:txBody>
      </p:sp>
      <p:sp>
        <p:nvSpPr>
          <p:cNvPr id="6" name="Text 4"/>
          <p:cNvSpPr/>
          <p:nvPr/>
        </p:nvSpPr>
        <p:spPr>
          <a:xfrm>
            <a:off x="548640" y="2423160"/>
            <a:ext cx="5943600" cy="502920"/>
          </a:xfrm>
          <a:prstGeom prst="rect">
            <a:avLst/>
          </a:prstGeom>
          <a:noFill/>
          <a:ln/>
        </p:spPr>
        <p:txBody>
          <a:bodyPr wrap="square" lIns="0" tIns="0" rIns="0" bIns="0" rtlCol="0" anchor="ctr"/>
          <a:lstStyle/>
          <a:p>
            <a:pPr marL="0" indent="0" algn="l">
              <a:buNone/>
            </a:pPr>
            <a:r>
              <a:rPr lang="en-US" sz="1600" dirty="0">
                <a:solidFill>
                  <a:srgbClr val="B2EAE8"/>
                </a:solidFill>
                <a:latin typeface="Calibri" pitchFamily="34" charset="0"/>
                <a:ea typeface="Calibri" pitchFamily="34" charset="-122"/>
                <a:cs typeface="Calibri" pitchFamily="34" charset="-120"/>
              </a:rPr>
              <a:t>Cloud-native MLOps, Kubernetes, and Enterprise QE to scale reliable SaaS.</a:t>
            </a:r>
            <a:endParaRPr lang="en-US" sz="1600" dirty="0"/>
          </a:p>
        </p:txBody>
      </p:sp>
      <p:sp>
        <p:nvSpPr>
          <p:cNvPr id="7" name="Shape 5"/>
          <p:cNvSpPr/>
          <p:nvPr/>
        </p:nvSpPr>
        <p:spPr>
          <a:xfrm>
            <a:off x="457200" y="3108960"/>
            <a:ext cx="7315200" cy="777240"/>
          </a:xfrm>
          <a:prstGeom prst="rect">
            <a:avLst/>
          </a:prstGeom>
          <a:solidFill>
            <a:srgbClr val="02C39A">
              <a:alpha val="15000"/>
            </a:srgbClr>
          </a:solidFill>
          <a:ln w="12700">
            <a:solidFill>
              <a:srgbClr val="02C39A"/>
            </a:solidFill>
            <a:prstDash val="solid"/>
          </a:ln>
        </p:spPr>
        <p:txBody>
          <a:bodyPr/>
          <a:lstStyle/>
          <a:p>
            <a:endParaRPr lang="en-US"/>
          </a:p>
        </p:txBody>
      </p:sp>
      <p:sp>
        <p:nvSpPr>
          <p:cNvPr id="8" name="Text 6"/>
          <p:cNvSpPr/>
          <p:nvPr/>
        </p:nvSpPr>
        <p:spPr>
          <a:xfrm>
            <a:off x="457200" y="3090672"/>
            <a:ext cx="2438400" cy="475488"/>
          </a:xfrm>
          <a:prstGeom prst="rect">
            <a:avLst/>
          </a:prstGeom>
          <a:noFill/>
          <a:ln/>
        </p:spPr>
        <p:txBody>
          <a:bodyPr wrap="square" lIns="0" tIns="0" rIns="0" bIns="0" rtlCol="0" anchor="b"/>
          <a:lstStyle/>
          <a:p>
            <a:pPr marL="0" indent="0" algn="ctr">
              <a:buNone/>
            </a:pPr>
            <a:r>
              <a:rPr lang="en-US" sz="2600" b="1" dirty="0">
                <a:solidFill>
                  <a:srgbClr val="02C39A"/>
                </a:solidFill>
                <a:latin typeface="Cambria" pitchFamily="34" charset="0"/>
                <a:ea typeface="Cambria" pitchFamily="34" charset="-122"/>
                <a:cs typeface="Cambria" pitchFamily="34" charset="-120"/>
              </a:rPr>
              <a:t>3d → 2.5h</a:t>
            </a:r>
            <a:endParaRPr lang="en-US" sz="2600" dirty="0"/>
          </a:p>
        </p:txBody>
      </p:sp>
      <p:sp>
        <p:nvSpPr>
          <p:cNvPr id="9" name="Text 7"/>
          <p:cNvSpPr/>
          <p:nvPr/>
        </p:nvSpPr>
        <p:spPr>
          <a:xfrm>
            <a:off x="457200" y="3566160"/>
            <a:ext cx="2438400" cy="274320"/>
          </a:xfrm>
          <a:prstGeom prst="rect">
            <a:avLst/>
          </a:prstGeom>
          <a:noFill/>
          <a:ln/>
        </p:spPr>
        <p:txBody>
          <a:bodyPr wrap="square" lIns="0" tIns="0" rIns="0" bIns="0" rtlCol="0" anchor="t"/>
          <a:lstStyle/>
          <a:p>
            <a:pPr marL="0" indent="0" algn="ctr">
              <a:buNone/>
            </a:pPr>
            <a:r>
              <a:rPr lang="en-US" sz="900" dirty="0">
                <a:solidFill>
                  <a:srgbClr val="B2EAE8"/>
                </a:solidFill>
                <a:latin typeface="Calibri" pitchFamily="34" charset="0"/>
                <a:ea typeface="Calibri" pitchFamily="34" charset="-122"/>
                <a:cs typeface="Calibri" pitchFamily="34" charset="-120"/>
              </a:rPr>
              <a:t>Regression cycle reduced</a:t>
            </a:r>
            <a:endParaRPr lang="en-US" sz="900" dirty="0"/>
          </a:p>
        </p:txBody>
      </p:sp>
      <p:sp>
        <p:nvSpPr>
          <p:cNvPr id="10" name="Text 8"/>
          <p:cNvSpPr/>
          <p:nvPr/>
        </p:nvSpPr>
        <p:spPr>
          <a:xfrm>
            <a:off x="2895600" y="3090672"/>
            <a:ext cx="2438400" cy="475488"/>
          </a:xfrm>
          <a:prstGeom prst="rect">
            <a:avLst/>
          </a:prstGeom>
          <a:noFill/>
          <a:ln/>
        </p:spPr>
        <p:txBody>
          <a:bodyPr wrap="square" lIns="0" tIns="0" rIns="0" bIns="0" rtlCol="0" anchor="b"/>
          <a:lstStyle/>
          <a:p>
            <a:pPr marL="0" indent="0" algn="ctr">
              <a:buNone/>
            </a:pPr>
            <a:r>
              <a:rPr lang="en-US" sz="2600" b="1" dirty="0">
                <a:solidFill>
                  <a:srgbClr val="02C39A"/>
                </a:solidFill>
                <a:latin typeface="Cambria" pitchFamily="34" charset="0"/>
                <a:ea typeface="Cambria" pitchFamily="34" charset="-122"/>
                <a:cs typeface="Cambria" pitchFamily="34" charset="-120"/>
              </a:rPr>
              <a:t>0.3%</a:t>
            </a:r>
            <a:endParaRPr lang="en-US" sz="2600" dirty="0"/>
          </a:p>
        </p:txBody>
      </p:sp>
      <p:sp>
        <p:nvSpPr>
          <p:cNvPr id="11" name="Text 9"/>
          <p:cNvSpPr/>
          <p:nvPr/>
        </p:nvSpPr>
        <p:spPr>
          <a:xfrm>
            <a:off x="2895600" y="3566160"/>
            <a:ext cx="2438400" cy="274320"/>
          </a:xfrm>
          <a:prstGeom prst="rect">
            <a:avLst/>
          </a:prstGeom>
          <a:noFill/>
          <a:ln/>
        </p:spPr>
        <p:txBody>
          <a:bodyPr wrap="square" lIns="0" tIns="0" rIns="0" bIns="0" rtlCol="0" anchor="t"/>
          <a:lstStyle/>
          <a:p>
            <a:pPr marL="0" indent="0" algn="ctr">
              <a:buNone/>
            </a:pPr>
            <a:r>
              <a:rPr lang="en-US" sz="900" dirty="0">
                <a:solidFill>
                  <a:srgbClr val="B2EAE8"/>
                </a:solidFill>
                <a:latin typeface="Calibri" pitchFamily="34" charset="0"/>
                <a:ea typeface="Calibri" pitchFamily="34" charset="-122"/>
                <a:cs typeface="Calibri" pitchFamily="34" charset="-120"/>
              </a:rPr>
              <a:t>Defect escape at Tata Motors</a:t>
            </a:r>
            <a:endParaRPr lang="en-US" sz="900" dirty="0"/>
          </a:p>
        </p:txBody>
      </p:sp>
      <p:sp>
        <p:nvSpPr>
          <p:cNvPr id="12" name="Text 10"/>
          <p:cNvSpPr/>
          <p:nvPr/>
        </p:nvSpPr>
        <p:spPr>
          <a:xfrm>
            <a:off x="5334000" y="3090672"/>
            <a:ext cx="2438400" cy="475488"/>
          </a:xfrm>
          <a:prstGeom prst="rect">
            <a:avLst/>
          </a:prstGeom>
          <a:noFill/>
          <a:ln/>
        </p:spPr>
        <p:txBody>
          <a:bodyPr wrap="square" lIns="0" tIns="0" rIns="0" bIns="0" rtlCol="0" anchor="b"/>
          <a:lstStyle/>
          <a:p>
            <a:pPr marL="0" indent="0" algn="ctr">
              <a:buNone/>
            </a:pPr>
            <a:r>
              <a:rPr lang="en-US" sz="2600" b="1" dirty="0">
                <a:solidFill>
                  <a:srgbClr val="02C39A"/>
                </a:solidFill>
                <a:latin typeface="Cambria" pitchFamily="34" charset="0"/>
                <a:ea typeface="Cambria" pitchFamily="34" charset="-122"/>
                <a:cs typeface="Cambria" pitchFamily="34" charset="-120"/>
              </a:rPr>
              <a:t>85%</a:t>
            </a:r>
            <a:endParaRPr lang="en-US" sz="2600" dirty="0"/>
          </a:p>
        </p:txBody>
      </p:sp>
      <p:sp>
        <p:nvSpPr>
          <p:cNvPr id="13" name="Text 11"/>
          <p:cNvSpPr/>
          <p:nvPr/>
        </p:nvSpPr>
        <p:spPr>
          <a:xfrm>
            <a:off x="5334000" y="3566160"/>
            <a:ext cx="2438400" cy="274320"/>
          </a:xfrm>
          <a:prstGeom prst="rect">
            <a:avLst/>
          </a:prstGeom>
          <a:noFill/>
          <a:ln/>
        </p:spPr>
        <p:txBody>
          <a:bodyPr wrap="square" lIns="0" tIns="0" rIns="0" bIns="0" rtlCol="0" anchor="t"/>
          <a:lstStyle/>
          <a:p>
            <a:pPr marL="0" indent="0" algn="ctr">
              <a:buNone/>
            </a:pPr>
            <a:r>
              <a:rPr lang="en-US" sz="900" dirty="0">
                <a:solidFill>
                  <a:srgbClr val="B2EAE8"/>
                </a:solidFill>
                <a:latin typeface="Calibri" pitchFamily="34" charset="0"/>
                <a:ea typeface="Calibri" pitchFamily="34" charset="-122"/>
                <a:cs typeface="Calibri" pitchFamily="34" charset="-120"/>
              </a:rPr>
              <a:t>Alignment score</a:t>
            </a:r>
            <a:endParaRPr lang="en-US" sz="900" dirty="0"/>
          </a:p>
        </p:txBody>
      </p:sp>
      <p:sp>
        <p:nvSpPr>
          <p:cNvPr id="14" name="Shape 12"/>
          <p:cNvSpPr/>
          <p:nvPr/>
        </p:nvSpPr>
        <p:spPr>
          <a:xfrm>
            <a:off x="548640" y="3977640"/>
            <a:ext cx="2926080" cy="411480"/>
          </a:xfrm>
          <a:prstGeom prst="roundRect">
            <a:avLst>
              <a:gd name="adj" fmla="val 17778"/>
            </a:avLst>
          </a:prstGeom>
          <a:solidFill>
            <a:srgbClr val="02C39A"/>
          </a:solidFill>
          <a:ln w="12700">
            <a:solidFill>
              <a:srgbClr val="02C39A"/>
            </a:solidFill>
            <a:prstDash val="solid"/>
          </a:ln>
        </p:spPr>
        <p:txBody>
          <a:bodyPr/>
          <a:lstStyle/>
          <a:p>
            <a:endParaRPr lang="en-US"/>
          </a:p>
        </p:txBody>
      </p:sp>
      <p:sp>
        <p:nvSpPr>
          <p:cNvPr id="15" name="Text 13"/>
          <p:cNvSpPr/>
          <p:nvPr/>
        </p:nvSpPr>
        <p:spPr>
          <a:xfrm>
            <a:off x="548640" y="3977640"/>
            <a:ext cx="2926080" cy="411480"/>
          </a:xfrm>
          <a:prstGeom prst="rect">
            <a:avLst/>
          </a:prstGeom>
          <a:noFill/>
          <a:ln/>
        </p:spPr>
        <p:txBody>
          <a:bodyPr wrap="square" lIns="0" tIns="0" rIns="0" bIns="0" rtlCol="0" anchor="ctr"/>
          <a:lstStyle/>
          <a:p>
            <a:pPr marL="0" indent="0" algn="ctr">
              <a:buNone/>
            </a:pPr>
            <a:r>
              <a:rPr lang="en-US" sz="1100" b="1" dirty="0">
                <a:solidFill>
                  <a:srgbClr val="028090"/>
                </a:solidFill>
                <a:latin typeface="Calibri" pitchFamily="34" charset="0"/>
                <a:ea typeface="Calibri" pitchFamily="34" charset="-122"/>
                <a:cs typeface="Calibri" pitchFamily="34" charset="-120"/>
              </a:rPr>
              <a:t>Prepared for Autodesk</a:t>
            </a:r>
            <a:endParaRPr lang="en-US" sz="1100" dirty="0"/>
          </a:p>
        </p:txBody>
      </p:sp>
      <p:sp>
        <p:nvSpPr>
          <p:cNvPr id="16" name="Text 14"/>
          <p:cNvSpPr/>
          <p:nvPr/>
        </p:nvSpPr>
        <p:spPr>
          <a:xfrm>
            <a:off x="8412480" y="4526280"/>
            <a:ext cx="548640" cy="182880"/>
          </a:xfrm>
          <a:prstGeom prst="rect">
            <a:avLst/>
          </a:prstGeom>
          <a:noFill/>
          <a:ln/>
        </p:spPr>
        <p:txBody>
          <a:bodyPr wrap="square" rtlCol="0" anchor="ctr"/>
          <a:lstStyle/>
          <a:p>
            <a:pPr marL="0" indent="0" algn="r">
              <a:buNone/>
            </a:pPr>
            <a:r>
              <a:rPr lang="en-US" sz="900" dirty="0">
                <a:solidFill>
                  <a:srgbClr val="B2EAE8"/>
                </a:solidFill>
                <a:latin typeface="Calibri" pitchFamily="34" charset="0"/>
                <a:ea typeface="Calibri" pitchFamily="34" charset="-122"/>
                <a:cs typeface="Calibri" pitchFamily="34" charset="-120"/>
              </a:rPr>
              <a:t>1 / 16</a:t>
            </a:r>
            <a:endParaRPr lang="en-US" sz="900" dirty="0"/>
          </a:p>
        </p:txBody>
      </p:sp>
      <p:sp>
        <p:nvSpPr>
          <p:cNvPr id="17" name="TextBox 16">
            <a:extLst>
              <a:ext uri="{FF2B5EF4-FFF2-40B4-BE49-F238E27FC236}">
                <a16:creationId xmlns:a16="http://schemas.microsoft.com/office/drawing/2014/main" id="{B1E9B2DF-92EE-C1FD-1385-29257A196176}"/>
              </a:ext>
            </a:extLst>
          </p:cNvPr>
          <p:cNvSpPr txBox="1"/>
          <p:nvPr/>
        </p:nvSpPr>
        <p:spPr>
          <a:xfrm>
            <a:off x="353683" y="1759789"/>
            <a:ext cx="184731" cy="369332"/>
          </a:xfrm>
          <a:prstGeom prst="rect">
            <a:avLst/>
          </a:prstGeom>
          <a:noFill/>
        </p:spPr>
        <p:txBody>
          <a:bodyPr wrap="none" rtlCol="0">
            <a:spAutoFit/>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AFA"/>
        </a:solidFill>
        <a:effectLst/>
      </p:bgPr>
    </p:bg>
    <p:spTree>
      <p:nvGrpSpPr>
        <p:cNvPr id="1" name=""/>
        <p:cNvGrpSpPr/>
        <p:nvPr/>
      </p:nvGrpSpPr>
      <p:grpSpPr>
        <a:xfrm>
          <a:off x="0" y="0"/>
          <a:ext cx="0" cy="0"/>
          <a:chOff x="0" y="0"/>
          <a:chExt cx="0" cy="0"/>
        </a:xfrm>
      </p:grpSpPr>
      <p:sp>
        <p:nvSpPr>
          <p:cNvPr id="2" name="Shape 0"/>
          <p:cNvSpPr/>
          <p:nvPr/>
        </p:nvSpPr>
        <p:spPr>
          <a:xfrm>
            <a:off x="6858000" y="2743200"/>
            <a:ext cx="3657600" cy="3657600"/>
          </a:xfrm>
          <a:prstGeom prst="ellipse">
            <a:avLst/>
          </a:prstGeom>
          <a:solidFill>
            <a:srgbClr val="028090">
              <a:alpha val="6000"/>
            </a:srgbClr>
          </a:solidFill>
          <a:ln w="12700">
            <a:solidFill>
              <a:srgbClr val="028090"/>
            </a:solidFill>
            <a:prstDash val="solid"/>
          </a:ln>
        </p:spPr>
        <p:txBody>
          <a:bodyPr/>
          <a:lstStyle/>
          <a:p>
            <a:endParaRPr lang="en-US"/>
          </a:p>
        </p:txBody>
      </p:sp>
      <p:sp>
        <p:nvSpPr>
          <p:cNvPr id="3" name="Text 1"/>
          <p:cNvSpPr/>
          <p:nvPr/>
        </p:nvSpPr>
        <p:spPr>
          <a:xfrm>
            <a:off x="457200" y="228600"/>
            <a:ext cx="5486400" cy="228600"/>
          </a:xfrm>
          <a:prstGeom prst="rect">
            <a:avLst/>
          </a:prstGeom>
          <a:noFill/>
          <a:ln/>
        </p:spPr>
        <p:txBody>
          <a:bodyPr wrap="square" lIns="0" tIns="0" rIns="0" bIns="0" rtlCol="0" anchor="ctr"/>
          <a:lstStyle/>
          <a:p>
            <a:pPr marL="0" indent="0" algn="l">
              <a:buNone/>
            </a:pPr>
            <a:r>
              <a:rPr lang="en-US" sz="900" b="1" kern="0" spc="400" dirty="0">
                <a:solidFill>
                  <a:srgbClr val="028090"/>
                </a:solidFill>
                <a:latin typeface="Calibri" pitchFamily="34" charset="0"/>
                <a:ea typeface="Calibri" pitchFamily="34" charset="-122"/>
                <a:cs typeface="Calibri" pitchFamily="34" charset="-120"/>
              </a:rPr>
              <a:t>AGENDA</a:t>
            </a:r>
            <a:endParaRPr lang="en-US" sz="900" dirty="0"/>
          </a:p>
        </p:txBody>
      </p:sp>
      <p:sp>
        <p:nvSpPr>
          <p:cNvPr id="4" name="Text 2"/>
          <p:cNvSpPr/>
          <p:nvPr/>
        </p:nvSpPr>
        <p:spPr>
          <a:xfrm>
            <a:off x="457200" y="457200"/>
            <a:ext cx="8229600" cy="502920"/>
          </a:xfrm>
          <a:prstGeom prst="rect">
            <a:avLst/>
          </a:prstGeom>
          <a:noFill/>
          <a:ln/>
        </p:spPr>
        <p:txBody>
          <a:bodyPr wrap="square" lIns="0" tIns="0" rIns="0" bIns="0" rtlCol="0" anchor="ctr"/>
          <a:lstStyle/>
          <a:p>
            <a:pPr marL="0" indent="0" algn="l">
              <a:buNone/>
            </a:pPr>
            <a:r>
              <a:rPr lang="en-US" sz="2800" b="1" dirty="0">
                <a:solidFill>
                  <a:srgbClr val="028090"/>
                </a:solidFill>
                <a:latin typeface="Cambria" pitchFamily="34" charset="0"/>
                <a:ea typeface="Cambria" pitchFamily="34" charset="-122"/>
                <a:cs typeface="Cambria" pitchFamily="34" charset="-120"/>
              </a:rPr>
              <a:t>Today's Agenda and Flow</a:t>
            </a:r>
            <a:endParaRPr lang="en-US" sz="2800" dirty="0"/>
          </a:p>
        </p:txBody>
      </p:sp>
      <p:sp>
        <p:nvSpPr>
          <p:cNvPr id="5" name="Text 3"/>
          <p:cNvSpPr/>
          <p:nvPr/>
        </p:nvSpPr>
        <p:spPr>
          <a:xfrm>
            <a:off x="457200" y="987552"/>
            <a:ext cx="8229600" cy="274320"/>
          </a:xfrm>
          <a:prstGeom prst="rect">
            <a:avLst/>
          </a:prstGeom>
          <a:noFill/>
          <a:ln/>
        </p:spPr>
        <p:txBody>
          <a:bodyPr wrap="square" lIns="0" tIns="0" rIns="0" bIns="0" rtlCol="0" anchor="ctr"/>
          <a:lstStyle/>
          <a:p>
            <a:pPr marL="0" indent="0" algn="l">
              <a:buNone/>
            </a:pPr>
            <a:r>
              <a:rPr lang="en-US" sz="1300" i="1" dirty="0">
                <a:solidFill>
                  <a:srgbClr val="00A896"/>
                </a:solidFill>
                <a:latin typeface="Calibri" pitchFamily="34" charset="0"/>
                <a:ea typeface="Calibri" pitchFamily="34" charset="-122"/>
                <a:cs typeface="Calibri" pitchFamily="34" charset="-120"/>
              </a:rPr>
              <a:t>What to expect as we align AI, DevOps, and quality.</a:t>
            </a:r>
            <a:endParaRPr lang="en-US" sz="1300" dirty="0"/>
          </a:p>
        </p:txBody>
      </p:sp>
      <p:sp>
        <p:nvSpPr>
          <p:cNvPr id="6" name="Shape 4"/>
          <p:cNvSpPr/>
          <p:nvPr/>
        </p:nvSpPr>
        <p:spPr>
          <a:xfrm>
            <a:off x="457200" y="1472184"/>
            <a:ext cx="402336" cy="402336"/>
          </a:xfrm>
          <a:prstGeom prst="ellipse">
            <a:avLst/>
          </a:prstGeom>
          <a:solidFill>
            <a:srgbClr val="028090"/>
          </a:solidFill>
          <a:ln w="12700">
            <a:solidFill>
              <a:srgbClr val="028090"/>
            </a:solidFill>
            <a:prstDash val="solid"/>
          </a:ln>
        </p:spPr>
        <p:txBody>
          <a:bodyPr/>
          <a:lstStyle/>
          <a:p>
            <a:endParaRPr lang="en-US"/>
          </a:p>
        </p:txBody>
      </p:sp>
      <p:sp>
        <p:nvSpPr>
          <p:cNvPr id="7" name="Text 5"/>
          <p:cNvSpPr/>
          <p:nvPr/>
        </p:nvSpPr>
        <p:spPr>
          <a:xfrm>
            <a:off x="457200" y="147218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Shape 6"/>
          <p:cNvSpPr/>
          <p:nvPr/>
        </p:nvSpPr>
        <p:spPr>
          <a:xfrm>
            <a:off x="960120" y="1417320"/>
            <a:ext cx="3566160" cy="512064"/>
          </a:xfrm>
          <a:prstGeom prst="rect">
            <a:avLst/>
          </a:prstGeom>
          <a:solidFill>
            <a:srgbClr val="E6F7F8"/>
          </a:solidFill>
          <a:ln w="12700">
            <a:solidFill>
              <a:srgbClr val="E6F7F8"/>
            </a:solidFill>
            <a:prstDash val="solid"/>
          </a:ln>
          <a:effectLst>
            <a:outerShdw blurRad="127000" dist="38100" dir="2700000" algn="bl" rotWithShape="0">
              <a:srgbClr val="000000">
                <a:alpha val="4000"/>
              </a:srgbClr>
            </a:outerShdw>
          </a:effectLst>
        </p:spPr>
        <p:txBody>
          <a:bodyPr/>
          <a:lstStyle/>
          <a:p>
            <a:endParaRPr lang="en-US"/>
          </a:p>
        </p:txBody>
      </p:sp>
      <p:sp>
        <p:nvSpPr>
          <p:cNvPr id="9" name="Text 7"/>
          <p:cNvSpPr/>
          <p:nvPr/>
        </p:nvSpPr>
        <p:spPr>
          <a:xfrm>
            <a:off x="1097280" y="1417320"/>
            <a:ext cx="3291840" cy="512064"/>
          </a:xfrm>
          <a:prstGeom prst="rect">
            <a:avLst/>
          </a:prstGeom>
          <a:noFill/>
          <a:ln/>
        </p:spPr>
        <p:txBody>
          <a:bodyPr wrap="square" lIns="0" tIns="0" rIns="0" bIns="0" rtlCol="0" anchor="ctr"/>
          <a:lstStyle/>
          <a:p>
            <a:pPr marL="0" indent="0">
              <a:buNone/>
            </a:pPr>
            <a:r>
              <a:rPr lang="en-US" sz="1400" dirty="0">
                <a:solidFill>
                  <a:srgbClr val="1F4E52"/>
                </a:solidFill>
                <a:latin typeface="Calibri" pitchFamily="34" charset="0"/>
                <a:ea typeface="Calibri" pitchFamily="34" charset="-122"/>
                <a:cs typeface="Calibri" pitchFamily="34" charset="-120"/>
              </a:rPr>
              <a:t>Context and goals</a:t>
            </a:r>
            <a:endParaRPr lang="en-US" sz="1400" dirty="0"/>
          </a:p>
        </p:txBody>
      </p:sp>
      <p:sp>
        <p:nvSpPr>
          <p:cNvPr id="10" name="Shape 8"/>
          <p:cNvSpPr/>
          <p:nvPr/>
        </p:nvSpPr>
        <p:spPr>
          <a:xfrm>
            <a:off x="457200" y="2386584"/>
            <a:ext cx="402336" cy="402336"/>
          </a:xfrm>
          <a:prstGeom prst="ellipse">
            <a:avLst/>
          </a:prstGeom>
          <a:solidFill>
            <a:srgbClr val="028090"/>
          </a:solidFill>
          <a:ln w="12700">
            <a:solidFill>
              <a:srgbClr val="028090"/>
            </a:solidFill>
            <a:prstDash val="solid"/>
          </a:ln>
        </p:spPr>
        <p:txBody>
          <a:bodyPr/>
          <a:lstStyle/>
          <a:p>
            <a:endParaRPr lang="en-US"/>
          </a:p>
        </p:txBody>
      </p:sp>
      <p:sp>
        <p:nvSpPr>
          <p:cNvPr id="11" name="Text 9"/>
          <p:cNvSpPr/>
          <p:nvPr/>
        </p:nvSpPr>
        <p:spPr>
          <a:xfrm>
            <a:off x="457200" y="238658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Shape 10"/>
          <p:cNvSpPr/>
          <p:nvPr/>
        </p:nvSpPr>
        <p:spPr>
          <a:xfrm>
            <a:off x="960120" y="2331720"/>
            <a:ext cx="3566160" cy="512064"/>
          </a:xfrm>
          <a:prstGeom prst="rect">
            <a:avLst/>
          </a:prstGeom>
          <a:solidFill>
            <a:srgbClr val="E6F7F8"/>
          </a:solidFill>
          <a:ln w="12700">
            <a:solidFill>
              <a:srgbClr val="E6F7F8"/>
            </a:solidFill>
            <a:prstDash val="solid"/>
          </a:ln>
          <a:effectLst>
            <a:outerShdw blurRad="127000" dist="38100" dir="2700000" algn="bl" rotWithShape="0">
              <a:srgbClr val="000000">
                <a:alpha val="4000"/>
              </a:srgbClr>
            </a:outerShdw>
          </a:effectLst>
        </p:spPr>
        <p:txBody>
          <a:bodyPr/>
          <a:lstStyle/>
          <a:p>
            <a:endParaRPr lang="en-US"/>
          </a:p>
        </p:txBody>
      </p:sp>
      <p:sp>
        <p:nvSpPr>
          <p:cNvPr id="13" name="Text 11"/>
          <p:cNvSpPr/>
          <p:nvPr/>
        </p:nvSpPr>
        <p:spPr>
          <a:xfrm>
            <a:off x="1097280" y="2331720"/>
            <a:ext cx="3291840" cy="512064"/>
          </a:xfrm>
          <a:prstGeom prst="rect">
            <a:avLst/>
          </a:prstGeom>
          <a:noFill/>
          <a:ln/>
        </p:spPr>
        <p:txBody>
          <a:bodyPr wrap="square" lIns="0" tIns="0" rIns="0" bIns="0" rtlCol="0" anchor="ctr"/>
          <a:lstStyle/>
          <a:p>
            <a:pPr marL="0" indent="0">
              <a:buNone/>
            </a:pPr>
            <a:r>
              <a:rPr lang="en-US" sz="1400" dirty="0">
                <a:solidFill>
                  <a:srgbClr val="1F4E52"/>
                </a:solidFill>
                <a:latin typeface="Calibri" pitchFamily="34" charset="0"/>
                <a:ea typeface="Calibri" pitchFamily="34" charset="-122"/>
                <a:cs typeface="Calibri" pitchFamily="34" charset="-120"/>
              </a:rPr>
              <a:t>Key challenges</a:t>
            </a:r>
            <a:endParaRPr lang="en-US" sz="1400" dirty="0"/>
          </a:p>
        </p:txBody>
      </p:sp>
      <p:sp>
        <p:nvSpPr>
          <p:cNvPr id="14" name="Shape 12"/>
          <p:cNvSpPr/>
          <p:nvPr/>
        </p:nvSpPr>
        <p:spPr>
          <a:xfrm>
            <a:off x="4754880" y="1472184"/>
            <a:ext cx="402336" cy="402336"/>
          </a:xfrm>
          <a:prstGeom prst="ellipse">
            <a:avLst/>
          </a:prstGeom>
          <a:solidFill>
            <a:srgbClr val="028090"/>
          </a:solidFill>
          <a:ln w="12700">
            <a:solidFill>
              <a:srgbClr val="028090"/>
            </a:solidFill>
            <a:prstDash val="solid"/>
          </a:ln>
        </p:spPr>
        <p:txBody>
          <a:bodyPr/>
          <a:lstStyle/>
          <a:p>
            <a:endParaRPr lang="en-US"/>
          </a:p>
        </p:txBody>
      </p:sp>
      <p:sp>
        <p:nvSpPr>
          <p:cNvPr id="15" name="Text 13"/>
          <p:cNvSpPr/>
          <p:nvPr/>
        </p:nvSpPr>
        <p:spPr>
          <a:xfrm>
            <a:off x="4754880" y="147218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6" name="Shape 14"/>
          <p:cNvSpPr/>
          <p:nvPr/>
        </p:nvSpPr>
        <p:spPr>
          <a:xfrm>
            <a:off x="5257800" y="1417320"/>
            <a:ext cx="3566160" cy="512064"/>
          </a:xfrm>
          <a:prstGeom prst="rect">
            <a:avLst/>
          </a:prstGeom>
          <a:solidFill>
            <a:srgbClr val="E6F7F8"/>
          </a:solidFill>
          <a:ln w="12700">
            <a:solidFill>
              <a:srgbClr val="E6F7F8"/>
            </a:solidFill>
            <a:prstDash val="solid"/>
          </a:ln>
          <a:effectLst>
            <a:outerShdw blurRad="127000" dist="38100" dir="2700000" algn="bl" rotWithShape="0">
              <a:srgbClr val="000000">
                <a:alpha val="4000"/>
              </a:srgbClr>
            </a:outerShdw>
          </a:effectLst>
        </p:spPr>
        <p:txBody>
          <a:bodyPr/>
          <a:lstStyle/>
          <a:p>
            <a:endParaRPr lang="en-US"/>
          </a:p>
        </p:txBody>
      </p:sp>
      <p:sp>
        <p:nvSpPr>
          <p:cNvPr id="17" name="Text 15"/>
          <p:cNvSpPr/>
          <p:nvPr/>
        </p:nvSpPr>
        <p:spPr>
          <a:xfrm>
            <a:off x="5394960" y="1417320"/>
            <a:ext cx="3291840" cy="512064"/>
          </a:xfrm>
          <a:prstGeom prst="rect">
            <a:avLst/>
          </a:prstGeom>
          <a:noFill/>
          <a:ln/>
        </p:spPr>
        <p:txBody>
          <a:bodyPr wrap="square" lIns="0" tIns="0" rIns="0" bIns="0" rtlCol="0" anchor="ctr"/>
          <a:lstStyle/>
          <a:p>
            <a:pPr marL="0" indent="0">
              <a:buNone/>
            </a:pPr>
            <a:r>
              <a:rPr lang="en-US" sz="1400" dirty="0">
                <a:solidFill>
                  <a:srgbClr val="1F4E52"/>
                </a:solidFill>
                <a:latin typeface="Calibri" pitchFamily="34" charset="0"/>
                <a:ea typeface="Calibri" pitchFamily="34" charset="-122"/>
                <a:cs typeface="Calibri" pitchFamily="34" charset="-120"/>
              </a:rPr>
              <a:t>Solution and approach</a:t>
            </a:r>
            <a:endParaRPr lang="en-US" sz="1400" dirty="0"/>
          </a:p>
        </p:txBody>
      </p:sp>
      <p:sp>
        <p:nvSpPr>
          <p:cNvPr id="18" name="Shape 16"/>
          <p:cNvSpPr/>
          <p:nvPr/>
        </p:nvSpPr>
        <p:spPr>
          <a:xfrm>
            <a:off x="4754880" y="2386584"/>
            <a:ext cx="402336" cy="402336"/>
          </a:xfrm>
          <a:prstGeom prst="ellipse">
            <a:avLst/>
          </a:prstGeom>
          <a:solidFill>
            <a:srgbClr val="028090"/>
          </a:solidFill>
          <a:ln w="12700">
            <a:solidFill>
              <a:srgbClr val="028090"/>
            </a:solidFill>
            <a:prstDash val="solid"/>
          </a:ln>
        </p:spPr>
        <p:txBody>
          <a:bodyPr/>
          <a:lstStyle/>
          <a:p>
            <a:endParaRPr lang="en-US"/>
          </a:p>
        </p:txBody>
      </p:sp>
      <p:sp>
        <p:nvSpPr>
          <p:cNvPr id="19" name="Text 17"/>
          <p:cNvSpPr/>
          <p:nvPr/>
        </p:nvSpPr>
        <p:spPr>
          <a:xfrm>
            <a:off x="4754880" y="238658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0" name="Shape 18"/>
          <p:cNvSpPr/>
          <p:nvPr/>
        </p:nvSpPr>
        <p:spPr>
          <a:xfrm>
            <a:off x="5257800" y="2331720"/>
            <a:ext cx="3566160" cy="512064"/>
          </a:xfrm>
          <a:prstGeom prst="rect">
            <a:avLst/>
          </a:prstGeom>
          <a:solidFill>
            <a:srgbClr val="E6F7F8"/>
          </a:solidFill>
          <a:ln w="12700">
            <a:solidFill>
              <a:srgbClr val="E6F7F8"/>
            </a:solidFill>
            <a:prstDash val="solid"/>
          </a:ln>
          <a:effectLst>
            <a:outerShdw blurRad="127000" dist="38100" dir="2700000" algn="bl" rotWithShape="0">
              <a:srgbClr val="000000">
                <a:alpha val="4000"/>
              </a:srgbClr>
            </a:outerShdw>
          </a:effectLst>
        </p:spPr>
        <p:txBody>
          <a:bodyPr/>
          <a:lstStyle/>
          <a:p>
            <a:endParaRPr lang="en-US"/>
          </a:p>
        </p:txBody>
      </p:sp>
      <p:sp>
        <p:nvSpPr>
          <p:cNvPr id="21" name="Text 19"/>
          <p:cNvSpPr/>
          <p:nvPr/>
        </p:nvSpPr>
        <p:spPr>
          <a:xfrm>
            <a:off x="5394960" y="2331720"/>
            <a:ext cx="3291840" cy="512064"/>
          </a:xfrm>
          <a:prstGeom prst="rect">
            <a:avLst/>
          </a:prstGeom>
          <a:noFill/>
          <a:ln/>
        </p:spPr>
        <p:txBody>
          <a:bodyPr wrap="square" lIns="0" tIns="0" rIns="0" bIns="0" rtlCol="0" anchor="ctr"/>
          <a:lstStyle/>
          <a:p>
            <a:pPr marL="0" indent="0">
              <a:buNone/>
            </a:pPr>
            <a:r>
              <a:rPr lang="en-US" sz="1400" dirty="0">
                <a:solidFill>
                  <a:srgbClr val="1F4E52"/>
                </a:solidFill>
                <a:latin typeface="Calibri" pitchFamily="34" charset="0"/>
                <a:ea typeface="Calibri" pitchFamily="34" charset="-122"/>
                <a:cs typeface="Calibri" pitchFamily="34" charset="-120"/>
              </a:rPr>
              <a:t>Proof, pricing, and next steps</a:t>
            </a:r>
            <a:endParaRPr lang="en-US" sz="1400" dirty="0"/>
          </a:p>
        </p:txBody>
      </p:sp>
      <p:sp>
        <p:nvSpPr>
          <p:cNvPr id="22" name="Text 20"/>
          <p:cNvSpPr/>
          <p:nvPr/>
        </p:nvSpPr>
        <p:spPr>
          <a:xfrm>
            <a:off x="8412480" y="4526280"/>
            <a:ext cx="548640" cy="182880"/>
          </a:xfrm>
          <a:prstGeom prst="rect">
            <a:avLst/>
          </a:prstGeom>
          <a:noFill/>
          <a:ln/>
        </p:spPr>
        <p:txBody>
          <a:bodyPr wrap="square" rtlCol="0" anchor="ctr"/>
          <a:lstStyle/>
          <a:p>
            <a:pPr marL="0" indent="0" algn="r">
              <a:buNone/>
            </a:pPr>
            <a:r>
              <a:rPr lang="en-US" sz="900" dirty="0">
                <a:solidFill>
                  <a:srgbClr val="00A896"/>
                </a:solidFill>
                <a:latin typeface="Calibri" pitchFamily="34" charset="0"/>
                <a:ea typeface="Calibri" pitchFamily="34" charset="-122"/>
                <a:cs typeface="Calibri" pitchFamily="34" charset="-120"/>
              </a:rPr>
              <a:t>2 / 16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28090"/>
        </a:solidFill>
        <a:effectLst/>
      </p:bgPr>
    </p:bg>
    <p:spTree>
      <p:nvGrpSpPr>
        <p:cNvPr id="1" name=""/>
        <p:cNvGrpSpPr/>
        <p:nvPr/>
      </p:nvGrpSpPr>
      <p:grpSpPr>
        <a:xfrm>
          <a:off x="0" y="0"/>
          <a:ext cx="0" cy="0"/>
          <a:chOff x="0" y="0"/>
          <a:chExt cx="0" cy="0"/>
        </a:xfrm>
      </p:grpSpPr>
      <p:sp>
        <p:nvSpPr>
          <p:cNvPr id="2" name="Text 0"/>
          <p:cNvSpPr/>
          <p:nvPr/>
        </p:nvSpPr>
        <p:spPr>
          <a:xfrm>
            <a:off x="5029200" y="91440"/>
            <a:ext cx="3931920" cy="3840480"/>
          </a:xfrm>
          <a:prstGeom prst="rect">
            <a:avLst/>
          </a:prstGeom>
          <a:noFill/>
          <a:ln/>
        </p:spPr>
        <p:txBody>
          <a:bodyPr wrap="square" lIns="0" tIns="0" rIns="0" bIns="0" rtlCol="0" anchor="ctr"/>
          <a:lstStyle/>
          <a:p>
            <a:pPr marL="0" indent="0" algn="r">
              <a:buNone/>
            </a:pPr>
            <a:r>
              <a:rPr lang="en-US" sz="18000" b="1" dirty="0">
                <a:solidFill>
                  <a:srgbClr val="00A896"/>
                </a:solidFill>
                <a:latin typeface="Cambria" pitchFamily="34" charset="0"/>
                <a:ea typeface="Cambria" pitchFamily="34" charset="-122"/>
                <a:cs typeface="Cambria" pitchFamily="34" charset="-120"/>
              </a:rPr>
              <a:t>03</a:t>
            </a:r>
            <a:endParaRPr lang="en-US" sz="18000" dirty="0"/>
          </a:p>
        </p:txBody>
      </p:sp>
      <p:sp>
        <p:nvSpPr>
          <p:cNvPr id="3" name="Shape 1"/>
          <p:cNvSpPr/>
          <p:nvPr/>
        </p:nvSpPr>
        <p:spPr>
          <a:xfrm>
            <a:off x="548640" y="1280160"/>
            <a:ext cx="54864" cy="2011680"/>
          </a:xfrm>
          <a:prstGeom prst="rect">
            <a:avLst/>
          </a:prstGeom>
          <a:solidFill>
            <a:srgbClr val="02C39A"/>
          </a:solidFill>
          <a:ln w="12700">
            <a:solidFill>
              <a:srgbClr val="02C39A"/>
            </a:solidFill>
            <a:prstDash val="solid"/>
          </a:ln>
        </p:spPr>
        <p:txBody>
          <a:bodyPr/>
          <a:lstStyle/>
          <a:p>
            <a:endParaRPr lang="en-US"/>
          </a:p>
        </p:txBody>
      </p:sp>
      <p:sp>
        <p:nvSpPr>
          <p:cNvPr id="4" name="Text 2"/>
          <p:cNvSpPr/>
          <p:nvPr/>
        </p:nvSpPr>
        <p:spPr>
          <a:xfrm>
            <a:off x="822960" y="1463040"/>
            <a:ext cx="6400800" cy="1280160"/>
          </a:xfrm>
          <a:prstGeom prst="rect">
            <a:avLst/>
          </a:prstGeom>
          <a:noFill/>
          <a:ln/>
        </p:spPr>
        <p:txBody>
          <a:bodyPr wrap="square" lIns="0" tIns="0" rIns="0" bIns="0" rtlCol="0" anchor="ctr"/>
          <a:lstStyle/>
          <a:p>
            <a:pPr marL="0" indent="0" algn="l">
              <a:buNone/>
            </a:pPr>
            <a:r>
              <a:rPr lang="en-US" sz="3600" b="1" dirty="0">
                <a:solidFill>
                  <a:srgbClr val="FFFFFF"/>
                </a:solidFill>
                <a:latin typeface="Cambria" pitchFamily="34" charset="0"/>
                <a:ea typeface="Cambria" pitchFamily="34" charset="-122"/>
                <a:cs typeface="Cambria" pitchFamily="34" charset="-120"/>
              </a:rPr>
              <a:t>Autodesk’s AI, Cloud, and Quality Imperatives</a:t>
            </a:r>
            <a:endParaRPr lang="en-US" sz="3600" dirty="0"/>
          </a:p>
        </p:txBody>
      </p:sp>
      <p:sp>
        <p:nvSpPr>
          <p:cNvPr id="5" name="Text 3"/>
          <p:cNvSpPr/>
          <p:nvPr/>
        </p:nvSpPr>
        <p:spPr>
          <a:xfrm>
            <a:off x="822960" y="2926080"/>
            <a:ext cx="5486400" cy="548640"/>
          </a:xfrm>
          <a:prstGeom prst="rect">
            <a:avLst/>
          </a:prstGeom>
          <a:noFill/>
          <a:ln/>
        </p:spPr>
        <p:txBody>
          <a:bodyPr wrap="square" lIns="0" tIns="0" rIns="0" bIns="0" rtlCol="0" anchor="ctr"/>
          <a:lstStyle/>
          <a:p>
            <a:pPr marL="0" indent="0" algn="l">
              <a:buNone/>
            </a:pPr>
            <a:r>
              <a:rPr lang="en-US" sz="1600" dirty="0">
                <a:solidFill>
                  <a:srgbClr val="B2EAE8"/>
                </a:solidFill>
                <a:latin typeface="Calibri" pitchFamily="34" charset="0"/>
                <a:ea typeface="Calibri" pitchFamily="34" charset="-122"/>
                <a:cs typeface="Calibri" pitchFamily="34" charset="-120"/>
              </a:rPr>
              <a:t>Framing the focus areas to scale AI, cloud reliability, and quality.</a:t>
            </a:r>
            <a:endParaRPr lang="en-US" sz="1600" dirty="0"/>
          </a:p>
        </p:txBody>
      </p:sp>
      <p:sp>
        <p:nvSpPr>
          <p:cNvPr id="6" name="Text 4"/>
          <p:cNvSpPr/>
          <p:nvPr/>
        </p:nvSpPr>
        <p:spPr>
          <a:xfrm>
            <a:off x="8412480" y="4526280"/>
            <a:ext cx="548640" cy="182880"/>
          </a:xfrm>
          <a:prstGeom prst="rect">
            <a:avLst/>
          </a:prstGeom>
          <a:noFill/>
          <a:ln/>
        </p:spPr>
        <p:txBody>
          <a:bodyPr wrap="square" rtlCol="0" anchor="ctr"/>
          <a:lstStyle/>
          <a:p>
            <a:pPr marL="0" indent="0" algn="r">
              <a:buNone/>
            </a:pPr>
            <a:r>
              <a:rPr lang="en-US" sz="900" dirty="0">
                <a:solidFill>
                  <a:srgbClr val="B2EAE8"/>
                </a:solidFill>
                <a:latin typeface="Calibri" pitchFamily="34" charset="0"/>
                <a:ea typeface="Calibri" pitchFamily="34" charset="-122"/>
                <a:cs typeface="Calibri" pitchFamily="34" charset="-120"/>
              </a:rPr>
              <a:t>3 / 16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AFA"/>
        </a:solidFill>
        <a:effectLst/>
      </p:bgPr>
    </p:bg>
    <p:spTree>
      <p:nvGrpSpPr>
        <p:cNvPr id="1" name=""/>
        <p:cNvGrpSpPr/>
        <p:nvPr/>
      </p:nvGrpSpPr>
      <p:grpSpPr>
        <a:xfrm>
          <a:off x="0" y="0"/>
          <a:ext cx="0" cy="0"/>
          <a:chOff x="0" y="0"/>
          <a:chExt cx="0" cy="0"/>
        </a:xfrm>
      </p:grpSpPr>
      <p:sp>
        <p:nvSpPr>
          <p:cNvPr id="2" name="Shape 0"/>
          <p:cNvSpPr/>
          <p:nvPr/>
        </p:nvSpPr>
        <p:spPr>
          <a:xfrm>
            <a:off x="6858000" y="2743200"/>
            <a:ext cx="3657600" cy="3657600"/>
          </a:xfrm>
          <a:prstGeom prst="ellipse">
            <a:avLst/>
          </a:prstGeom>
          <a:solidFill>
            <a:srgbClr val="028090">
              <a:alpha val="6000"/>
            </a:srgbClr>
          </a:solidFill>
          <a:ln w="12700">
            <a:solidFill>
              <a:srgbClr val="028090"/>
            </a:solidFill>
            <a:prstDash val="solid"/>
          </a:ln>
        </p:spPr>
        <p:txBody>
          <a:bodyPr/>
          <a:lstStyle/>
          <a:p>
            <a:endParaRPr lang="en-US"/>
          </a:p>
        </p:txBody>
      </p:sp>
      <p:sp>
        <p:nvSpPr>
          <p:cNvPr id="3" name="Text 1"/>
          <p:cNvSpPr/>
          <p:nvPr/>
        </p:nvSpPr>
        <p:spPr>
          <a:xfrm>
            <a:off x="457200" y="228600"/>
            <a:ext cx="5486400" cy="228600"/>
          </a:xfrm>
          <a:prstGeom prst="rect">
            <a:avLst/>
          </a:prstGeom>
          <a:noFill/>
          <a:ln/>
        </p:spPr>
        <p:txBody>
          <a:bodyPr wrap="square" lIns="0" tIns="0" rIns="0" bIns="0" rtlCol="0" anchor="ctr"/>
          <a:lstStyle/>
          <a:p>
            <a:pPr marL="0" indent="0" algn="l">
              <a:buNone/>
            </a:pPr>
            <a:r>
              <a:rPr lang="en-US" sz="900" b="1" kern="0" spc="400" dirty="0">
                <a:solidFill>
                  <a:srgbClr val="028090"/>
                </a:solidFill>
                <a:latin typeface="Calibri" pitchFamily="34" charset="0"/>
                <a:ea typeface="Calibri" pitchFamily="34" charset="-122"/>
                <a:cs typeface="Calibri" pitchFamily="34" charset="-120"/>
              </a:rPr>
              <a:t>CHALLENGES</a:t>
            </a:r>
            <a:endParaRPr lang="en-US" sz="900" dirty="0"/>
          </a:p>
        </p:txBody>
      </p:sp>
      <p:sp>
        <p:nvSpPr>
          <p:cNvPr id="4" name="Text 2"/>
          <p:cNvSpPr/>
          <p:nvPr/>
        </p:nvSpPr>
        <p:spPr>
          <a:xfrm>
            <a:off x="457200" y="457200"/>
            <a:ext cx="8229600" cy="502920"/>
          </a:xfrm>
          <a:prstGeom prst="rect">
            <a:avLst/>
          </a:prstGeom>
          <a:noFill/>
          <a:ln/>
        </p:spPr>
        <p:txBody>
          <a:bodyPr wrap="square" lIns="0" tIns="0" rIns="0" bIns="0" rtlCol="0" anchor="ctr"/>
          <a:lstStyle/>
          <a:p>
            <a:pPr marL="0" indent="0" algn="l">
              <a:buNone/>
            </a:pPr>
            <a:r>
              <a:rPr lang="en-US" sz="2800" b="1" dirty="0">
                <a:solidFill>
                  <a:srgbClr val="028090"/>
                </a:solidFill>
                <a:latin typeface="Cambria" pitchFamily="34" charset="0"/>
                <a:ea typeface="Cambria" pitchFamily="34" charset="-122"/>
                <a:cs typeface="Cambria" pitchFamily="34" charset="-120"/>
              </a:rPr>
              <a:t>What’s Blocking Autodesk’s AI Scale</a:t>
            </a:r>
            <a:endParaRPr lang="en-US" sz="2800" dirty="0"/>
          </a:p>
        </p:txBody>
      </p:sp>
      <p:sp>
        <p:nvSpPr>
          <p:cNvPr id="5" name="Shape 3"/>
          <p:cNvSpPr/>
          <p:nvPr/>
        </p:nvSpPr>
        <p:spPr>
          <a:xfrm>
            <a:off x="457200" y="1234440"/>
            <a:ext cx="4114800" cy="3017520"/>
          </a:xfrm>
          <a:prstGeom prst="rect">
            <a:avLst/>
          </a:prstGeom>
          <a:solidFill>
            <a:srgbClr val="E6F7F8"/>
          </a:solidFill>
          <a:ln w="12700">
            <a:solidFill>
              <a:srgbClr val="E6F7F8"/>
            </a:solidFill>
            <a:prstDash val="solid"/>
          </a:ln>
          <a:effectLst>
            <a:outerShdw blurRad="127000" dist="38100" dir="2700000" algn="bl" rotWithShape="0">
              <a:srgbClr val="000000">
                <a:alpha val="6000"/>
              </a:srgbClr>
            </a:outerShdw>
          </a:effectLst>
        </p:spPr>
        <p:txBody>
          <a:bodyPr/>
          <a:lstStyle/>
          <a:p>
            <a:endParaRPr lang="en-US"/>
          </a:p>
        </p:txBody>
      </p:sp>
      <p:sp>
        <p:nvSpPr>
          <p:cNvPr id="6" name="Shape 4"/>
          <p:cNvSpPr/>
          <p:nvPr/>
        </p:nvSpPr>
        <p:spPr>
          <a:xfrm>
            <a:off x="457200" y="1234440"/>
            <a:ext cx="54864" cy="3017520"/>
          </a:xfrm>
          <a:prstGeom prst="rect">
            <a:avLst/>
          </a:prstGeom>
          <a:solidFill>
            <a:srgbClr val="028090"/>
          </a:solidFill>
          <a:ln w="12700">
            <a:solidFill>
              <a:srgbClr val="028090"/>
            </a:solidFill>
            <a:prstDash val="solid"/>
          </a:ln>
        </p:spPr>
        <p:txBody>
          <a:bodyPr/>
          <a:lstStyle/>
          <a:p>
            <a:endParaRPr lang="en-US"/>
          </a:p>
        </p:txBody>
      </p:sp>
      <p:sp>
        <p:nvSpPr>
          <p:cNvPr id="7" name="Text 5"/>
          <p:cNvSpPr/>
          <p:nvPr/>
        </p:nvSpPr>
        <p:spPr>
          <a:xfrm>
            <a:off x="685800" y="1371600"/>
            <a:ext cx="3749040" cy="2743200"/>
          </a:xfrm>
          <a:prstGeom prst="rect">
            <a:avLst/>
          </a:prstGeom>
          <a:noFill/>
          <a:ln/>
        </p:spPr>
        <p:txBody>
          <a:bodyPr wrap="square" rtlCol="0" anchor="t"/>
          <a:lstStyle/>
          <a:p>
            <a:pPr marL="342900" indent="-342900">
              <a:spcAft>
                <a:spcPts val="1000"/>
              </a:spcAft>
              <a:buSzPct val="100000"/>
              <a:buChar char="•"/>
            </a:pPr>
            <a:r>
              <a:rPr lang="en-US" sz="1500" dirty="0">
                <a:solidFill>
                  <a:srgbClr val="1F4E52"/>
                </a:solidFill>
                <a:latin typeface="Calibri" pitchFamily="34" charset="0"/>
                <a:ea typeface="Calibri" pitchFamily="34" charset="-122"/>
                <a:cs typeface="Calibri" pitchFamily="34" charset="-120"/>
              </a:rPr>
              <a:t>Fragmented ML tooling; slow, inconsistent model deployment across products.</a:t>
            </a:r>
            <a:endParaRPr lang="en-US" sz="1500" dirty="0"/>
          </a:p>
          <a:p>
            <a:pPr marL="342900" indent="-342900">
              <a:spcAft>
                <a:spcPts val="1000"/>
              </a:spcAft>
              <a:buSzPct val="100000"/>
              <a:buChar char="•"/>
            </a:pPr>
            <a:r>
              <a:rPr lang="en-US" sz="1500" dirty="0">
                <a:solidFill>
                  <a:srgbClr val="1F4E52"/>
                </a:solidFill>
                <a:latin typeface="Calibri" pitchFamily="34" charset="0"/>
                <a:ea typeface="Calibri" pitchFamily="34" charset="-122"/>
                <a:cs typeface="Calibri" pitchFamily="34" charset="-120"/>
              </a:rPr>
              <a:t>MLOps gaps hinder reproducibility, monitoring, and safe GenAI rollout.</a:t>
            </a:r>
            <a:endParaRPr lang="en-US" sz="1500" dirty="0"/>
          </a:p>
          <a:p>
            <a:pPr marL="342900" indent="-342900">
              <a:spcAft>
                <a:spcPts val="1000"/>
              </a:spcAft>
              <a:buSzPct val="100000"/>
              <a:buChar char="•"/>
            </a:pPr>
            <a:r>
              <a:rPr lang="en-US" sz="1500" dirty="0">
                <a:solidFill>
                  <a:srgbClr val="1F4E52"/>
                </a:solidFill>
                <a:latin typeface="Calibri" pitchFamily="34" charset="0"/>
                <a:ea typeface="Calibri" pitchFamily="34" charset="-122"/>
                <a:cs typeface="Calibri" pitchFamily="34" charset="-120"/>
              </a:rPr>
              <a:t>Scaling Kubernetes, Spark/Presto/Hive strains reliability, cost, and performance.</a:t>
            </a:r>
            <a:endParaRPr lang="en-US" sz="1500" dirty="0"/>
          </a:p>
          <a:p>
            <a:pPr marL="342900" indent="-342900">
              <a:spcAft>
                <a:spcPts val="1000"/>
              </a:spcAft>
              <a:buSzPct val="100000"/>
              <a:buChar char="•"/>
            </a:pPr>
            <a:r>
              <a:rPr lang="en-US" sz="1500" dirty="0">
                <a:solidFill>
                  <a:srgbClr val="1F4E52"/>
                </a:solidFill>
                <a:latin typeface="Calibri" pitchFamily="34" charset="0"/>
                <a:ea typeface="Calibri" pitchFamily="34" charset="-122"/>
                <a:cs typeface="Calibri" pitchFamily="34" charset="-120"/>
              </a:rPr>
              <a:t>Quality engineering lags across CAD/3D formats, breaking interoperability and regressions.</a:t>
            </a:r>
            <a:endParaRPr lang="en-US" sz="1500" dirty="0"/>
          </a:p>
        </p:txBody>
      </p:sp>
      <p:sp>
        <p:nvSpPr>
          <p:cNvPr id="8" name="Shape 6"/>
          <p:cNvSpPr/>
          <p:nvPr/>
        </p:nvSpPr>
        <p:spPr>
          <a:xfrm>
            <a:off x="4846320" y="1234440"/>
            <a:ext cx="3840480" cy="3017520"/>
          </a:xfrm>
          <a:prstGeom prst="rect">
            <a:avLst/>
          </a:prstGeom>
          <a:solidFill>
            <a:srgbClr val="E6F7F8"/>
          </a:solidFill>
          <a:ln w="12700">
            <a:solidFill>
              <a:srgbClr val="E6F7F8"/>
            </a:solidFill>
            <a:prstDash val="solid"/>
          </a:ln>
          <a:effectLst>
            <a:outerShdw blurRad="127000" dist="38100" dir="2700000" algn="bl" rotWithShape="0">
              <a:srgbClr val="000000">
                <a:alpha val="6000"/>
              </a:srgbClr>
            </a:outerShdw>
          </a:effectLst>
        </p:spPr>
        <p:txBody>
          <a:bodyPr/>
          <a:lstStyle/>
          <a:p>
            <a:endParaRPr lang="en-US"/>
          </a:p>
        </p:txBody>
      </p:sp>
      <p:sp>
        <p:nvSpPr>
          <p:cNvPr id="9" name="Shape 7"/>
          <p:cNvSpPr/>
          <p:nvPr/>
        </p:nvSpPr>
        <p:spPr>
          <a:xfrm>
            <a:off x="4846320" y="1234440"/>
            <a:ext cx="3840480" cy="54864"/>
          </a:xfrm>
          <a:prstGeom prst="rect">
            <a:avLst/>
          </a:prstGeom>
          <a:solidFill>
            <a:srgbClr val="02C39A"/>
          </a:solidFill>
          <a:ln w="12700">
            <a:solidFill>
              <a:srgbClr val="02C39A"/>
            </a:solidFill>
            <a:prstDash val="solid"/>
          </a:ln>
        </p:spPr>
        <p:txBody>
          <a:bodyPr/>
          <a:lstStyle/>
          <a:p>
            <a:endParaRPr lang="en-US"/>
          </a:p>
        </p:txBody>
      </p:sp>
      <p:sp>
        <p:nvSpPr>
          <p:cNvPr id="10" name="Text 8"/>
          <p:cNvSpPr/>
          <p:nvPr/>
        </p:nvSpPr>
        <p:spPr>
          <a:xfrm>
            <a:off x="5029200" y="1463040"/>
            <a:ext cx="3474720" cy="2560320"/>
          </a:xfrm>
          <a:prstGeom prst="rect">
            <a:avLst/>
          </a:prstGeom>
          <a:noFill/>
          <a:ln/>
        </p:spPr>
        <p:txBody>
          <a:bodyPr wrap="square" lIns="0" tIns="0" rIns="0" bIns="0" rtlCol="0" anchor="ctr"/>
          <a:lstStyle/>
          <a:p>
            <a:pPr marL="0" indent="0">
              <a:buNone/>
            </a:pPr>
            <a:r>
              <a:rPr lang="en-US" sz="1500" i="1" dirty="0">
                <a:solidFill>
                  <a:srgbClr val="1F4E52"/>
                </a:solidFill>
                <a:latin typeface="Calibri" pitchFamily="34" charset="0"/>
                <a:ea typeface="Calibri" pitchFamily="34" charset="-122"/>
                <a:cs typeface="Calibri" pitchFamily="34" charset="-120"/>
              </a:rPr>
              <a:t>Fragmented ML stack and complex data platforms slow delivery and reliability.</a:t>
            </a:r>
            <a:endParaRPr lang="en-US" sz="1500" dirty="0"/>
          </a:p>
        </p:txBody>
      </p:sp>
      <p:sp>
        <p:nvSpPr>
          <p:cNvPr id="11" name="Text 9"/>
          <p:cNvSpPr/>
          <p:nvPr/>
        </p:nvSpPr>
        <p:spPr>
          <a:xfrm>
            <a:off x="8412480" y="4526280"/>
            <a:ext cx="548640" cy="182880"/>
          </a:xfrm>
          <a:prstGeom prst="rect">
            <a:avLst/>
          </a:prstGeom>
          <a:noFill/>
          <a:ln/>
        </p:spPr>
        <p:txBody>
          <a:bodyPr wrap="square" rtlCol="0" anchor="ctr"/>
          <a:lstStyle/>
          <a:p>
            <a:pPr marL="0" indent="0" algn="r">
              <a:buNone/>
            </a:pPr>
            <a:r>
              <a:rPr lang="en-US" sz="900" dirty="0">
                <a:solidFill>
                  <a:srgbClr val="00A896"/>
                </a:solidFill>
                <a:latin typeface="Calibri" pitchFamily="34" charset="0"/>
                <a:ea typeface="Calibri" pitchFamily="34" charset="-122"/>
                <a:cs typeface="Calibri" pitchFamily="34" charset="-120"/>
              </a:rPr>
              <a:t>4 / 16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AFA"/>
        </a:solidFill>
        <a:effectLst/>
      </p:bgPr>
    </p:bg>
    <p:spTree>
      <p:nvGrpSpPr>
        <p:cNvPr id="1" name=""/>
        <p:cNvGrpSpPr/>
        <p:nvPr/>
      </p:nvGrpSpPr>
      <p:grpSpPr>
        <a:xfrm>
          <a:off x="0" y="0"/>
          <a:ext cx="0" cy="0"/>
          <a:chOff x="0" y="0"/>
          <a:chExt cx="0" cy="0"/>
        </a:xfrm>
      </p:grpSpPr>
      <p:sp>
        <p:nvSpPr>
          <p:cNvPr id="2" name="Shape 0"/>
          <p:cNvSpPr/>
          <p:nvPr/>
        </p:nvSpPr>
        <p:spPr>
          <a:xfrm>
            <a:off x="6858000" y="2743200"/>
            <a:ext cx="3657600" cy="3657600"/>
          </a:xfrm>
          <a:prstGeom prst="ellipse">
            <a:avLst/>
          </a:prstGeom>
          <a:solidFill>
            <a:srgbClr val="028090">
              <a:alpha val="6000"/>
            </a:srgbClr>
          </a:solidFill>
          <a:ln w="12700">
            <a:solidFill>
              <a:srgbClr val="028090"/>
            </a:solidFill>
            <a:prstDash val="solid"/>
          </a:ln>
        </p:spPr>
        <p:txBody>
          <a:bodyPr/>
          <a:lstStyle/>
          <a:p>
            <a:endParaRPr lang="en-US"/>
          </a:p>
        </p:txBody>
      </p:sp>
      <p:sp>
        <p:nvSpPr>
          <p:cNvPr id="3" name="Text 1"/>
          <p:cNvSpPr/>
          <p:nvPr/>
        </p:nvSpPr>
        <p:spPr>
          <a:xfrm>
            <a:off x="457200" y="228600"/>
            <a:ext cx="5486400" cy="228600"/>
          </a:xfrm>
          <a:prstGeom prst="rect">
            <a:avLst/>
          </a:prstGeom>
          <a:noFill/>
          <a:ln/>
        </p:spPr>
        <p:txBody>
          <a:bodyPr wrap="square" lIns="0" tIns="0" rIns="0" bIns="0" rtlCol="0" anchor="ctr"/>
          <a:lstStyle/>
          <a:p>
            <a:pPr marL="0" indent="0" algn="l">
              <a:buNone/>
            </a:pPr>
            <a:r>
              <a:rPr lang="en-US" sz="900" b="1" kern="0" spc="400" dirty="0">
                <a:solidFill>
                  <a:srgbClr val="028090"/>
                </a:solidFill>
                <a:latin typeface="Calibri" pitchFamily="34" charset="0"/>
                <a:ea typeface="Calibri" pitchFamily="34" charset="-122"/>
                <a:cs typeface="Calibri" pitchFamily="34" charset="-120"/>
              </a:rPr>
              <a:t>KEY METRICS</a:t>
            </a:r>
            <a:endParaRPr lang="en-US" sz="900" dirty="0"/>
          </a:p>
        </p:txBody>
      </p:sp>
      <p:sp>
        <p:nvSpPr>
          <p:cNvPr id="4" name="Text 2"/>
          <p:cNvSpPr/>
          <p:nvPr/>
        </p:nvSpPr>
        <p:spPr>
          <a:xfrm>
            <a:off x="457200" y="457200"/>
            <a:ext cx="6400800" cy="502920"/>
          </a:xfrm>
          <a:prstGeom prst="rect">
            <a:avLst/>
          </a:prstGeom>
          <a:noFill/>
          <a:ln/>
        </p:spPr>
        <p:txBody>
          <a:bodyPr wrap="square" lIns="0" tIns="0" rIns="0" bIns="0" rtlCol="0" anchor="ctr"/>
          <a:lstStyle/>
          <a:p>
            <a:pPr marL="0" indent="0" algn="l">
              <a:buNone/>
            </a:pPr>
            <a:r>
              <a:rPr lang="en-US" sz="2800" b="1" dirty="0">
                <a:solidFill>
                  <a:srgbClr val="028090"/>
                </a:solidFill>
                <a:latin typeface="Cambria" pitchFamily="34" charset="0"/>
                <a:ea typeface="Cambria" pitchFamily="34" charset="-122"/>
                <a:cs typeface="Cambria" pitchFamily="34" charset="-120"/>
              </a:rPr>
              <a:t>Autodesk Baseline: Lead Time, Retrain, Coverage, SLOs</a:t>
            </a:r>
            <a:endParaRPr lang="en-US" sz="2800" dirty="0"/>
          </a:p>
        </p:txBody>
      </p:sp>
      <p:sp>
        <p:nvSpPr>
          <p:cNvPr id="5" name="Text 3"/>
          <p:cNvSpPr/>
          <p:nvPr/>
        </p:nvSpPr>
        <p:spPr>
          <a:xfrm>
            <a:off x="6583680" y="320040"/>
            <a:ext cx="2377440" cy="594360"/>
          </a:xfrm>
          <a:prstGeom prst="rect">
            <a:avLst/>
          </a:prstGeom>
          <a:noFill/>
          <a:ln/>
        </p:spPr>
        <p:txBody>
          <a:bodyPr wrap="square" lIns="0" tIns="0" rIns="0" bIns="0" rtlCol="0" anchor="ctr"/>
          <a:lstStyle/>
          <a:p>
            <a:pPr marL="0" indent="0" algn="r">
              <a:buNone/>
            </a:pPr>
            <a:r>
              <a:rPr lang="en-US" sz="4800" b="1" dirty="0">
                <a:solidFill>
                  <a:srgbClr val="028090"/>
                </a:solidFill>
                <a:latin typeface="Cambria" pitchFamily="34" charset="0"/>
                <a:ea typeface="Cambria" pitchFamily="34" charset="-122"/>
                <a:cs typeface="Cambria" pitchFamily="34" charset="-120"/>
              </a:rPr>
              <a:t>0.3%</a:t>
            </a:r>
            <a:endParaRPr lang="en-US" sz="4800" dirty="0"/>
          </a:p>
        </p:txBody>
      </p:sp>
      <p:sp>
        <p:nvSpPr>
          <p:cNvPr id="6" name="Text 4"/>
          <p:cNvSpPr/>
          <p:nvPr/>
        </p:nvSpPr>
        <p:spPr>
          <a:xfrm>
            <a:off x="6583680" y="914400"/>
            <a:ext cx="2377440" cy="274320"/>
          </a:xfrm>
          <a:prstGeom prst="rect">
            <a:avLst/>
          </a:prstGeom>
          <a:noFill/>
          <a:ln/>
        </p:spPr>
        <p:txBody>
          <a:bodyPr wrap="square" lIns="0" tIns="0" rIns="0" bIns="0" rtlCol="0" anchor="ctr"/>
          <a:lstStyle/>
          <a:p>
            <a:pPr marL="0" indent="0" algn="r">
              <a:buNone/>
            </a:pPr>
            <a:r>
              <a:rPr lang="en-US" sz="1100" dirty="0">
                <a:solidFill>
                  <a:srgbClr val="1F4E52"/>
                </a:solidFill>
                <a:latin typeface="Calibri" pitchFamily="34" charset="0"/>
                <a:ea typeface="Calibri" pitchFamily="34" charset="-122"/>
                <a:cs typeface="Calibri" pitchFamily="34" charset="-120"/>
              </a:rPr>
              <a:t>defect escape achieved for Tata Motors</a:t>
            </a:r>
            <a:endParaRPr lang="en-US" sz="1100" dirty="0"/>
          </a:p>
        </p:txBody>
      </p:sp>
      <p:sp>
        <p:nvSpPr>
          <p:cNvPr id="7" name="Text 5"/>
          <p:cNvSpPr/>
          <p:nvPr/>
        </p:nvSpPr>
        <p:spPr>
          <a:xfrm>
            <a:off x="457200" y="1463040"/>
            <a:ext cx="8229600" cy="2834640"/>
          </a:xfrm>
          <a:prstGeom prst="rect">
            <a:avLst/>
          </a:prstGeom>
          <a:noFill/>
          <a:ln/>
        </p:spPr>
        <p:txBody>
          <a:bodyPr wrap="square" rtlCol="0" anchor="ctr"/>
          <a:lstStyle/>
          <a:p>
            <a:pPr marL="342900" indent="-342900">
              <a:spcAft>
                <a:spcPts val="1000"/>
              </a:spcAft>
              <a:buSzPct val="100000"/>
              <a:buChar char="•"/>
            </a:pPr>
            <a:r>
              <a:rPr lang="en-US" sz="1600" dirty="0">
                <a:solidFill>
                  <a:srgbClr val="1F4E52"/>
                </a:solidFill>
                <a:latin typeface="Calibri" pitchFamily="34" charset="0"/>
                <a:ea typeface="Calibri" pitchFamily="34" charset="-122"/>
                <a:cs typeface="Calibri" pitchFamily="34" charset="-120"/>
              </a:rPr>
              <a:t>Baseline build-to-deploy lead time across services and ML pipelines.</a:t>
            </a:r>
            <a:endParaRPr lang="en-US" sz="1600" dirty="0"/>
          </a:p>
          <a:p>
            <a:pPr marL="342900" indent="-342900">
              <a:spcAft>
                <a:spcPts val="1000"/>
              </a:spcAft>
              <a:buSzPct val="100000"/>
              <a:buChar char="•"/>
            </a:pPr>
            <a:r>
              <a:rPr lang="en-US" sz="1600" dirty="0">
                <a:solidFill>
                  <a:srgbClr val="1F4E52"/>
                </a:solidFill>
                <a:latin typeface="Calibri" pitchFamily="34" charset="0"/>
                <a:ea typeface="Calibri" pitchFamily="34" charset="-122"/>
                <a:cs typeface="Calibri" pitchFamily="34" charset="-120"/>
              </a:rPr>
              <a:t>Track model retrain frequency and drift to optimize release cadence.</a:t>
            </a:r>
            <a:endParaRPr lang="en-US" sz="1600" dirty="0"/>
          </a:p>
          <a:p>
            <a:pPr marL="342900" indent="-342900">
              <a:spcAft>
                <a:spcPts val="1000"/>
              </a:spcAft>
              <a:buSzPct val="100000"/>
              <a:buChar char="•"/>
            </a:pPr>
            <a:r>
              <a:rPr lang="en-US" sz="1600" dirty="0">
                <a:solidFill>
                  <a:srgbClr val="1F4E52"/>
                </a:solidFill>
                <a:latin typeface="Calibri" pitchFamily="34" charset="0"/>
                <a:ea typeface="Calibri" pitchFamily="34" charset="-122"/>
                <a:cs typeface="Calibri" pitchFamily="34" charset="-120"/>
              </a:rPr>
              <a:t>Measure cross-format test coverage for CAD/3D interoperability and performance.</a:t>
            </a:r>
            <a:endParaRPr lang="en-US" sz="1600" dirty="0"/>
          </a:p>
          <a:p>
            <a:pPr marL="342900" indent="-342900">
              <a:spcAft>
                <a:spcPts val="1000"/>
              </a:spcAft>
              <a:buSzPct val="100000"/>
              <a:buChar char="•"/>
            </a:pPr>
            <a:r>
              <a:rPr lang="en-US" sz="1600" dirty="0">
                <a:solidFill>
                  <a:srgbClr val="1F4E52"/>
                </a:solidFill>
                <a:latin typeface="Calibri" pitchFamily="34" charset="0"/>
                <a:ea typeface="Calibri" pitchFamily="34" charset="-122"/>
                <a:cs typeface="Calibri" pitchFamily="34" charset="-120"/>
              </a:rPr>
              <a:t>Monitor SaaS reliability SLOs; pinpoint bottlenecks and high-impact opportunities.</a:t>
            </a:r>
            <a:endParaRPr lang="en-US" sz="1600" dirty="0"/>
          </a:p>
        </p:txBody>
      </p:sp>
      <p:sp>
        <p:nvSpPr>
          <p:cNvPr id="8" name="Text 6"/>
          <p:cNvSpPr/>
          <p:nvPr/>
        </p:nvSpPr>
        <p:spPr>
          <a:xfrm>
            <a:off x="8412480" y="4526280"/>
            <a:ext cx="548640" cy="182880"/>
          </a:xfrm>
          <a:prstGeom prst="rect">
            <a:avLst/>
          </a:prstGeom>
          <a:noFill/>
          <a:ln/>
        </p:spPr>
        <p:txBody>
          <a:bodyPr wrap="square" rtlCol="0" anchor="ctr"/>
          <a:lstStyle/>
          <a:p>
            <a:pPr marL="0" indent="0" algn="r">
              <a:buNone/>
            </a:pPr>
            <a:r>
              <a:rPr lang="en-US" sz="900" dirty="0">
                <a:solidFill>
                  <a:srgbClr val="00A896"/>
                </a:solidFill>
                <a:latin typeface="Calibri" pitchFamily="34" charset="0"/>
                <a:ea typeface="Calibri" pitchFamily="34" charset="-122"/>
                <a:cs typeface="Calibri" pitchFamily="34" charset="-120"/>
              </a:rPr>
              <a:t>5 / 16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28090"/>
        </a:solidFill>
        <a:effectLst/>
      </p:bgPr>
    </p:bg>
    <p:spTree>
      <p:nvGrpSpPr>
        <p:cNvPr id="1" name=""/>
        <p:cNvGrpSpPr/>
        <p:nvPr/>
      </p:nvGrpSpPr>
      <p:grpSpPr>
        <a:xfrm>
          <a:off x="0" y="0"/>
          <a:ext cx="0" cy="0"/>
          <a:chOff x="0" y="0"/>
          <a:chExt cx="0" cy="0"/>
        </a:xfrm>
      </p:grpSpPr>
      <p:sp>
        <p:nvSpPr>
          <p:cNvPr id="2" name="Text 0"/>
          <p:cNvSpPr/>
          <p:nvPr/>
        </p:nvSpPr>
        <p:spPr>
          <a:xfrm>
            <a:off x="5029200" y="91440"/>
            <a:ext cx="3931920" cy="3840480"/>
          </a:xfrm>
          <a:prstGeom prst="rect">
            <a:avLst/>
          </a:prstGeom>
          <a:noFill/>
          <a:ln/>
        </p:spPr>
        <p:txBody>
          <a:bodyPr wrap="square" lIns="0" tIns="0" rIns="0" bIns="0" rtlCol="0" anchor="ctr"/>
          <a:lstStyle/>
          <a:p>
            <a:pPr marL="0" indent="0" algn="r">
              <a:buNone/>
            </a:pPr>
            <a:r>
              <a:rPr lang="en-US" sz="18000" b="1" dirty="0">
                <a:solidFill>
                  <a:srgbClr val="00A896"/>
                </a:solidFill>
                <a:latin typeface="Cambria" pitchFamily="34" charset="0"/>
                <a:ea typeface="Cambria" pitchFamily="34" charset="-122"/>
                <a:cs typeface="Cambria" pitchFamily="34" charset="-120"/>
              </a:rPr>
              <a:t>06</a:t>
            </a:r>
            <a:endParaRPr lang="en-US" sz="18000" dirty="0"/>
          </a:p>
        </p:txBody>
      </p:sp>
      <p:sp>
        <p:nvSpPr>
          <p:cNvPr id="3" name="Shape 1"/>
          <p:cNvSpPr/>
          <p:nvPr/>
        </p:nvSpPr>
        <p:spPr>
          <a:xfrm>
            <a:off x="548640" y="1280160"/>
            <a:ext cx="54864" cy="2011680"/>
          </a:xfrm>
          <a:prstGeom prst="rect">
            <a:avLst/>
          </a:prstGeom>
          <a:solidFill>
            <a:srgbClr val="02C39A"/>
          </a:solidFill>
          <a:ln w="12700">
            <a:solidFill>
              <a:srgbClr val="02C39A"/>
            </a:solidFill>
            <a:prstDash val="solid"/>
          </a:ln>
        </p:spPr>
        <p:txBody>
          <a:bodyPr/>
          <a:lstStyle/>
          <a:p>
            <a:endParaRPr lang="en-US"/>
          </a:p>
        </p:txBody>
      </p:sp>
      <p:sp>
        <p:nvSpPr>
          <p:cNvPr id="4" name="Text 2"/>
          <p:cNvSpPr/>
          <p:nvPr/>
        </p:nvSpPr>
        <p:spPr>
          <a:xfrm>
            <a:off x="822960" y="1463040"/>
            <a:ext cx="6400800" cy="1280160"/>
          </a:xfrm>
          <a:prstGeom prst="rect">
            <a:avLst/>
          </a:prstGeom>
          <a:noFill/>
          <a:ln/>
        </p:spPr>
        <p:txBody>
          <a:bodyPr wrap="square" lIns="0" tIns="0" rIns="0" bIns="0" rtlCol="0" anchor="ctr"/>
          <a:lstStyle/>
          <a:p>
            <a:pPr marL="0" indent="0" algn="l">
              <a:buNone/>
            </a:pPr>
            <a:r>
              <a:rPr lang="en-US" sz="3600" b="1" dirty="0">
                <a:solidFill>
                  <a:srgbClr val="FFFFFF"/>
                </a:solidFill>
                <a:latin typeface="Cambria" pitchFamily="34" charset="0"/>
                <a:ea typeface="Cambria" pitchFamily="34" charset="-122"/>
                <a:cs typeface="Cambria" pitchFamily="34" charset="-120"/>
              </a:rPr>
              <a:t>Accelerate Autodesk’s AI/ML Platforms</a:t>
            </a:r>
            <a:endParaRPr lang="en-US" sz="3600" dirty="0"/>
          </a:p>
        </p:txBody>
      </p:sp>
      <p:sp>
        <p:nvSpPr>
          <p:cNvPr id="5" name="Text 3"/>
          <p:cNvSpPr/>
          <p:nvPr/>
        </p:nvSpPr>
        <p:spPr>
          <a:xfrm>
            <a:off x="822960" y="2926080"/>
            <a:ext cx="5486400" cy="548640"/>
          </a:xfrm>
          <a:prstGeom prst="rect">
            <a:avLst/>
          </a:prstGeom>
          <a:noFill/>
          <a:ln/>
        </p:spPr>
        <p:txBody>
          <a:bodyPr wrap="square" lIns="0" tIns="0" rIns="0" bIns="0" rtlCol="0" anchor="ctr"/>
          <a:lstStyle/>
          <a:p>
            <a:pPr marL="0" indent="0" algn="l">
              <a:buNone/>
            </a:pPr>
            <a:r>
              <a:rPr lang="en-US" sz="1600" dirty="0">
                <a:solidFill>
                  <a:srgbClr val="B2EAE8"/>
                </a:solidFill>
                <a:latin typeface="Calibri" pitchFamily="34" charset="0"/>
                <a:ea typeface="Calibri" pitchFamily="34" charset="-122"/>
                <a:cs typeface="Calibri" pitchFamily="34" charset="-120"/>
              </a:rPr>
              <a:t>MLOps + cloud-native DevOps + enterprise-grade QE to scale GenAI.</a:t>
            </a:r>
            <a:endParaRPr lang="en-US" sz="1600" dirty="0"/>
          </a:p>
        </p:txBody>
      </p:sp>
      <p:sp>
        <p:nvSpPr>
          <p:cNvPr id="6" name="Text 4"/>
          <p:cNvSpPr/>
          <p:nvPr/>
        </p:nvSpPr>
        <p:spPr>
          <a:xfrm>
            <a:off x="8412480" y="4526280"/>
            <a:ext cx="548640" cy="182880"/>
          </a:xfrm>
          <a:prstGeom prst="rect">
            <a:avLst/>
          </a:prstGeom>
          <a:noFill/>
          <a:ln/>
        </p:spPr>
        <p:txBody>
          <a:bodyPr wrap="square" rtlCol="0" anchor="ctr"/>
          <a:lstStyle/>
          <a:p>
            <a:pPr marL="0" indent="0" algn="r">
              <a:buNone/>
            </a:pPr>
            <a:r>
              <a:rPr lang="en-US" sz="900" dirty="0">
                <a:solidFill>
                  <a:srgbClr val="B2EAE8"/>
                </a:solidFill>
                <a:latin typeface="Calibri" pitchFamily="34" charset="0"/>
                <a:ea typeface="Calibri" pitchFamily="34" charset="-122"/>
                <a:cs typeface="Calibri" pitchFamily="34" charset="-120"/>
              </a:rPr>
              <a:t>6 / 16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AFA"/>
        </a:solidFill>
        <a:effectLst/>
      </p:bgPr>
    </p:bg>
    <p:spTree>
      <p:nvGrpSpPr>
        <p:cNvPr id="1" name=""/>
        <p:cNvGrpSpPr/>
        <p:nvPr/>
      </p:nvGrpSpPr>
      <p:grpSpPr>
        <a:xfrm>
          <a:off x="0" y="0"/>
          <a:ext cx="0" cy="0"/>
          <a:chOff x="0" y="0"/>
          <a:chExt cx="0" cy="0"/>
        </a:xfrm>
      </p:grpSpPr>
      <p:sp>
        <p:nvSpPr>
          <p:cNvPr id="2" name="Shape 0"/>
          <p:cNvSpPr/>
          <p:nvPr/>
        </p:nvSpPr>
        <p:spPr>
          <a:xfrm>
            <a:off x="6858000" y="2743200"/>
            <a:ext cx="3657600" cy="3657600"/>
          </a:xfrm>
          <a:prstGeom prst="ellipse">
            <a:avLst/>
          </a:prstGeom>
          <a:solidFill>
            <a:srgbClr val="028090">
              <a:alpha val="6000"/>
            </a:srgbClr>
          </a:solidFill>
          <a:ln w="12700">
            <a:solidFill>
              <a:srgbClr val="028090"/>
            </a:solidFill>
            <a:prstDash val="solid"/>
          </a:ln>
        </p:spPr>
        <p:txBody>
          <a:bodyPr/>
          <a:lstStyle/>
          <a:p>
            <a:endParaRPr lang="en-US"/>
          </a:p>
        </p:txBody>
      </p:sp>
      <p:sp>
        <p:nvSpPr>
          <p:cNvPr id="3" name="Text 1"/>
          <p:cNvSpPr/>
          <p:nvPr/>
        </p:nvSpPr>
        <p:spPr>
          <a:xfrm>
            <a:off x="457200" y="228600"/>
            <a:ext cx="5486400" cy="228600"/>
          </a:xfrm>
          <a:prstGeom prst="rect">
            <a:avLst/>
          </a:prstGeom>
          <a:noFill/>
          <a:ln/>
        </p:spPr>
        <p:txBody>
          <a:bodyPr wrap="square" lIns="0" tIns="0" rIns="0" bIns="0" rtlCol="0" anchor="ctr"/>
          <a:lstStyle/>
          <a:p>
            <a:pPr marL="0" indent="0" algn="l">
              <a:buNone/>
            </a:pPr>
            <a:r>
              <a:rPr lang="en-US" sz="900" b="1" kern="0" spc="400" dirty="0">
                <a:solidFill>
                  <a:srgbClr val="028090"/>
                </a:solidFill>
                <a:latin typeface="Calibri" pitchFamily="34" charset="0"/>
                <a:ea typeface="Calibri" pitchFamily="34" charset="-122"/>
                <a:cs typeface="Calibri" pitchFamily="34" charset="-120"/>
              </a:rPr>
              <a:t>OUR APPROACH</a:t>
            </a:r>
            <a:endParaRPr lang="en-US" sz="900" dirty="0"/>
          </a:p>
        </p:txBody>
      </p:sp>
      <p:sp>
        <p:nvSpPr>
          <p:cNvPr id="4" name="Text 2"/>
          <p:cNvSpPr/>
          <p:nvPr/>
        </p:nvSpPr>
        <p:spPr>
          <a:xfrm>
            <a:off x="457200" y="457200"/>
            <a:ext cx="8229600" cy="502920"/>
          </a:xfrm>
          <a:prstGeom prst="rect">
            <a:avLst/>
          </a:prstGeom>
          <a:noFill/>
          <a:ln/>
        </p:spPr>
        <p:txBody>
          <a:bodyPr wrap="square" lIns="0" tIns="0" rIns="0" bIns="0" rtlCol="0" anchor="ctr"/>
          <a:lstStyle/>
          <a:p>
            <a:pPr marL="0" indent="0" algn="l">
              <a:buNone/>
            </a:pPr>
            <a:r>
              <a:rPr lang="en-US" sz="2800" b="1" dirty="0">
                <a:solidFill>
                  <a:srgbClr val="028090"/>
                </a:solidFill>
                <a:latin typeface="Cambria" pitchFamily="34" charset="0"/>
                <a:ea typeface="Cambria" pitchFamily="34" charset="-122"/>
                <a:cs typeface="Cambria" pitchFamily="34" charset="-120"/>
              </a:rPr>
              <a:t>Unified AI Platform, Cloud Scale, and CAD/3D QE</a:t>
            </a:r>
            <a:endParaRPr lang="en-US" sz="2800" dirty="0"/>
          </a:p>
        </p:txBody>
      </p:sp>
      <p:sp>
        <p:nvSpPr>
          <p:cNvPr id="5" name="Shape 3"/>
          <p:cNvSpPr/>
          <p:nvPr/>
        </p:nvSpPr>
        <p:spPr>
          <a:xfrm>
            <a:off x="457200" y="1234440"/>
            <a:ext cx="4114800" cy="3017520"/>
          </a:xfrm>
          <a:prstGeom prst="rect">
            <a:avLst/>
          </a:prstGeom>
          <a:solidFill>
            <a:srgbClr val="E6F7F8"/>
          </a:solidFill>
          <a:ln w="12700">
            <a:solidFill>
              <a:srgbClr val="E6F7F8"/>
            </a:solidFill>
            <a:prstDash val="solid"/>
          </a:ln>
          <a:effectLst>
            <a:outerShdw blurRad="127000" dist="38100" dir="2700000" algn="bl" rotWithShape="0">
              <a:srgbClr val="000000">
                <a:alpha val="6000"/>
              </a:srgbClr>
            </a:outerShdw>
          </a:effectLst>
        </p:spPr>
        <p:txBody>
          <a:bodyPr/>
          <a:lstStyle/>
          <a:p>
            <a:endParaRPr lang="en-US"/>
          </a:p>
        </p:txBody>
      </p:sp>
      <p:sp>
        <p:nvSpPr>
          <p:cNvPr id="6" name="Shape 4"/>
          <p:cNvSpPr/>
          <p:nvPr/>
        </p:nvSpPr>
        <p:spPr>
          <a:xfrm>
            <a:off x="457200" y="1234440"/>
            <a:ext cx="54864" cy="3017520"/>
          </a:xfrm>
          <a:prstGeom prst="rect">
            <a:avLst/>
          </a:prstGeom>
          <a:solidFill>
            <a:srgbClr val="028090"/>
          </a:solidFill>
          <a:ln w="12700">
            <a:solidFill>
              <a:srgbClr val="028090"/>
            </a:solidFill>
            <a:prstDash val="solid"/>
          </a:ln>
        </p:spPr>
        <p:txBody>
          <a:bodyPr/>
          <a:lstStyle/>
          <a:p>
            <a:endParaRPr lang="en-US"/>
          </a:p>
        </p:txBody>
      </p:sp>
      <p:sp>
        <p:nvSpPr>
          <p:cNvPr id="7" name="Text 5"/>
          <p:cNvSpPr/>
          <p:nvPr/>
        </p:nvSpPr>
        <p:spPr>
          <a:xfrm>
            <a:off x="685800" y="1371600"/>
            <a:ext cx="3749040" cy="2743200"/>
          </a:xfrm>
          <a:prstGeom prst="rect">
            <a:avLst/>
          </a:prstGeom>
          <a:noFill/>
          <a:ln/>
        </p:spPr>
        <p:txBody>
          <a:bodyPr wrap="square" rtlCol="0" anchor="t"/>
          <a:lstStyle/>
          <a:p>
            <a:pPr marL="342900" indent="-342900">
              <a:spcAft>
                <a:spcPts val="1000"/>
              </a:spcAft>
              <a:buSzPct val="100000"/>
              <a:buChar char="•"/>
            </a:pPr>
            <a:r>
              <a:rPr lang="en-US" sz="1500" dirty="0">
                <a:solidFill>
                  <a:srgbClr val="1F4E52"/>
                </a:solidFill>
                <a:latin typeface="Calibri" pitchFamily="34" charset="0"/>
                <a:ea typeface="Calibri" pitchFamily="34" charset="-122"/>
                <a:cs typeface="Calibri" pitchFamily="34" charset="-120"/>
              </a:rPr>
              <a:t>MLOps + ML platform: feature store, model registry, CI/CD for ML</a:t>
            </a:r>
            <a:endParaRPr lang="en-US" sz="1500" dirty="0"/>
          </a:p>
          <a:p>
            <a:pPr marL="342900" indent="-342900">
              <a:spcAft>
                <a:spcPts val="1000"/>
              </a:spcAft>
              <a:buSzPct val="100000"/>
              <a:buChar char="•"/>
            </a:pPr>
            <a:r>
              <a:rPr lang="en-US" sz="1500" dirty="0">
                <a:solidFill>
                  <a:srgbClr val="1F4E52"/>
                </a:solidFill>
                <a:latin typeface="Calibri" pitchFamily="34" charset="0"/>
                <a:ea typeface="Calibri" pitchFamily="34" charset="-122"/>
                <a:cs typeface="Calibri" pitchFamily="34" charset="-120"/>
              </a:rPr>
              <a:t>GenAI reference patterns for retrieval, grounding, guardrails, and monitoring</a:t>
            </a:r>
            <a:endParaRPr lang="en-US" sz="1500" dirty="0"/>
          </a:p>
          <a:p>
            <a:pPr marL="342900" indent="-342900">
              <a:spcAft>
                <a:spcPts val="1000"/>
              </a:spcAft>
              <a:buSzPct val="100000"/>
              <a:buChar char="•"/>
            </a:pPr>
            <a:r>
              <a:rPr lang="en-US" sz="1500" dirty="0">
                <a:solidFill>
                  <a:srgbClr val="1F4E52"/>
                </a:solidFill>
                <a:latin typeface="Calibri" pitchFamily="34" charset="0"/>
                <a:ea typeface="Calibri" pitchFamily="34" charset="-122"/>
                <a:cs typeface="Calibri" pitchFamily="34" charset="-120"/>
              </a:rPr>
              <a:t>Optimized Kubernetes, Spark/Presto/Hive data platforms for reliable SaaS scale</a:t>
            </a:r>
            <a:endParaRPr lang="en-US" sz="1500" dirty="0"/>
          </a:p>
          <a:p>
            <a:pPr marL="342900" indent="-342900">
              <a:spcAft>
                <a:spcPts val="1000"/>
              </a:spcAft>
              <a:buSzPct val="100000"/>
              <a:buChar char="•"/>
            </a:pPr>
            <a:r>
              <a:rPr lang="en-US" sz="1500" dirty="0">
                <a:solidFill>
                  <a:srgbClr val="1F4E52"/>
                </a:solidFill>
                <a:latin typeface="Calibri" pitchFamily="34" charset="0"/>
                <a:ea typeface="Calibri" pitchFamily="34" charset="-122"/>
                <a:cs typeface="Calibri" pitchFamily="34" charset="-120"/>
              </a:rPr>
              <a:t>CAD/3D regression automation; 3 days to 2.5 hours, 0.3% escapes</a:t>
            </a:r>
            <a:endParaRPr lang="en-US" sz="1500" dirty="0"/>
          </a:p>
        </p:txBody>
      </p:sp>
      <p:sp>
        <p:nvSpPr>
          <p:cNvPr id="8" name="Shape 6"/>
          <p:cNvSpPr/>
          <p:nvPr/>
        </p:nvSpPr>
        <p:spPr>
          <a:xfrm>
            <a:off x="4846320" y="1234440"/>
            <a:ext cx="3840480" cy="3017520"/>
          </a:xfrm>
          <a:prstGeom prst="rect">
            <a:avLst/>
          </a:prstGeom>
          <a:solidFill>
            <a:srgbClr val="E6F7F8"/>
          </a:solidFill>
          <a:ln w="12700">
            <a:solidFill>
              <a:srgbClr val="E6F7F8"/>
            </a:solidFill>
            <a:prstDash val="solid"/>
          </a:ln>
          <a:effectLst>
            <a:outerShdw blurRad="127000" dist="38100" dir="2700000" algn="bl" rotWithShape="0">
              <a:srgbClr val="000000">
                <a:alpha val="6000"/>
              </a:srgbClr>
            </a:outerShdw>
          </a:effectLst>
        </p:spPr>
        <p:txBody>
          <a:bodyPr/>
          <a:lstStyle/>
          <a:p>
            <a:endParaRPr lang="en-US"/>
          </a:p>
        </p:txBody>
      </p:sp>
      <p:sp>
        <p:nvSpPr>
          <p:cNvPr id="9" name="Shape 7"/>
          <p:cNvSpPr/>
          <p:nvPr/>
        </p:nvSpPr>
        <p:spPr>
          <a:xfrm>
            <a:off x="4846320" y="1234440"/>
            <a:ext cx="3840480" cy="54864"/>
          </a:xfrm>
          <a:prstGeom prst="rect">
            <a:avLst/>
          </a:prstGeom>
          <a:solidFill>
            <a:srgbClr val="02C39A"/>
          </a:solidFill>
          <a:ln w="12700">
            <a:solidFill>
              <a:srgbClr val="02C39A"/>
            </a:solidFill>
            <a:prstDash val="solid"/>
          </a:ln>
        </p:spPr>
        <p:txBody>
          <a:bodyPr/>
          <a:lstStyle/>
          <a:p>
            <a:endParaRPr lang="en-US"/>
          </a:p>
        </p:txBody>
      </p:sp>
      <p:sp>
        <p:nvSpPr>
          <p:cNvPr id="10" name="Text 8"/>
          <p:cNvSpPr/>
          <p:nvPr/>
        </p:nvSpPr>
        <p:spPr>
          <a:xfrm>
            <a:off x="4846320" y="1645920"/>
            <a:ext cx="3840480" cy="1280160"/>
          </a:xfrm>
          <a:prstGeom prst="rect">
            <a:avLst/>
          </a:prstGeom>
          <a:noFill/>
          <a:ln/>
        </p:spPr>
        <p:txBody>
          <a:bodyPr wrap="square" lIns="0" tIns="0" rIns="0" bIns="0" rtlCol="0" anchor="ctr"/>
          <a:lstStyle/>
          <a:p>
            <a:pPr marL="0" indent="0" algn="ctr">
              <a:buNone/>
            </a:pPr>
            <a:r>
              <a:rPr lang="en-US" sz="6400" b="1" dirty="0">
                <a:solidFill>
                  <a:srgbClr val="028090"/>
                </a:solidFill>
                <a:latin typeface="Cambria" pitchFamily="34" charset="0"/>
                <a:ea typeface="Cambria" pitchFamily="34" charset="-122"/>
                <a:cs typeface="Cambria" pitchFamily="34" charset="-120"/>
              </a:rPr>
              <a:t>0.3%</a:t>
            </a:r>
            <a:endParaRPr lang="en-US" sz="6400" dirty="0"/>
          </a:p>
        </p:txBody>
      </p:sp>
      <p:sp>
        <p:nvSpPr>
          <p:cNvPr id="11" name="Text 9"/>
          <p:cNvSpPr/>
          <p:nvPr/>
        </p:nvSpPr>
        <p:spPr>
          <a:xfrm>
            <a:off x="4846320" y="3017520"/>
            <a:ext cx="3840480" cy="457200"/>
          </a:xfrm>
          <a:prstGeom prst="rect">
            <a:avLst/>
          </a:prstGeom>
          <a:noFill/>
          <a:ln/>
        </p:spPr>
        <p:txBody>
          <a:bodyPr wrap="square" lIns="0" tIns="0" rIns="0" bIns="0" rtlCol="0" anchor="ctr"/>
          <a:lstStyle/>
          <a:p>
            <a:pPr marL="0" indent="0" algn="ctr">
              <a:buNone/>
            </a:pPr>
            <a:r>
              <a:rPr lang="en-US" sz="1300" dirty="0">
                <a:solidFill>
                  <a:srgbClr val="1F4E52"/>
                </a:solidFill>
                <a:latin typeface="Calibri" pitchFamily="34" charset="0"/>
                <a:ea typeface="Calibri" pitchFamily="34" charset="-122"/>
                <a:cs typeface="Calibri" pitchFamily="34" charset="-120"/>
              </a:rPr>
              <a:t>defect escape rate</a:t>
            </a:r>
            <a:endParaRPr lang="en-US" sz="1300" dirty="0"/>
          </a:p>
        </p:txBody>
      </p:sp>
      <p:sp>
        <p:nvSpPr>
          <p:cNvPr id="12" name="Text 10"/>
          <p:cNvSpPr/>
          <p:nvPr/>
        </p:nvSpPr>
        <p:spPr>
          <a:xfrm>
            <a:off x="8412480" y="4526280"/>
            <a:ext cx="548640" cy="182880"/>
          </a:xfrm>
          <a:prstGeom prst="rect">
            <a:avLst/>
          </a:prstGeom>
          <a:noFill/>
          <a:ln/>
        </p:spPr>
        <p:txBody>
          <a:bodyPr wrap="square" rtlCol="0" anchor="ctr"/>
          <a:lstStyle/>
          <a:p>
            <a:pPr marL="0" indent="0" algn="r">
              <a:buNone/>
            </a:pPr>
            <a:r>
              <a:rPr lang="en-US" sz="900" dirty="0">
                <a:solidFill>
                  <a:srgbClr val="00A896"/>
                </a:solidFill>
                <a:latin typeface="Calibri" pitchFamily="34" charset="0"/>
                <a:ea typeface="Calibri" pitchFamily="34" charset="-122"/>
                <a:cs typeface="Calibri" pitchFamily="34" charset="-120"/>
              </a:rPr>
              <a:t>7 / 16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AFA"/>
        </a:solidFill>
        <a:effectLst/>
      </p:bgPr>
    </p:bg>
    <p:spTree>
      <p:nvGrpSpPr>
        <p:cNvPr id="1" name=""/>
        <p:cNvGrpSpPr/>
        <p:nvPr/>
      </p:nvGrpSpPr>
      <p:grpSpPr>
        <a:xfrm>
          <a:off x="0" y="0"/>
          <a:ext cx="0" cy="0"/>
          <a:chOff x="0" y="0"/>
          <a:chExt cx="0" cy="0"/>
        </a:xfrm>
      </p:grpSpPr>
      <p:sp>
        <p:nvSpPr>
          <p:cNvPr id="2" name="Shape 0"/>
          <p:cNvSpPr/>
          <p:nvPr/>
        </p:nvSpPr>
        <p:spPr>
          <a:xfrm>
            <a:off x="6858000" y="2743200"/>
            <a:ext cx="3657600" cy="3657600"/>
          </a:xfrm>
          <a:prstGeom prst="ellipse">
            <a:avLst/>
          </a:prstGeom>
          <a:solidFill>
            <a:srgbClr val="028090">
              <a:alpha val="6000"/>
            </a:srgbClr>
          </a:solidFill>
          <a:ln w="12700">
            <a:solidFill>
              <a:srgbClr val="028090"/>
            </a:solidFill>
            <a:prstDash val="solid"/>
          </a:ln>
        </p:spPr>
        <p:txBody>
          <a:bodyPr/>
          <a:lstStyle/>
          <a:p>
            <a:endParaRPr lang="en-US"/>
          </a:p>
        </p:txBody>
      </p:sp>
      <p:sp>
        <p:nvSpPr>
          <p:cNvPr id="3" name="Text 1"/>
          <p:cNvSpPr/>
          <p:nvPr/>
        </p:nvSpPr>
        <p:spPr>
          <a:xfrm>
            <a:off x="457200" y="228600"/>
            <a:ext cx="5486400" cy="228600"/>
          </a:xfrm>
          <a:prstGeom prst="rect">
            <a:avLst/>
          </a:prstGeom>
          <a:noFill/>
          <a:ln/>
        </p:spPr>
        <p:txBody>
          <a:bodyPr wrap="square" lIns="0" tIns="0" rIns="0" bIns="0" rtlCol="0" anchor="ctr"/>
          <a:lstStyle/>
          <a:p>
            <a:pPr marL="0" indent="0" algn="l">
              <a:buNone/>
            </a:pPr>
            <a:r>
              <a:rPr lang="en-US" sz="900" b="1" kern="0" spc="400" dirty="0">
                <a:solidFill>
                  <a:srgbClr val="028090"/>
                </a:solidFill>
                <a:latin typeface="Calibri" pitchFamily="34" charset="0"/>
                <a:ea typeface="Calibri" pitchFamily="34" charset="-122"/>
                <a:cs typeface="Calibri" pitchFamily="34" charset="-120"/>
              </a:rPr>
              <a:t>OUR SERVICES</a:t>
            </a:r>
            <a:endParaRPr lang="en-US" sz="900" dirty="0"/>
          </a:p>
        </p:txBody>
      </p:sp>
      <p:sp>
        <p:nvSpPr>
          <p:cNvPr id="4" name="Text 2"/>
          <p:cNvSpPr/>
          <p:nvPr/>
        </p:nvSpPr>
        <p:spPr>
          <a:xfrm>
            <a:off x="457200" y="457200"/>
            <a:ext cx="8229600" cy="457200"/>
          </a:xfrm>
          <a:prstGeom prst="rect">
            <a:avLst/>
          </a:prstGeom>
          <a:noFill/>
          <a:ln/>
        </p:spPr>
        <p:txBody>
          <a:bodyPr wrap="square" lIns="0" tIns="0" rIns="0" bIns="0" rtlCol="0" anchor="ctr"/>
          <a:lstStyle/>
          <a:p>
            <a:pPr marL="0" indent="0" algn="l">
              <a:buNone/>
            </a:pPr>
            <a:r>
              <a:rPr lang="en-US" sz="2600" b="1" dirty="0">
                <a:solidFill>
                  <a:srgbClr val="028090"/>
                </a:solidFill>
                <a:latin typeface="Cambria" pitchFamily="34" charset="0"/>
                <a:ea typeface="Cambria" pitchFamily="34" charset="-122"/>
                <a:cs typeface="Cambria" pitchFamily="34" charset="-120"/>
              </a:rPr>
              <a:t>Capabilities to Scale AI-Driven SaaS</a:t>
            </a:r>
            <a:endParaRPr lang="en-US" sz="2600" dirty="0"/>
          </a:p>
        </p:txBody>
      </p:sp>
      <p:sp>
        <p:nvSpPr>
          <p:cNvPr id="5" name="Text 3"/>
          <p:cNvSpPr/>
          <p:nvPr/>
        </p:nvSpPr>
        <p:spPr>
          <a:xfrm>
            <a:off x="457200" y="914400"/>
            <a:ext cx="8229600" cy="256032"/>
          </a:xfrm>
          <a:prstGeom prst="rect">
            <a:avLst/>
          </a:prstGeom>
          <a:noFill/>
          <a:ln/>
        </p:spPr>
        <p:txBody>
          <a:bodyPr wrap="square" lIns="0" tIns="0" rIns="0" bIns="0" rtlCol="0" anchor="ctr"/>
          <a:lstStyle/>
          <a:p>
            <a:pPr marL="0" indent="0" algn="l">
              <a:buNone/>
            </a:pPr>
            <a:r>
              <a:rPr lang="en-US" sz="1200" i="1" dirty="0">
                <a:solidFill>
                  <a:srgbClr val="00A896"/>
                </a:solidFill>
                <a:latin typeface="Calibri" pitchFamily="34" charset="0"/>
                <a:ea typeface="Calibri" pitchFamily="34" charset="-122"/>
                <a:cs typeface="Calibri" pitchFamily="34" charset="-120"/>
              </a:rPr>
              <a:t>Accelerating Autodesk’s AI/ML platforms with cloud-native DevOps and quality.</a:t>
            </a:r>
            <a:endParaRPr lang="en-US" sz="1200" dirty="0"/>
          </a:p>
        </p:txBody>
      </p:sp>
      <p:sp>
        <p:nvSpPr>
          <p:cNvPr id="6" name="Shape 4"/>
          <p:cNvSpPr/>
          <p:nvPr/>
        </p:nvSpPr>
        <p:spPr>
          <a:xfrm>
            <a:off x="457200" y="1261872"/>
            <a:ext cx="2633472" cy="1449324"/>
          </a:xfrm>
          <a:prstGeom prst="rect">
            <a:avLst/>
          </a:prstGeom>
          <a:solidFill>
            <a:srgbClr val="E6F7F8"/>
          </a:solidFill>
          <a:ln w="12700">
            <a:solidFill>
              <a:srgbClr val="E6F7F8"/>
            </a:solidFill>
            <a:prstDash val="solid"/>
          </a:ln>
          <a:effectLst>
            <a:outerShdw blurRad="127000" dist="38100" dir="2700000" algn="bl" rotWithShape="0">
              <a:srgbClr val="000000">
                <a:alpha val="5000"/>
              </a:srgbClr>
            </a:outerShdw>
          </a:effectLst>
        </p:spPr>
        <p:txBody>
          <a:bodyPr/>
          <a:lstStyle/>
          <a:p>
            <a:endParaRPr lang="en-US"/>
          </a:p>
        </p:txBody>
      </p:sp>
      <p:sp>
        <p:nvSpPr>
          <p:cNvPr id="7" name="Shape 5"/>
          <p:cNvSpPr/>
          <p:nvPr/>
        </p:nvSpPr>
        <p:spPr>
          <a:xfrm>
            <a:off x="457200" y="1261872"/>
            <a:ext cx="2633472" cy="45720"/>
          </a:xfrm>
          <a:prstGeom prst="rect">
            <a:avLst/>
          </a:prstGeom>
          <a:solidFill>
            <a:srgbClr val="028090"/>
          </a:solidFill>
          <a:ln w="12700">
            <a:solidFill>
              <a:srgbClr val="028090"/>
            </a:solidFill>
            <a:prstDash val="solid"/>
          </a:ln>
        </p:spPr>
        <p:txBody>
          <a:bodyPr/>
          <a:lstStyle/>
          <a:p>
            <a:endParaRPr lang="en-US"/>
          </a:p>
        </p:txBody>
      </p:sp>
      <p:sp>
        <p:nvSpPr>
          <p:cNvPr id="8" name="Shape 6"/>
          <p:cNvSpPr/>
          <p:nvPr/>
        </p:nvSpPr>
        <p:spPr>
          <a:xfrm>
            <a:off x="1636776" y="1371600"/>
            <a:ext cx="274320" cy="274320"/>
          </a:xfrm>
          <a:prstGeom prst="ellipse">
            <a:avLst/>
          </a:prstGeom>
          <a:solidFill>
            <a:srgbClr val="028090"/>
          </a:solidFill>
          <a:ln w="12700">
            <a:solidFill>
              <a:srgbClr val="028090"/>
            </a:solidFill>
            <a:prstDash val="solid"/>
          </a:ln>
        </p:spPr>
        <p:txBody>
          <a:bodyPr/>
          <a:lstStyle/>
          <a:p>
            <a:endParaRPr lang="en-US"/>
          </a:p>
        </p:txBody>
      </p:sp>
      <p:pic>
        <p:nvPicPr>
          <p:cNvPr id="9" name="Image 0" descr="preencoded.png"/>
          <p:cNvPicPr>
            <a:picLocks noChangeAspect="1"/>
          </p:cNvPicPr>
          <p:nvPr/>
        </p:nvPicPr>
        <p:blipFill>
          <a:blip/>
          <a:stretch>
            <a:fillRect/>
          </a:stretch>
        </p:blipFill>
        <p:spPr>
          <a:xfrm>
            <a:off x="1664208" y="1399032"/>
            <a:ext cx="219456" cy="219456"/>
          </a:xfrm>
          <a:prstGeom prst="rect">
            <a:avLst/>
          </a:prstGeom>
        </p:spPr>
      </p:pic>
      <p:sp>
        <p:nvSpPr>
          <p:cNvPr id="10" name="Text 7"/>
          <p:cNvSpPr/>
          <p:nvPr/>
        </p:nvSpPr>
        <p:spPr>
          <a:xfrm>
            <a:off x="530352" y="1673352"/>
            <a:ext cx="2487168" cy="256032"/>
          </a:xfrm>
          <a:prstGeom prst="rect">
            <a:avLst/>
          </a:prstGeom>
          <a:noFill/>
          <a:ln/>
        </p:spPr>
        <p:txBody>
          <a:bodyPr wrap="square" lIns="0" tIns="0" rIns="0" bIns="0" rtlCol="0" anchor="ctr"/>
          <a:lstStyle/>
          <a:p>
            <a:pPr marL="0" indent="0" algn="ctr">
              <a:buNone/>
            </a:pPr>
            <a:r>
              <a:rPr lang="en-US" sz="1000" b="1" dirty="0">
                <a:solidFill>
                  <a:srgbClr val="028090"/>
                </a:solidFill>
                <a:latin typeface="Calibri" pitchFamily="34" charset="0"/>
                <a:ea typeface="Calibri" pitchFamily="34" charset="-122"/>
                <a:cs typeface="Calibri" pitchFamily="34" charset="-120"/>
              </a:rPr>
              <a:t>AI/ML &amp; GenAI</a:t>
            </a:r>
            <a:endParaRPr lang="en-US" sz="1000" dirty="0"/>
          </a:p>
        </p:txBody>
      </p:sp>
      <p:sp>
        <p:nvSpPr>
          <p:cNvPr id="11" name="Text 8"/>
          <p:cNvSpPr/>
          <p:nvPr/>
        </p:nvSpPr>
        <p:spPr>
          <a:xfrm>
            <a:off x="530352" y="1920240"/>
            <a:ext cx="2487168" cy="672084"/>
          </a:xfrm>
          <a:prstGeom prst="rect">
            <a:avLst/>
          </a:prstGeom>
          <a:noFill/>
          <a:ln/>
        </p:spPr>
        <p:txBody>
          <a:bodyPr wrap="square" lIns="0" tIns="0" rIns="0" bIns="0" rtlCol="0" anchor="t"/>
          <a:lstStyle/>
          <a:p>
            <a:pPr marL="0" indent="0" algn="ctr">
              <a:buNone/>
            </a:pPr>
            <a:r>
              <a:rPr lang="en-US" sz="900" dirty="0">
                <a:solidFill>
                  <a:srgbClr val="1F4E52"/>
                </a:solidFill>
                <a:latin typeface="Calibri" pitchFamily="34" charset="0"/>
                <a:ea typeface="Calibri" pitchFamily="34" charset="-122"/>
                <a:cs typeface="Calibri" pitchFamily="34" charset="-120"/>
              </a:rPr>
              <a:t>Model design, fine-tuning, and domain copilots for CAD workflows.</a:t>
            </a:r>
            <a:endParaRPr lang="en-US" sz="900" dirty="0"/>
          </a:p>
        </p:txBody>
      </p:sp>
      <p:sp>
        <p:nvSpPr>
          <p:cNvPr id="12" name="Shape 9"/>
          <p:cNvSpPr/>
          <p:nvPr/>
        </p:nvSpPr>
        <p:spPr>
          <a:xfrm>
            <a:off x="3255264" y="1261872"/>
            <a:ext cx="2633472" cy="1449324"/>
          </a:xfrm>
          <a:prstGeom prst="rect">
            <a:avLst/>
          </a:prstGeom>
          <a:solidFill>
            <a:srgbClr val="E6F7F8"/>
          </a:solidFill>
          <a:ln w="12700">
            <a:solidFill>
              <a:srgbClr val="E6F7F8"/>
            </a:solidFill>
            <a:prstDash val="solid"/>
          </a:ln>
          <a:effectLst>
            <a:outerShdw blurRad="127000" dist="38100" dir="2700000" algn="bl" rotWithShape="0">
              <a:srgbClr val="000000">
                <a:alpha val="5000"/>
              </a:srgbClr>
            </a:outerShdw>
          </a:effectLst>
        </p:spPr>
        <p:txBody>
          <a:bodyPr/>
          <a:lstStyle/>
          <a:p>
            <a:endParaRPr lang="en-US"/>
          </a:p>
        </p:txBody>
      </p:sp>
      <p:sp>
        <p:nvSpPr>
          <p:cNvPr id="13" name="Shape 10"/>
          <p:cNvSpPr/>
          <p:nvPr/>
        </p:nvSpPr>
        <p:spPr>
          <a:xfrm>
            <a:off x="3255264" y="1261872"/>
            <a:ext cx="2633472" cy="45720"/>
          </a:xfrm>
          <a:prstGeom prst="rect">
            <a:avLst/>
          </a:prstGeom>
          <a:solidFill>
            <a:srgbClr val="028090"/>
          </a:solidFill>
          <a:ln w="12700">
            <a:solidFill>
              <a:srgbClr val="028090"/>
            </a:solidFill>
            <a:prstDash val="solid"/>
          </a:ln>
        </p:spPr>
        <p:txBody>
          <a:bodyPr/>
          <a:lstStyle/>
          <a:p>
            <a:endParaRPr lang="en-US"/>
          </a:p>
        </p:txBody>
      </p:sp>
      <p:sp>
        <p:nvSpPr>
          <p:cNvPr id="14" name="Shape 11"/>
          <p:cNvSpPr/>
          <p:nvPr/>
        </p:nvSpPr>
        <p:spPr>
          <a:xfrm>
            <a:off x="4434840" y="1371600"/>
            <a:ext cx="274320" cy="274320"/>
          </a:xfrm>
          <a:prstGeom prst="ellipse">
            <a:avLst/>
          </a:prstGeom>
          <a:solidFill>
            <a:srgbClr val="028090"/>
          </a:solidFill>
          <a:ln w="12700">
            <a:solidFill>
              <a:srgbClr val="028090"/>
            </a:solidFill>
            <a:prstDash val="solid"/>
          </a:ln>
        </p:spPr>
        <p:txBody>
          <a:bodyPr/>
          <a:lstStyle/>
          <a:p>
            <a:endParaRPr lang="en-US"/>
          </a:p>
        </p:txBody>
      </p:sp>
      <p:pic>
        <p:nvPicPr>
          <p:cNvPr id="15" name="Image 1" descr="preencoded.png"/>
          <p:cNvPicPr>
            <a:picLocks noChangeAspect="1"/>
          </p:cNvPicPr>
          <p:nvPr/>
        </p:nvPicPr>
        <p:blipFill>
          <a:blip/>
          <a:stretch>
            <a:fillRect/>
          </a:stretch>
        </p:blipFill>
        <p:spPr>
          <a:xfrm>
            <a:off x="4462272" y="1399032"/>
            <a:ext cx="219456" cy="219456"/>
          </a:xfrm>
          <a:prstGeom prst="rect">
            <a:avLst/>
          </a:prstGeom>
        </p:spPr>
      </p:pic>
      <p:sp>
        <p:nvSpPr>
          <p:cNvPr id="16" name="Text 12"/>
          <p:cNvSpPr/>
          <p:nvPr/>
        </p:nvSpPr>
        <p:spPr>
          <a:xfrm>
            <a:off x="3328416" y="1673352"/>
            <a:ext cx="2487168" cy="256032"/>
          </a:xfrm>
          <a:prstGeom prst="rect">
            <a:avLst/>
          </a:prstGeom>
          <a:noFill/>
          <a:ln/>
        </p:spPr>
        <p:txBody>
          <a:bodyPr wrap="square" lIns="0" tIns="0" rIns="0" bIns="0" rtlCol="0" anchor="ctr"/>
          <a:lstStyle/>
          <a:p>
            <a:pPr marL="0" indent="0" algn="ctr">
              <a:buNone/>
            </a:pPr>
            <a:r>
              <a:rPr lang="en-US" sz="1000" b="1" dirty="0">
                <a:solidFill>
                  <a:srgbClr val="028090"/>
                </a:solidFill>
                <a:latin typeface="Calibri" pitchFamily="34" charset="0"/>
                <a:ea typeface="Calibri" pitchFamily="34" charset="-122"/>
                <a:cs typeface="Calibri" pitchFamily="34" charset="-120"/>
              </a:rPr>
              <a:t>MLOps</a:t>
            </a:r>
            <a:endParaRPr lang="en-US" sz="1000" dirty="0"/>
          </a:p>
        </p:txBody>
      </p:sp>
      <p:sp>
        <p:nvSpPr>
          <p:cNvPr id="17" name="Text 13"/>
          <p:cNvSpPr/>
          <p:nvPr/>
        </p:nvSpPr>
        <p:spPr>
          <a:xfrm>
            <a:off x="3328416" y="1920240"/>
            <a:ext cx="2487168" cy="672084"/>
          </a:xfrm>
          <a:prstGeom prst="rect">
            <a:avLst/>
          </a:prstGeom>
          <a:noFill/>
          <a:ln/>
        </p:spPr>
        <p:txBody>
          <a:bodyPr wrap="square" lIns="0" tIns="0" rIns="0" bIns="0" rtlCol="0" anchor="t"/>
          <a:lstStyle/>
          <a:p>
            <a:pPr marL="0" indent="0" algn="ctr">
              <a:buNone/>
            </a:pPr>
            <a:r>
              <a:rPr lang="en-US" sz="900" dirty="0">
                <a:solidFill>
                  <a:srgbClr val="1F4E52"/>
                </a:solidFill>
                <a:latin typeface="Calibri" pitchFamily="34" charset="0"/>
                <a:ea typeface="Calibri" pitchFamily="34" charset="-122"/>
                <a:cs typeface="Calibri" pitchFamily="34" charset="-120"/>
              </a:rPr>
              <a:t>Reusable pipelines, feature stores, model registry, monitoring across products.</a:t>
            </a:r>
            <a:endParaRPr lang="en-US" sz="900" dirty="0"/>
          </a:p>
        </p:txBody>
      </p:sp>
      <p:sp>
        <p:nvSpPr>
          <p:cNvPr id="18" name="Shape 14"/>
          <p:cNvSpPr/>
          <p:nvPr/>
        </p:nvSpPr>
        <p:spPr>
          <a:xfrm>
            <a:off x="6053328" y="1261872"/>
            <a:ext cx="2633472" cy="1449324"/>
          </a:xfrm>
          <a:prstGeom prst="rect">
            <a:avLst/>
          </a:prstGeom>
          <a:solidFill>
            <a:srgbClr val="E6F7F8"/>
          </a:solidFill>
          <a:ln w="12700">
            <a:solidFill>
              <a:srgbClr val="E6F7F8"/>
            </a:solidFill>
            <a:prstDash val="solid"/>
          </a:ln>
          <a:effectLst>
            <a:outerShdw blurRad="127000" dist="38100" dir="2700000" algn="bl" rotWithShape="0">
              <a:srgbClr val="000000">
                <a:alpha val="5000"/>
              </a:srgbClr>
            </a:outerShdw>
          </a:effectLst>
        </p:spPr>
        <p:txBody>
          <a:bodyPr/>
          <a:lstStyle/>
          <a:p>
            <a:endParaRPr lang="en-US"/>
          </a:p>
        </p:txBody>
      </p:sp>
      <p:sp>
        <p:nvSpPr>
          <p:cNvPr id="19" name="Shape 15"/>
          <p:cNvSpPr/>
          <p:nvPr/>
        </p:nvSpPr>
        <p:spPr>
          <a:xfrm>
            <a:off x="6053328" y="1261872"/>
            <a:ext cx="2633472" cy="45720"/>
          </a:xfrm>
          <a:prstGeom prst="rect">
            <a:avLst/>
          </a:prstGeom>
          <a:solidFill>
            <a:srgbClr val="028090"/>
          </a:solidFill>
          <a:ln w="12700">
            <a:solidFill>
              <a:srgbClr val="028090"/>
            </a:solidFill>
            <a:prstDash val="solid"/>
          </a:ln>
        </p:spPr>
        <p:txBody>
          <a:bodyPr/>
          <a:lstStyle/>
          <a:p>
            <a:endParaRPr lang="en-US"/>
          </a:p>
        </p:txBody>
      </p:sp>
      <p:sp>
        <p:nvSpPr>
          <p:cNvPr id="20" name="Shape 16"/>
          <p:cNvSpPr/>
          <p:nvPr/>
        </p:nvSpPr>
        <p:spPr>
          <a:xfrm>
            <a:off x="7232904" y="1371600"/>
            <a:ext cx="274320" cy="274320"/>
          </a:xfrm>
          <a:prstGeom prst="ellipse">
            <a:avLst/>
          </a:prstGeom>
          <a:solidFill>
            <a:srgbClr val="028090"/>
          </a:solidFill>
          <a:ln w="12700">
            <a:solidFill>
              <a:srgbClr val="028090"/>
            </a:solidFill>
            <a:prstDash val="solid"/>
          </a:ln>
        </p:spPr>
        <p:txBody>
          <a:bodyPr/>
          <a:lstStyle/>
          <a:p>
            <a:endParaRPr lang="en-US"/>
          </a:p>
        </p:txBody>
      </p:sp>
      <p:pic>
        <p:nvPicPr>
          <p:cNvPr id="21" name="Image 2" descr="preencoded.png"/>
          <p:cNvPicPr>
            <a:picLocks noChangeAspect="1"/>
          </p:cNvPicPr>
          <p:nvPr/>
        </p:nvPicPr>
        <p:blipFill>
          <a:blip/>
          <a:stretch>
            <a:fillRect/>
          </a:stretch>
        </p:blipFill>
        <p:spPr>
          <a:xfrm>
            <a:off x="7260336" y="1399032"/>
            <a:ext cx="219456" cy="219456"/>
          </a:xfrm>
          <a:prstGeom prst="rect">
            <a:avLst/>
          </a:prstGeom>
        </p:spPr>
      </p:pic>
      <p:sp>
        <p:nvSpPr>
          <p:cNvPr id="22" name="Text 17"/>
          <p:cNvSpPr/>
          <p:nvPr/>
        </p:nvSpPr>
        <p:spPr>
          <a:xfrm>
            <a:off x="6126480" y="1673352"/>
            <a:ext cx="2487168" cy="256032"/>
          </a:xfrm>
          <a:prstGeom prst="rect">
            <a:avLst/>
          </a:prstGeom>
          <a:noFill/>
          <a:ln/>
        </p:spPr>
        <p:txBody>
          <a:bodyPr wrap="square" lIns="0" tIns="0" rIns="0" bIns="0" rtlCol="0" anchor="ctr"/>
          <a:lstStyle/>
          <a:p>
            <a:pPr marL="0" indent="0" algn="ctr">
              <a:buNone/>
            </a:pPr>
            <a:r>
              <a:rPr lang="en-US" sz="1000" b="1" dirty="0">
                <a:solidFill>
                  <a:srgbClr val="028090"/>
                </a:solidFill>
                <a:latin typeface="Calibri" pitchFamily="34" charset="0"/>
                <a:ea typeface="Calibri" pitchFamily="34" charset="-122"/>
                <a:cs typeface="Calibri" pitchFamily="34" charset="-120"/>
              </a:rPr>
              <a:t>Data Engineering</a:t>
            </a:r>
            <a:endParaRPr lang="en-US" sz="1000" dirty="0"/>
          </a:p>
        </p:txBody>
      </p:sp>
      <p:sp>
        <p:nvSpPr>
          <p:cNvPr id="23" name="Text 18"/>
          <p:cNvSpPr/>
          <p:nvPr/>
        </p:nvSpPr>
        <p:spPr>
          <a:xfrm>
            <a:off x="6126480" y="1920240"/>
            <a:ext cx="2487168" cy="672084"/>
          </a:xfrm>
          <a:prstGeom prst="rect">
            <a:avLst/>
          </a:prstGeom>
          <a:noFill/>
          <a:ln/>
        </p:spPr>
        <p:txBody>
          <a:bodyPr wrap="square" lIns="0" tIns="0" rIns="0" bIns="0" rtlCol="0" anchor="t"/>
          <a:lstStyle/>
          <a:p>
            <a:pPr marL="0" indent="0" algn="ctr">
              <a:buNone/>
            </a:pPr>
            <a:r>
              <a:rPr lang="en-US" sz="900" dirty="0">
                <a:solidFill>
                  <a:srgbClr val="1F4E52"/>
                </a:solidFill>
                <a:latin typeface="Calibri" pitchFamily="34" charset="0"/>
                <a:ea typeface="Calibri" pitchFamily="34" charset="-122"/>
                <a:cs typeface="Calibri" pitchFamily="34" charset="-120"/>
              </a:rPr>
              <a:t>Ingest, transform, and govern big data on Spark/Presto/Hive.</a:t>
            </a:r>
            <a:endParaRPr lang="en-US" sz="900" dirty="0"/>
          </a:p>
        </p:txBody>
      </p:sp>
      <p:sp>
        <p:nvSpPr>
          <p:cNvPr id="24" name="Shape 19"/>
          <p:cNvSpPr/>
          <p:nvPr/>
        </p:nvSpPr>
        <p:spPr>
          <a:xfrm>
            <a:off x="457200" y="2848356"/>
            <a:ext cx="2633472" cy="1449324"/>
          </a:xfrm>
          <a:prstGeom prst="rect">
            <a:avLst/>
          </a:prstGeom>
          <a:solidFill>
            <a:srgbClr val="E6F7F8"/>
          </a:solidFill>
          <a:ln w="12700">
            <a:solidFill>
              <a:srgbClr val="E6F7F8"/>
            </a:solidFill>
            <a:prstDash val="solid"/>
          </a:ln>
          <a:effectLst>
            <a:outerShdw blurRad="127000" dist="38100" dir="2700000" algn="bl" rotWithShape="0">
              <a:srgbClr val="000000">
                <a:alpha val="5000"/>
              </a:srgbClr>
            </a:outerShdw>
          </a:effectLst>
        </p:spPr>
        <p:txBody>
          <a:bodyPr/>
          <a:lstStyle/>
          <a:p>
            <a:endParaRPr lang="en-US"/>
          </a:p>
        </p:txBody>
      </p:sp>
      <p:sp>
        <p:nvSpPr>
          <p:cNvPr id="25" name="Shape 20"/>
          <p:cNvSpPr/>
          <p:nvPr/>
        </p:nvSpPr>
        <p:spPr>
          <a:xfrm>
            <a:off x="457200" y="2848356"/>
            <a:ext cx="2633472" cy="45720"/>
          </a:xfrm>
          <a:prstGeom prst="rect">
            <a:avLst/>
          </a:prstGeom>
          <a:solidFill>
            <a:srgbClr val="028090"/>
          </a:solidFill>
          <a:ln w="12700">
            <a:solidFill>
              <a:srgbClr val="028090"/>
            </a:solidFill>
            <a:prstDash val="solid"/>
          </a:ln>
        </p:spPr>
        <p:txBody>
          <a:bodyPr/>
          <a:lstStyle/>
          <a:p>
            <a:endParaRPr lang="en-US"/>
          </a:p>
        </p:txBody>
      </p:sp>
      <p:sp>
        <p:nvSpPr>
          <p:cNvPr id="26" name="Shape 21"/>
          <p:cNvSpPr/>
          <p:nvPr/>
        </p:nvSpPr>
        <p:spPr>
          <a:xfrm>
            <a:off x="1636776" y="2958084"/>
            <a:ext cx="274320" cy="274320"/>
          </a:xfrm>
          <a:prstGeom prst="ellipse">
            <a:avLst/>
          </a:prstGeom>
          <a:solidFill>
            <a:srgbClr val="028090"/>
          </a:solidFill>
          <a:ln w="12700">
            <a:solidFill>
              <a:srgbClr val="028090"/>
            </a:solidFill>
            <a:prstDash val="solid"/>
          </a:ln>
        </p:spPr>
        <p:txBody>
          <a:bodyPr/>
          <a:lstStyle/>
          <a:p>
            <a:endParaRPr lang="en-US"/>
          </a:p>
        </p:txBody>
      </p:sp>
      <p:pic>
        <p:nvPicPr>
          <p:cNvPr id="27" name="Image 3" descr="preencoded.png"/>
          <p:cNvPicPr>
            <a:picLocks noChangeAspect="1"/>
          </p:cNvPicPr>
          <p:nvPr/>
        </p:nvPicPr>
        <p:blipFill>
          <a:blip/>
          <a:stretch>
            <a:fillRect/>
          </a:stretch>
        </p:blipFill>
        <p:spPr>
          <a:xfrm>
            <a:off x="1664208" y="2985516"/>
            <a:ext cx="219456" cy="219456"/>
          </a:xfrm>
          <a:prstGeom prst="rect">
            <a:avLst/>
          </a:prstGeom>
        </p:spPr>
      </p:pic>
      <p:sp>
        <p:nvSpPr>
          <p:cNvPr id="28" name="Text 22"/>
          <p:cNvSpPr/>
          <p:nvPr/>
        </p:nvSpPr>
        <p:spPr>
          <a:xfrm>
            <a:off x="530352" y="3259836"/>
            <a:ext cx="2487168" cy="256032"/>
          </a:xfrm>
          <a:prstGeom prst="rect">
            <a:avLst/>
          </a:prstGeom>
          <a:noFill/>
          <a:ln/>
        </p:spPr>
        <p:txBody>
          <a:bodyPr wrap="square" lIns="0" tIns="0" rIns="0" bIns="0" rtlCol="0" anchor="ctr"/>
          <a:lstStyle/>
          <a:p>
            <a:pPr marL="0" indent="0" algn="ctr">
              <a:buNone/>
            </a:pPr>
            <a:r>
              <a:rPr lang="en-US" sz="1000" b="1" dirty="0">
                <a:solidFill>
                  <a:srgbClr val="028090"/>
                </a:solidFill>
                <a:latin typeface="Calibri" pitchFamily="34" charset="0"/>
                <a:ea typeface="Calibri" pitchFamily="34" charset="-122"/>
                <a:cs typeface="Calibri" pitchFamily="34" charset="-120"/>
              </a:rPr>
              <a:t>Cloud/Kubernetes</a:t>
            </a:r>
            <a:endParaRPr lang="en-US" sz="1000" dirty="0"/>
          </a:p>
        </p:txBody>
      </p:sp>
      <p:sp>
        <p:nvSpPr>
          <p:cNvPr id="29" name="Text 23"/>
          <p:cNvSpPr/>
          <p:nvPr/>
        </p:nvSpPr>
        <p:spPr>
          <a:xfrm>
            <a:off x="530352" y="3506724"/>
            <a:ext cx="2487168" cy="672084"/>
          </a:xfrm>
          <a:prstGeom prst="rect">
            <a:avLst/>
          </a:prstGeom>
          <a:noFill/>
          <a:ln/>
        </p:spPr>
        <p:txBody>
          <a:bodyPr wrap="square" lIns="0" tIns="0" rIns="0" bIns="0" rtlCol="0" anchor="t"/>
          <a:lstStyle/>
          <a:p>
            <a:pPr marL="0" indent="0" algn="ctr">
              <a:buNone/>
            </a:pPr>
            <a:r>
              <a:rPr lang="en-US" sz="900" dirty="0">
                <a:solidFill>
                  <a:srgbClr val="1F4E52"/>
                </a:solidFill>
                <a:latin typeface="Calibri" pitchFamily="34" charset="0"/>
                <a:ea typeface="Calibri" pitchFamily="34" charset="-122"/>
                <a:cs typeface="Calibri" pitchFamily="34" charset="-120"/>
              </a:rPr>
              <a:t>Multi-cluster Kubernetes, autoscaling, and cost-optimized cloud foundations.</a:t>
            </a:r>
            <a:endParaRPr lang="en-US" sz="900" dirty="0"/>
          </a:p>
        </p:txBody>
      </p:sp>
      <p:sp>
        <p:nvSpPr>
          <p:cNvPr id="30" name="Shape 24"/>
          <p:cNvSpPr/>
          <p:nvPr/>
        </p:nvSpPr>
        <p:spPr>
          <a:xfrm>
            <a:off x="3255264" y="2848356"/>
            <a:ext cx="2633472" cy="1449324"/>
          </a:xfrm>
          <a:prstGeom prst="rect">
            <a:avLst/>
          </a:prstGeom>
          <a:solidFill>
            <a:srgbClr val="E6F7F8"/>
          </a:solidFill>
          <a:ln w="12700">
            <a:solidFill>
              <a:srgbClr val="E6F7F8"/>
            </a:solidFill>
            <a:prstDash val="solid"/>
          </a:ln>
          <a:effectLst>
            <a:outerShdw blurRad="127000" dist="38100" dir="2700000" algn="bl" rotWithShape="0">
              <a:srgbClr val="000000">
                <a:alpha val="5000"/>
              </a:srgbClr>
            </a:outerShdw>
          </a:effectLst>
        </p:spPr>
        <p:txBody>
          <a:bodyPr/>
          <a:lstStyle/>
          <a:p>
            <a:endParaRPr lang="en-US"/>
          </a:p>
        </p:txBody>
      </p:sp>
      <p:sp>
        <p:nvSpPr>
          <p:cNvPr id="31" name="Shape 25"/>
          <p:cNvSpPr/>
          <p:nvPr/>
        </p:nvSpPr>
        <p:spPr>
          <a:xfrm>
            <a:off x="3255264" y="2848356"/>
            <a:ext cx="2633472" cy="45720"/>
          </a:xfrm>
          <a:prstGeom prst="rect">
            <a:avLst/>
          </a:prstGeom>
          <a:solidFill>
            <a:srgbClr val="028090"/>
          </a:solidFill>
          <a:ln w="12700">
            <a:solidFill>
              <a:srgbClr val="028090"/>
            </a:solidFill>
            <a:prstDash val="solid"/>
          </a:ln>
        </p:spPr>
        <p:txBody>
          <a:bodyPr/>
          <a:lstStyle/>
          <a:p>
            <a:endParaRPr lang="en-US"/>
          </a:p>
        </p:txBody>
      </p:sp>
      <p:sp>
        <p:nvSpPr>
          <p:cNvPr id="32" name="Shape 26"/>
          <p:cNvSpPr/>
          <p:nvPr/>
        </p:nvSpPr>
        <p:spPr>
          <a:xfrm>
            <a:off x="4434840" y="2958084"/>
            <a:ext cx="274320" cy="274320"/>
          </a:xfrm>
          <a:prstGeom prst="ellipse">
            <a:avLst/>
          </a:prstGeom>
          <a:solidFill>
            <a:srgbClr val="028090"/>
          </a:solidFill>
          <a:ln w="12700">
            <a:solidFill>
              <a:srgbClr val="028090"/>
            </a:solidFill>
            <a:prstDash val="solid"/>
          </a:ln>
        </p:spPr>
        <p:txBody>
          <a:bodyPr/>
          <a:lstStyle/>
          <a:p>
            <a:endParaRPr lang="en-US"/>
          </a:p>
        </p:txBody>
      </p:sp>
      <p:pic>
        <p:nvPicPr>
          <p:cNvPr id="33" name="Image 4" descr="preencoded.png"/>
          <p:cNvPicPr>
            <a:picLocks noChangeAspect="1"/>
          </p:cNvPicPr>
          <p:nvPr/>
        </p:nvPicPr>
        <p:blipFill>
          <a:blip/>
          <a:stretch>
            <a:fillRect/>
          </a:stretch>
        </p:blipFill>
        <p:spPr>
          <a:xfrm>
            <a:off x="4462272" y="2985516"/>
            <a:ext cx="219456" cy="219456"/>
          </a:xfrm>
          <a:prstGeom prst="rect">
            <a:avLst/>
          </a:prstGeom>
        </p:spPr>
      </p:pic>
      <p:sp>
        <p:nvSpPr>
          <p:cNvPr id="34" name="Text 27"/>
          <p:cNvSpPr/>
          <p:nvPr/>
        </p:nvSpPr>
        <p:spPr>
          <a:xfrm>
            <a:off x="3328416" y="3259836"/>
            <a:ext cx="2487168" cy="256032"/>
          </a:xfrm>
          <a:prstGeom prst="rect">
            <a:avLst/>
          </a:prstGeom>
          <a:noFill/>
          <a:ln/>
        </p:spPr>
        <p:txBody>
          <a:bodyPr wrap="square" lIns="0" tIns="0" rIns="0" bIns="0" rtlCol="0" anchor="ctr"/>
          <a:lstStyle/>
          <a:p>
            <a:pPr marL="0" indent="0" algn="ctr">
              <a:buNone/>
            </a:pPr>
            <a:r>
              <a:rPr lang="en-US" sz="1000" b="1" dirty="0">
                <a:solidFill>
                  <a:srgbClr val="028090"/>
                </a:solidFill>
                <a:latin typeface="Calibri" pitchFamily="34" charset="0"/>
                <a:ea typeface="Calibri" pitchFamily="34" charset="-122"/>
                <a:cs typeface="Calibri" pitchFamily="34" charset="-120"/>
              </a:rPr>
              <a:t>Platform Engineering</a:t>
            </a:r>
            <a:endParaRPr lang="en-US" sz="1000" dirty="0"/>
          </a:p>
        </p:txBody>
      </p:sp>
      <p:sp>
        <p:nvSpPr>
          <p:cNvPr id="35" name="Text 28"/>
          <p:cNvSpPr/>
          <p:nvPr/>
        </p:nvSpPr>
        <p:spPr>
          <a:xfrm>
            <a:off x="3328416" y="3506724"/>
            <a:ext cx="2487168" cy="672084"/>
          </a:xfrm>
          <a:prstGeom prst="rect">
            <a:avLst/>
          </a:prstGeom>
          <a:noFill/>
          <a:ln/>
        </p:spPr>
        <p:txBody>
          <a:bodyPr wrap="square" lIns="0" tIns="0" rIns="0" bIns="0" rtlCol="0" anchor="t"/>
          <a:lstStyle/>
          <a:p>
            <a:pPr marL="0" indent="0" algn="ctr">
              <a:buNone/>
            </a:pPr>
            <a:r>
              <a:rPr lang="en-US" sz="900" dirty="0">
                <a:solidFill>
                  <a:srgbClr val="1F4E52"/>
                </a:solidFill>
                <a:latin typeface="Calibri" pitchFamily="34" charset="0"/>
                <a:ea typeface="Calibri" pitchFamily="34" charset="-122"/>
                <a:cs typeface="Calibri" pitchFamily="34" charset="-120"/>
              </a:rPr>
              <a:t>Golden paths, internal developer platforms, and self-service ML environments.</a:t>
            </a:r>
            <a:endParaRPr lang="en-US" sz="900" dirty="0"/>
          </a:p>
        </p:txBody>
      </p:sp>
      <p:sp>
        <p:nvSpPr>
          <p:cNvPr id="36" name="Text 29"/>
          <p:cNvSpPr/>
          <p:nvPr/>
        </p:nvSpPr>
        <p:spPr>
          <a:xfrm>
            <a:off x="8412480" y="4526280"/>
            <a:ext cx="548640" cy="182880"/>
          </a:xfrm>
          <a:prstGeom prst="rect">
            <a:avLst/>
          </a:prstGeom>
          <a:noFill/>
          <a:ln/>
        </p:spPr>
        <p:txBody>
          <a:bodyPr wrap="square" rtlCol="0" anchor="ctr"/>
          <a:lstStyle/>
          <a:p>
            <a:pPr marL="0" indent="0" algn="r">
              <a:buNone/>
            </a:pPr>
            <a:r>
              <a:rPr lang="en-US" sz="900" dirty="0">
                <a:solidFill>
                  <a:srgbClr val="00A896"/>
                </a:solidFill>
                <a:latin typeface="Calibri" pitchFamily="34" charset="0"/>
                <a:ea typeface="Calibri" pitchFamily="34" charset="-122"/>
                <a:cs typeface="Calibri" pitchFamily="34" charset="-120"/>
              </a:rPr>
              <a:t>8 / 16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AFA"/>
        </a:solidFill>
        <a:effectLst/>
      </p:bgPr>
    </p:bg>
    <p:spTree>
      <p:nvGrpSpPr>
        <p:cNvPr id="1" name=""/>
        <p:cNvGrpSpPr/>
        <p:nvPr/>
      </p:nvGrpSpPr>
      <p:grpSpPr>
        <a:xfrm>
          <a:off x="0" y="0"/>
          <a:ext cx="0" cy="0"/>
          <a:chOff x="0" y="0"/>
          <a:chExt cx="0" cy="0"/>
        </a:xfrm>
      </p:grpSpPr>
      <p:sp>
        <p:nvSpPr>
          <p:cNvPr id="2" name="Shape 0"/>
          <p:cNvSpPr/>
          <p:nvPr/>
        </p:nvSpPr>
        <p:spPr>
          <a:xfrm>
            <a:off x="6858000" y="2743200"/>
            <a:ext cx="3657600" cy="3657600"/>
          </a:xfrm>
          <a:prstGeom prst="ellipse">
            <a:avLst/>
          </a:prstGeom>
          <a:solidFill>
            <a:srgbClr val="028090">
              <a:alpha val="6000"/>
            </a:srgbClr>
          </a:solidFill>
          <a:ln w="12700">
            <a:solidFill>
              <a:srgbClr val="028090"/>
            </a:solidFill>
            <a:prstDash val="solid"/>
          </a:ln>
        </p:spPr>
        <p:txBody>
          <a:bodyPr/>
          <a:lstStyle/>
          <a:p>
            <a:endParaRPr lang="en-US"/>
          </a:p>
        </p:txBody>
      </p:sp>
      <p:sp>
        <p:nvSpPr>
          <p:cNvPr id="3" name="Text 1"/>
          <p:cNvSpPr/>
          <p:nvPr/>
        </p:nvSpPr>
        <p:spPr>
          <a:xfrm>
            <a:off x="457200" y="228600"/>
            <a:ext cx="5486400" cy="228600"/>
          </a:xfrm>
          <a:prstGeom prst="rect">
            <a:avLst/>
          </a:prstGeom>
          <a:noFill/>
          <a:ln/>
        </p:spPr>
        <p:txBody>
          <a:bodyPr wrap="square" lIns="0" tIns="0" rIns="0" bIns="0" rtlCol="0" anchor="ctr"/>
          <a:lstStyle/>
          <a:p>
            <a:pPr marL="0" indent="0" algn="l">
              <a:buNone/>
            </a:pPr>
            <a:r>
              <a:rPr lang="en-US" sz="900" b="1" kern="0" spc="400" dirty="0">
                <a:solidFill>
                  <a:srgbClr val="028090"/>
                </a:solidFill>
                <a:latin typeface="Calibri" pitchFamily="34" charset="0"/>
                <a:ea typeface="Calibri" pitchFamily="34" charset="-122"/>
                <a:cs typeface="Calibri" pitchFamily="34" charset="-120"/>
              </a:rPr>
              <a:t>TECHNOLOGY</a:t>
            </a:r>
            <a:endParaRPr lang="en-US" sz="900" dirty="0"/>
          </a:p>
        </p:txBody>
      </p:sp>
      <p:sp>
        <p:nvSpPr>
          <p:cNvPr id="4" name="Text 2"/>
          <p:cNvSpPr/>
          <p:nvPr/>
        </p:nvSpPr>
        <p:spPr>
          <a:xfrm>
            <a:off x="457200" y="457200"/>
            <a:ext cx="8229600" cy="457200"/>
          </a:xfrm>
          <a:prstGeom prst="rect">
            <a:avLst/>
          </a:prstGeom>
          <a:noFill/>
          <a:ln/>
        </p:spPr>
        <p:txBody>
          <a:bodyPr wrap="square" lIns="0" tIns="0" rIns="0" bIns="0" rtlCol="0" anchor="ctr"/>
          <a:lstStyle/>
          <a:p>
            <a:pPr marL="0" indent="0" algn="l">
              <a:buNone/>
            </a:pPr>
            <a:r>
              <a:rPr lang="en-US" sz="2600" b="1" dirty="0">
                <a:solidFill>
                  <a:srgbClr val="028090"/>
                </a:solidFill>
                <a:latin typeface="Cambria" pitchFamily="34" charset="0"/>
                <a:ea typeface="Cambria" pitchFamily="34" charset="-122"/>
                <a:cs typeface="Cambria" pitchFamily="34" charset="-120"/>
              </a:rPr>
              <a:t>Proven Stack for AI and SaaS Scale</a:t>
            </a:r>
            <a:endParaRPr lang="en-US" sz="2600" dirty="0"/>
          </a:p>
        </p:txBody>
      </p:sp>
      <p:sp>
        <p:nvSpPr>
          <p:cNvPr id="5" name="Text 3"/>
          <p:cNvSpPr/>
          <p:nvPr/>
        </p:nvSpPr>
        <p:spPr>
          <a:xfrm>
            <a:off x="457200" y="914400"/>
            <a:ext cx="8229600" cy="256032"/>
          </a:xfrm>
          <a:prstGeom prst="rect">
            <a:avLst/>
          </a:prstGeom>
          <a:noFill/>
          <a:ln/>
        </p:spPr>
        <p:txBody>
          <a:bodyPr wrap="square" lIns="0" tIns="0" rIns="0" bIns="0" rtlCol="0" anchor="ctr"/>
          <a:lstStyle/>
          <a:p>
            <a:pPr marL="0" indent="0" algn="l">
              <a:buNone/>
            </a:pPr>
            <a:r>
              <a:rPr lang="en-US" sz="1200" i="1" dirty="0">
                <a:solidFill>
                  <a:srgbClr val="00A896"/>
                </a:solidFill>
                <a:latin typeface="Calibri" pitchFamily="34" charset="0"/>
                <a:ea typeface="Calibri" pitchFamily="34" charset="-122"/>
                <a:cs typeface="Calibri" pitchFamily="34" charset="-120"/>
              </a:rPr>
              <a:t>Tools we use to accelerate Autodesk’s ML platforms, cloud, and quality.</a:t>
            </a:r>
            <a:endParaRPr lang="en-US" sz="1200" dirty="0"/>
          </a:p>
        </p:txBody>
      </p:sp>
      <p:sp>
        <p:nvSpPr>
          <p:cNvPr id="6" name="Shape 4"/>
          <p:cNvSpPr/>
          <p:nvPr/>
        </p:nvSpPr>
        <p:spPr>
          <a:xfrm>
            <a:off x="457200" y="1261872"/>
            <a:ext cx="2633472" cy="1449324"/>
          </a:xfrm>
          <a:prstGeom prst="rect">
            <a:avLst/>
          </a:prstGeom>
          <a:solidFill>
            <a:srgbClr val="E6F7F8"/>
          </a:solidFill>
          <a:ln w="12700">
            <a:solidFill>
              <a:srgbClr val="E6F7F8"/>
            </a:solidFill>
            <a:prstDash val="solid"/>
          </a:ln>
          <a:effectLst>
            <a:outerShdw blurRad="127000" dist="38100" dir="2700000" algn="bl" rotWithShape="0">
              <a:srgbClr val="000000">
                <a:alpha val="5000"/>
              </a:srgbClr>
            </a:outerShdw>
          </a:effectLst>
        </p:spPr>
        <p:txBody>
          <a:bodyPr/>
          <a:lstStyle/>
          <a:p>
            <a:endParaRPr lang="en-US"/>
          </a:p>
        </p:txBody>
      </p:sp>
      <p:sp>
        <p:nvSpPr>
          <p:cNvPr id="7" name="Shape 5"/>
          <p:cNvSpPr/>
          <p:nvPr/>
        </p:nvSpPr>
        <p:spPr>
          <a:xfrm>
            <a:off x="457200" y="1261872"/>
            <a:ext cx="2633472" cy="45720"/>
          </a:xfrm>
          <a:prstGeom prst="rect">
            <a:avLst/>
          </a:prstGeom>
          <a:solidFill>
            <a:srgbClr val="028090"/>
          </a:solidFill>
          <a:ln w="12700">
            <a:solidFill>
              <a:srgbClr val="028090"/>
            </a:solidFill>
            <a:prstDash val="solid"/>
          </a:ln>
        </p:spPr>
        <p:txBody>
          <a:bodyPr/>
          <a:lstStyle/>
          <a:p>
            <a:endParaRPr lang="en-US"/>
          </a:p>
        </p:txBody>
      </p:sp>
      <p:sp>
        <p:nvSpPr>
          <p:cNvPr id="8" name="Shape 6"/>
          <p:cNvSpPr/>
          <p:nvPr/>
        </p:nvSpPr>
        <p:spPr>
          <a:xfrm>
            <a:off x="1636776" y="1371600"/>
            <a:ext cx="274320" cy="274320"/>
          </a:xfrm>
          <a:prstGeom prst="ellipse">
            <a:avLst/>
          </a:prstGeom>
          <a:solidFill>
            <a:srgbClr val="028090"/>
          </a:solidFill>
          <a:ln w="12700">
            <a:solidFill>
              <a:srgbClr val="028090"/>
            </a:solidFill>
            <a:prstDash val="solid"/>
          </a:ln>
        </p:spPr>
        <p:txBody>
          <a:bodyPr/>
          <a:lstStyle/>
          <a:p>
            <a:endParaRPr lang="en-US"/>
          </a:p>
        </p:txBody>
      </p:sp>
      <p:pic>
        <p:nvPicPr>
          <p:cNvPr id="9" name="Image 0" descr="preencoded.png"/>
          <p:cNvPicPr>
            <a:picLocks noChangeAspect="1"/>
          </p:cNvPicPr>
          <p:nvPr/>
        </p:nvPicPr>
        <p:blipFill>
          <a:blip/>
          <a:stretch>
            <a:fillRect/>
          </a:stretch>
        </p:blipFill>
        <p:spPr>
          <a:xfrm>
            <a:off x="1664208" y="1399032"/>
            <a:ext cx="219456" cy="219456"/>
          </a:xfrm>
          <a:prstGeom prst="rect">
            <a:avLst/>
          </a:prstGeom>
        </p:spPr>
      </p:pic>
      <p:sp>
        <p:nvSpPr>
          <p:cNvPr id="10" name="Text 7"/>
          <p:cNvSpPr/>
          <p:nvPr/>
        </p:nvSpPr>
        <p:spPr>
          <a:xfrm>
            <a:off x="530352" y="1673352"/>
            <a:ext cx="2487168" cy="256032"/>
          </a:xfrm>
          <a:prstGeom prst="rect">
            <a:avLst/>
          </a:prstGeom>
          <a:noFill/>
          <a:ln/>
        </p:spPr>
        <p:txBody>
          <a:bodyPr wrap="square" lIns="0" tIns="0" rIns="0" bIns="0" rtlCol="0" anchor="ctr"/>
          <a:lstStyle/>
          <a:p>
            <a:pPr marL="0" indent="0" algn="ctr">
              <a:buNone/>
            </a:pPr>
            <a:r>
              <a:rPr lang="en-US" sz="1000" b="1" dirty="0">
                <a:solidFill>
                  <a:srgbClr val="028090"/>
                </a:solidFill>
                <a:latin typeface="Calibri" pitchFamily="34" charset="0"/>
                <a:ea typeface="Calibri" pitchFamily="34" charset="-122"/>
                <a:cs typeface="Calibri" pitchFamily="34" charset="-120"/>
              </a:rPr>
              <a:t>Kubernetes</a:t>
            </a:r>
            <a:endParaRPr lang="en-US" sz="1000" dirty="0"/>
          </a:p>
        </p:txBody>
      </p:sp>
      <p:sp>
        <p:nvSpPr>
          <p:cNvPr id="11" name="Text 8"/>
          <p:cNvSpPr/>
          <p:nvPr/>
        </p:nvSpPr>
        <p:spPr>
          <a:xfrm>
            <a:off x="530352" y="1920240"/>
            <a:ext cx="2487168" cy="672084"/>
          </a:xfrm>
          <a:prstGeom prst="rect">
            <a:avLst/>
          </a:prstGeom>
          <a:noFill/>
          <a:ln/>
        </p:spPr>
        <p:txBody>
          <a:bodyPr wrap="square" lIns="0" tIns="0" rIns="0" bIns="0" rtlCol="0" anchor="t"/>
          <a:lstStyle/>
          <a:p>
            <a:pPr marL="0" indent="0" algn="ctr">
              <a:buNone/>
            </a:pPr>
            <a:r>
              <a:rPr lang="en-US" sz="900" dirty="0">
                <a:solidFill>
                  <a:srgbClr val="1F4E52"/>
                </a:solidFill>
                <a:latin typeface="Calibri" pitchFamily="34" charset="0"/>
                <a:ea typeface="Calibri" pitchFamily="34" charset="-122"/>
                <a:cs typeface="Calibri" pitchFamily="34" charset="-120"/>
              </a:rPr>
              <a:t>Multi-cluster autoscaling, service mesh, and GPU scheduling for resilient SaaS.</a:t>
            </a:r>
            <a:endParaRPr lang="en-US" sz="900" dirty="0"/>
          </a:p>
        </p:txBody>
      </p:sp>
      <p:sp>
        <p:nvSpPr>
          <p:cNvPr id="12" name="Shape 9"/>
          <p:cNvSpPr/>
          <p:nvPr/>
        </p:nvSpPr>
        <p:spPr>
          <a:xfrm>
            <a:off x="3255264" y="1261872"/>
            <a:ext cx="2633472" cy="1449324"/>
          </a:xfrm>
          <a:prstGeom prst="rect">
            <a:avLst/>
          </a:prstGeom>
          <a:solidFill>
            <a:srgbClr val="E6F7F8"/>
          </a:solidFill>
          <a:ln w="12700">
            <a:solidFill>
              <a:srgbClr val="E6F7F8"/>
            </a:solidFill>
            <a:prstDash val="solid"/>
          </a:ln>
          <a:effectLst>
            <a:outerShdw blurRad="127000" dist="38100" dir="2700000" algn="bl" rotWithShape="0">
              <a:srgbClr val="000000">
                <a:alpha val="5000"/>
              </a:srgbClr>
            </a:outerShdw>
          </a:effectLst>
        </p:spPr>
        <p:txBody>
          <a:bodyPr/>
          <a:lstStyle/>
          <a:p>
            <a:endParaRPr lang="en-US"/>
          </a:p>
        </p:txBody>
      </p:sp>
      <p:sp>
        <p:nvSpPr>
          <p:cNvPr id="13" name="Shape 10"/>
          <p:cNvSpPr/>
          <p:nvPr/>
        </p:nvSpPr>
        <p:spPr>
          <a:xfrm>
            <a:off x="3255264" y="1261872"/>
            <a:ext cx="2633472" cy="45720"/>
          </a:xfrm>
          <a:prstGeom prst="rect">
            <a:avLst/>
          </a:prstGeom>
          <a:solidFill>
            <a:srgbClr val="028090"/>
          </a:solidFill>
          <a:ln w="12700">
            <a:solidFill>
              <a:srgbClr val="028090"/>
            </a:solidFill>
            <a:prstDash val="solid"/>
          </a:ln>
        </p:spPr>
        <p:txBody>
          <a:bodyPr/>
          <a:lstStyle/>
          <a:p>
            <a:endParaRPr lang="en-US"/>
          </a:p>
        </p:txBody>
      </p:sp>
      <p:sp>
        <p:nvSpPr>
          <p:cNvPr id="14" name="Shape 11"/>
          <p:cNvSpPr/>
          <p:nvPr/>
        </p:nvSpPr>
        <p:spPr>
          <a:xfrm>
            <a:off x="4434840" y="1371600"/>
            <a:ext cx="274320" cy="274320"/>
          </a:xfrm>
          <a:prstGeom prst="ellipse">
            <a:avLst/>
          </a:prstGeom>
          <a:solidFill>
            <a:srgbClr val="028090"/>
          </a:solidFill>
          <a:ln w="12700">
            <a:solidFill>
              <a:srgbClr val="028090"/>
            </a:solidFill>
            <a:prstDash val="solid"/>
          </a:ln>
        </p:spPr>
        <p:txBody>
          <a:bodyPr/>
          <a:lstStyle/>
          <a:p>
            <a:endParaRPr lang="en-US"/>
          </a:p>
        </p:txBody>
      </p:sp>
      <p:pic>
        <p:nvPicPr>
          <p:cNvPr id="15" name="Image 1" descr="preencoded.png"/>
          <p:cNvPicPr>
            <a:picLocks noChangeAspect="1"/>
          </p:cNvPicPr>
          <p:nvPr/>
        </p:nvPicPr>
        <p:blipFill>
          <a:blip/>
          <a:stretch>
            <a:fillRect/>
          </a:stretch>
        </p:blipFill>
        <p:spPr>
          <a:xfrm>
            <a:off x="4462272" y="1399032"/>
            <a:ext cx="219456" cy="219456"/>
          </a:xfrm>
          <a:prstGeom prst="rect">
            <a:avLst/>
          </a:prstGeom>
        </p:spPr>
      </p:pic>
      <p:sp>
        <p:nvSpPr>
          <p:cNvPr id="16" name="Text 12"/>
          <p:cNvSpPr/>
          <p:nvPr/>
        </p:nvSpPr>
        <p:spPr>
          <a:xfrm>
            <a:off x="3328416" y="1673352"/>
            <a:ext cx="2487168" cy="256032"/>
          </a:xfrm>
          <a:prstGeom prst="rect">
            <a:avLst/>
          </a:prstGeom>
          <a:noFill/>
          <a:ln/>
        </p:spPr>
        <p:txBody>
          <a:bodyPr wrap="square" lIns="0" tIns="0" rIns="0" bIns="0" rtlCol="0" anchor="ctr"/>
          <a:lstStyle/>
          <a:p>
            <a:pPr marL="0" indent="0" algn="ctr">
              <a:buNone/>
            </a:pPr>
            <a:r>
              <a:rPr lang="en-US" sz="1000" b="1" dirty="0">
                <a:solidFill>
                  <a:srgbClr val="028090"/>
                </a:solidFill>
                <a:latin typeface="Calibri" pitchFamily="34" charset="0"/>
                <a:ea typeface="Calibri" pitchFamily="34" charset="-122"/>
                <a:cs typeface="Calibri" pitchFamily="34" charset="-120"/>
              </a:rPr>
              <a:t>MLOps Platforms</a:t>
            </a:r>
            <a:endParaRPr lang="en-US" sz="1000" dirty="0"/>
          </a:p>
        </p:txBody>
      </p:sp>
      <p:sp>
        <p:nvSpPr>
          <p:cNvPr id="17" name="Text 13"/>
          <p:cNvSpPr/>
          <p:nvPr/>
        </p:nvSpPr>
        <p:spPr>
          <a:xfrm>
            <a:off x="3328416" y="1920240"/>
            <a:ext cx="2487168" cy="672084"/>
          </a:xfrm>
          <a:prstGeom prst="rect">
            <a:avLst/>
          </a:prstGeom>
          <a:noFill/>
          <a:ln/>
        </p:spPr>
        <p:txBody>
          <a:bodyPr wrap="square" lIns="0" tIns="0" rIns="0" bIns="0" rtlCol="0" anchor="t"/>
          <a:lstStyle/>
          <a:p>
            <a:pPr marL="0" indent="0" algn="ctr">
              <a:buNone/>
            </a:pPr>
            <a:r>
              <a:rPr lang="en-US" sz="900" dirty="0">
                <a:solidFill>
                  <a:srgbClr val="1F4E52"/>
                </a:solidFill>
                <a:latin typeface="Calibri" pitchFamily="34" charset="0"/>
                <a:ea typeface="Calibri" pitchFamily="34" charset="-122"/>
                <a:cs typeface="Calibri" pitchFamily="34" charset="-120"/>
              </a:rPr>
              <a:t>Kubeflow, MLflow, SageMaker pipelines, registry, and experiments at scale.</a:t>
            </a:r>
            <a:endParaRPr lang="en-US" sz="900" dirty="0"/>
          </a:p>
        </p:txBody>
      </p:sp>
      <p:sp>
        <p:nvSpPr>
          <p:cNvPr id="18" name="Shape 14"/>
          <p:cNvSpPr/>
          <p:nvPr/>
        </p:nvSpPr>
        <p:spPr>
          <a:xfrm>
            <a:off x="6053328" y="1261872"/>
            <a:ext cx="2633472" cy="1449324"/>
          </a:xfrm>
          <a:prstGeom prst="rect">
            <a:avLst/>
          </a:prstGeom>
          <a:solidFill>
            <a:srgbClr val="E6F7F8"/>
          </a:solidFill>
          <a:ln w="12700">
            <a:solidFill>
              <a:srgbClr val="E6F7F8"/>
            </a:solidFill>
            <a:prstDash val="solid"/>
          </a:ln>
          <a:effectLst>
            <a:outerShdw blurRad="127000" dist="38100" dir="2700000" algn="bl" rotWithShape="0">
              <a:srgbClr val="000000">
                <a:alpha val="5000"/>
              </a:srgbClr>
            </a:outerShdw>
          </a:effectLst>
        </p:spPr>
        <p:txBody>
          <a:bodyPr/>
          <a:lstStyle/>
          <a:p>
            <a:endParaRPr lang="en-US"/>
          </a:p>
        </p:txBody>
      </p:sp>
      <p:sp>
        <p:nvSpPr>
          <p:cNvPr id="19" name="Shape 15"/>
          <p:cNvSpPr/>
          <p:nvPr/>
        </p:nvSpPr>
        <p:spPr>
          <a:xfrm>
            <a:off x="6053328" y="1261872"/>
            <a:ext cx="2633472" cy="45720"/>
          </a:xfrm>
          <a:prstGeom prst="rect">
            <a:avLst/>
          </a:prstGeom>
          <a:solidFill>
            <a:srgbClr val="028090"/>
          </a:solidFill>
          <a:ln w="12700">
            <a:solidFill>
              <a:srgbClr val="028090"/>
            </a:solidFill>
            <a:prstDash val="solid"/>
          </a:ln>
        </p:spPr>
        <p:txBody>
          <a:bodyPr/>
          <a:lstStyle/>
          <a:p>
            <a:endParaRPr lang="en-US"/>
          </a:p>
        </p:txBody>
      </p:sp>
      <p:sp>
        <p:nvSpPr>
          <p:cNvPr id="20" name="Shape 16"/>
          <p:cNvSpPr/>
          <p:nvPr/>
        </p:nvSpPr>
        <p:spPr>
          <a:xfrm>
            <a:off x="7232904" y="1371600"/>
            <a:ext cx="274320" cy="274320"/>
          </a:xfrm>
          <a:prstGeom prst="ellipse">
            <a:avLst/>
          </a:prstGeom>
          <a:solidFill>
            <a:srgbClr val="028090"/>
          </a:solidFill>
          <a:ln w="12700">
            <a:solidFill>
              <a:srgbClr val="028090"/>
            </a:solidFill>
            <a:prstDash val="solid"/>
          </a:ln>
        </p:spPr>
        <p:txBody>
          <a:bodyPr/>
          <a:lstStyle/>
          <a:p>
            <a:endParaRPr lang="en-US"/>
          </a:p>
        </p:txBody>
      </p:sp>
      <p:pic>
        <p:nvPicPr>
          <p:cNvPr id="21" name="Image 2" descr="preencoded.png"/>
          <p:cNvPicPr>
            <a:picLocks noChangeAspect="1"/>
          </p:cNvPicPr>
          <p:nvPr/>
        </p:nvPicPr>
        <p:blipFill>
          <a:blip/>
          <a:stretch>
            <a:fillRect/>
          </a:stretch>
        </p:blipFill>
        <p:spPr>
          <a:xfrm>
            <a:off x="7260336" y="1399032"/>
            <a:ext cx="219456" cy="219456"/>
          </a:xfrm>
          <a:prstGeom prst="rect">
            <a:avLst/>
          </a:prstGeom>
        </p:spPr>
      </p:pic>
      <p:sp>
        <p:nvSpPr>
          <p:cNvPr id="22" name="Text 17"/>
          <p:cNvSpPr/>
          <p:nvPr/>
        </p:nvSpPr>
        <p:spPr>
          <a:xfrm>
            <a:off x="6126480" y="1673352"/>
            <a:ext cx="2487168" cy="256032"/>
          </a:xfrm>
          <a:prstGeom prst="rect">
            <a:avLst/>
          </a:prstGeom>
          <a:noFill/>
          <a:ln/>
        </p:spPr>
        <p:txBody>
          <a:bodyPr wrap="square" lIns="0" tIns="0" rIns="0" bIns="0" rtlCol="0" anchor="ctr"/>
          <a:lstStyle/>
          <a:p>
            <a:pPr marL="0" indent="0" algn="ctr">
              <a:buNone/>
            </a:pPr>
            <a:r>
              <a:rPr lang="en-US" sz="1000" b="1" dirty="0">
                <a:solidFill>
                  <a:srgbClr val="028090"/>
                </a:solidFill>
                <a:latin typeface="Calibri" pitchFamily="34" charset="0"/>
                <a:ea typeface="Calibri" pitchFamily="34" charset="-122"/>
                <a:cs typeface="Calibri" pitchFamily="34" charset="-120"/>
              </a:rPr>
              <a:t>Distributed Compute</a:t>
            </a:r>
            <a:endParaRPr lang="en-US" sz="1000" dirty="0"/>
          </a:p>
        </p:txBody>
      </p:sp>
      <p:sp>
        <p:nvSpPr>
          <p:cNvPr id="23" name="Text 18"/>
          <p:cNvSpPr/>
          <p:nvPr/>
        </p:nvSpPr>
        <p:spPr>
          <a:xfrm>
            <a:off x="6126480" y="1920240"/>
            <a:ext cx="2487168" cy="672084"/>
          </a:xfrm>
          <a:prstGeom prst="rect">
            <a:avLst/>
          </a:prstGeom>
          <a:noFill/>
          <a:ln/>
        </p:spPr>
        <p:txBody>
          <a:bodyPr wrap="square" lIns="0" tIns="0" rIns="0" bIns="0" rtlCol="0" anchor="t"/>
          <a:lstStyle/>
          <a:p>
            <a:pPr marL="0" indent="0" algn="ctr">
              <a:buNone/>
            </a:pPr>
            <a:r>
              <a:rPr lang="en-US" sz="900" dirty="0">
                <a:solidFill>
                  <a:srgbClr val="1F4E52"/>
                </a:solidFill>
                <a:latin typeface="Calibri" pitchFamily="34" charset="0"/>
                <a:ea typeface="Calibri" pitchFamily="34" charset="-122"/>
                <a:cs typeface="Calibri" pitchFamily="34" charset="-120"/>
              </a:rPr>
              <a:t>Spark, Presto, Hive for batch, SQL lakes, and large ETL.</a:t>
            </a:r>
            <a:endParaRPr lang="en-US" sz="900" dirty="0"/>
          </a:p>
        </p:txBody>
      </p:sp>
      <p:sp>
        <p:nvSpPr>
          <p:cNvPr id="24" name="Shape 19"/>
          <p:cNvSpPr/>
          <p:nvPr/>
        </p:nvSpPr>
        <p:spPr>
          <a:xfrm>
            <a:off x="457200" y="2848356"/>
            <a:ext cx="2633472" cy="1449324"/>
          </a:xfrm>
          <a:prstGeom prst="rect">
            <a:avLst/>
          </a:prstGeom>
          <a:solidFill>
            <a:srgbClr val="E6F7F8"/>
          </a:solidFill>
          <a:ln w="12700">
            <a:solidFill>
              <a:srgbClr val="E6F7F8"/>
            </a:solidFill>
            <a:prstDash val="solid"/>
          </a:ln>
          <a:effectLst>
            <a:outerShdw blurRad="127000" dist="38100" dir="2700000" algn="bl" rotWithShape="0">
              <a:srgbClr val="000000">
                <a:alpha val="5000"/>
              </a:srgbClr>
            </a:outerShdw>
          </a:effectLst>
        </p:spPr>
        <p:txBody>
          <a:bodyPr/>
          <a:lstStyle/>
          <a:p>
            <a:endParaRPr lang="en-US"/>
          </a:p>
        </p:txBody>
      </p:sp>
      <p:sp>
        <p:nvSpPr>
          <p:cNvPr id="25" name="Shape 20"/>
          <p:cNvSpPr/>
          <p:nvPr/>
        </p:nvSpPr>
        <p:spPr>
          <a:xfrm>
            <a:off x="457200" y="2848356"/>
            <a:ext cx="2633472" cy="45720"/>
          </a:xfrm>
          <a:prstGeom prst="rect">
            <a:avLst/>
          </a:prstGeom>
          <a:solidFill>
            <a:srgbClr val="028090"/>
          </a:solidFill>
          <a:ln w="12700">
            <a:solidFill>
              <a:srgbClr val="028090"/>
            </a:solidFill>
            <a:prstDash val="solid"/>
          </a:ln>
        </p:spPr>
        <p:txBody>
          <a:bodyPr/>
          <a:lstStyle/>
          <a:p>
            <a:endParaRPr lang="en-US"/>
          </a:p>
        </p:txBody>
      </p:sp>
      <p:sp>
        <p:nvSpPr>
          <p:cNvPr id="26" name="Shape 21"/>
          <p:cNvSpPr/>
          <p:nvPr/>
        </p:nvSpPr>
        <p:spPr>
          <a:xfrm>
            <a:off x="1636776" y="2958084"/>
            <a:ext cx="274320" cy="274320"/>
          </a:xfrm>
          <a:prstGeom prst="ellipse">
            <a:avLst/>
          </a:prstGeom>
          <a:solidFill>
            <a:srgbClr val="028090"/>
          </a:solidFill>
          <a:ln w="12700">
            <a:solidFill>
              <a:srgbClr val="028090"/>
            </a:solidFill>
            <a:prstDash val="solid"/>
          </a:ln>
        </p:spPr>
        <p:txBody>
          <a:bodyPr/>
          <a:lstStyle/>
          <a:p>
            <a:endParaRPr lang="en-US"/>
          </a:p>
        </p:txBody>
      </p:sp>
      <p:pic>
        <p:nvPicPr>
          <p:cNvPr id="27" name="Image 3" descr="preencoded.png"/>
          <p:cNvPicPr>
            <a:picLocks noChangeAspect="1"/>
          </p:cNvPicPr>
          <p:nvPr/>
        </p:nvPicPr>
        <p:blipFill>
          <a:blip/>
          <a:stretch>
            <a:fillRect/>
          </a:stretch>
        </p:blipFill>
        <p:spPr>
          <a:xfrm>
            <a:off x="1664208" y="2985516"/>
            <a:ext cx="219456" cy="219456"/>
          </a:xfrm>
          <a:prstGeom prst="rect">
            <a:avLst/>
          </a:prstGeom>
        </p:spPr>
      </p:pic>
      <p:sp>
        <p:nvSpPr>
          <p:cNvPr id="28" name="Text 22"/>
          <p:cNvSpPr/>
          <p:nvPr/>
        </p:nvSpPr>
        <p:spPr>
          <a:xfrm>
            <a:off x="530352" y="3259836"/>
            <a:ext cx="2487168" cy="256032"/>
          </a:xfrm>
          <a:prstGeom prst="rect">
            <a:avLst/>
          </a:prstGeom>
          <a:noFill/>
          <a:ln/>
        </p:spPr>
        <p:txBody>
          <a:bodyPr wrap="square" lIns="0" tIns="0" rIns="0" bIns="0" rtlCol="0" anchor="ctr"/>
          <a:lstStyle/>
          <a:p>
            <a:pPr marL="0" indent="0" algn="ctr">
              <a:buNone/>
            </a:pPr>
            <a:r>
              <a:rPr lang="en-US" sz="1000" b="1" dirty="0">
                <a:solidFill>
                  <a:srgbClr val="028090"/>
                </a:solidFill>
                <a:latin typeface="Calibri" pitchFamily="34" charset="0"/>
                <a:ea typeface="Calibri" pitchFamily="34" charset="-122"/>
                <a:cs typeface="Calibri" pitchFamily="34" charset="-120"/>
              </a:rPr>
              <a:t>Databricks</a:t>
            </a:r>
            <a:endParaRPr lang="en-US" sz="1000" dirty="0"/>
          </a:p>
        </p:txBody>
      </p:sp>
      <p:sp>
        <p:nvSpPr>
          <p:cNvPr id="29" name="Text 23"/>
          <p:cNvSpPr/>
          <p:nvPr/>
        </p:nvSpPr>
        <p:spPr>
          <a:xfrm>
            <a:off x="530352" y="3506724"/>
            <a:ext cx="2487168" cy="672084"/>
          </a:xfrm>
          <a:prstGeom prst="rect">
            <a:avLst/>
          </a:prstGeom>
          <a:noFill/>
          <a:ln/>
        </p:spPr>
        <p:txBody>
          <a:bodyPr wrap="square" lIns="0" tIns="0" rIns="0" bIns="0" rtlCol="0" anchor="t"/>
          <a:lstStyle/>
          <a:p>
            <a:pPr marL="0" indent="0" algn="ctr">
              <a:buNone/>
            </a:pPr>
            <a:r>
              <a:rPr lang="en-US" sz="900" dirty="0">
                <a:solidFill>
                  <a:srgbClr val="1F4E52"/>
                </a:solidFill>
                <a:latin typeface="Calibri" pitchFamily="34" charset="0"/>
                <a:ea typeface="Calibri" pitchFamily="34" charset="-122"/>
                <a:cs typeface="Calibri" pitchFamily="34" charset="-120"/>
              </a:rPr>
              <a:t>Delta Lake, Unity Catalog, ML runtimes, job orchestration, governance.</a:t>
            </a:r>
            <a:endParaRPr lang="en-US" sz="900" dirty="0"/>
          </a:p>
        </p:txBody>
      </p:sp>
      <p:sp>
        <p:nvSpPr>
          <p:cNvPr id="30" name="Shape 24"/>
          <p:cNvSpPr/>
          <p:nvPr/>
        </p:nvSpPr>
        <p:spPr>
          <a:xfrm>
            <a:off x="3255264" y="2848356"/>
            <a:ext cx="2633472" cy="1449324"/>
          </a:xfrm>
          <a:prstGeom prst="rect">
            <a:avLst/>
          </a:prstGeom>
          <a:solidFill>
            <a:srgbClr val="E6F7F8"/>
          </a:solidFill>
          <a:ln w="12700">
            <a:solidFill>
              <a:srgbClr val="E6F7F8"/>
            </a:solidFill>
            <a:prstDash val="solid"/>
          </a:ln>
          <a:effectLst>
            <a:outerShdw blurRad="127000" dist="38100" dir="2700000" algn="bl" rotWithShape="0">
              <a:srgbClr val="000000">
                <a:alpha val="5000"/>
              </a:srgbClr>
            </a:outerShdw>
          </a:effectLst>
        </p:spPr>
        <p:txBody>
          <a:bodyPr/>
          <a:lstStyle/>
          <a:p>
            <a:endParaRPr lang="en-US"/>
          </a:p>
        </p:txBody>
      </p:sp>
      <p:sp>
        <p:nvSpPr>
          <p:cNvPr id="31" name="Shape 25"/>
          <p:cNvSpPr/>
          <p:nvPr/>
        </p:nvSpPr>
        <p:spPr>
          <a:xfrm>
            <a:off x="3255264" y="2848356"/>
            <a:ext cx="2633472" cy="45720"/>
          </a:xfrm>
          <a:prstGeom prst="rect">
            <a:avLst/>
          </a:prstGeom>
          <a:solidFill>
            <a:srgbClr val="028090"/>
          </a:solidFill>
          <a:ln w="12700">
            <a:solidFill>
              <a:srgbClr val="028090"/>
            </a:solidFill>
            <a:prstDash val="solid"/>
          </a:ln>
        </p:spPr>
        <p:txBody>
          <a:bodyPr/>
          <a:lstStyle/>
          <a:p>
            <a:endParaRPr lang="en-US"/>
          </a:p>
        </p:txBody>
      </p:sp>
      <p:sp>
        <p:nvSpPr>
          <p:cNvPr id="32" name="Shape 26"/>
          <p:cNvSpPr/>
          <p:nvPr/>
        </p:nvSpPr>
        <p:spPr>
          <a:xfrm>
            <a:off x="4434840" y="2958084"/>
            <a:ext cx="274320" cy="274320"/>
          </a:xfrm>
          <a:prstGeom prst="ellipse">
            <a:avLst/>
          </a:prstGeom>
          <a:solidFill>
            <a:srgbClr val="028090"/>
          </a:solidFill>
          <a:ln w="12700">
            <a:solidFill>
              <a:srgbClr val="028090"/>
            </a:solidFill>
            <a:prstDash val="solid"/>
          </a:ln>
        </p:spPr>
        <p:txBody>
          <a:bodyPr/>
          <a:lstStyle/>
          <a:p>
            <a:endParaRPr lang="en-US"/>
          </a:p>
        </p:txBody>
      </p:sp>
      <p:pic>
        <p:nvPicPr>
          <p:cNvPr id="33" name="Image 4" descr="preencoded.png"/>
          <p:cNvPicPr>
            <a:picLocks noChangeAspect="1"/>
          </p:cNvPicPr>
          <p:nvPr/>
        </p:nvPicPr>
        <p:blipFill>
          <a:blip/>
          <a:stretch>
            <a:fillRect/>
          </a:stretch>
        </p:blipFill>
        <p:spPr>
          <a:xfrm>
            <a:off x="4462272" y="2985516"/>
            <a:ext cx="219456" cy="219456"/>
          </a:xfrm>
          <a:prstGeom prst="rect">
            <a:avLst/>
          </a:prstGeom>
        </p:spPr>
      </p:pic>
      <p:sp>
        <p:nvSpPr>
          <p:cNvPr id="34" name="Text 27"/>
          <p:cNvSpPr/>
          <p:nvPr/>
        </p:nvSpPr>
        <p:spPr>
          <a:xfrm>
            <a:off x="3328416" y="3259836"/>
            <a:ext cx="2487168" cy="256032"/>
          </a:xfrm>
          <a:prstGeom prst="rect">
            <a:avLst/>
          </a:prstGeom>
          <a:noFill/>
          <a:ln/>
        </p:spPr>
        <p:txBody>
          <a:bodyPr wrap="square" lIns="0" tIns="0" rIns="0" bIns="0" rtlCol="0" anchor="ctr"/>
          <a:lstStyle/>
          <a:p>
            <a:pPr marL="0" indent="0" algn="ctr">
              <a:buNone/>
            </a:pPr>
            <a:r>
              <a:rPr lang="en-US" sz="1000" b="1" dirty="0">
                <a:solidFill>
                  <a:srgbClr val="028090"/>
                </a:solidFill>
                <a:latin typeface="Calibri" pitchFamily="34" charset="0"/>
                <a:ea typeface="Calibri" pitchFamily="34" charset="-122"/>
                <a:cs typeface="Calibri" pitchFamily="34" charset="-120"/>
              </a:rPr>
              <a:t>Orchestration</a:t>
            </a:r>
            <a:endParaRPr lang="en-US" sz="1000" dirty="0"/>
          </a:p>
        </p:txBody>
      </p:sp>
      <p:sp>
        <p:nvSpPr>
          <p:cNvPr id="35" name="Text 28"/>
          <p:cNvSpPr/>
          <p:nvPr/>
        </p:nvSpPr>
        <p:spPr>
          <a:xfrm>
            <a:off x="3328416" y="3506724"/>
            <a:ext cx="2487168" cy="672084"/>
          </a:xfrm>
          <a:prstGeom prst="rect">
            <a:avLst/>
          </a:prstGeom>
          <a:noFill/>
          <a:ln/>
        </p:spPr>
        <p:txBody>
          <a:bodyPr wrap="square" lIns="0" tIns="0" rIns="0" bIns="0" rtlCol="0" anchor="t"/>
          <a:lstStyle/>
          <a:p>
            <a:pPr marL="0" indent="0" algn="ctr">
              <a:buNone/>
            </a:pPr>
            <a:r>
              <a:rPr lang="en-US" sz="900" dirty="0">
                <a:solidFill>
                  <a:srgbClr val="1F4E52"/>
                </a:solidFill>
                <a:latin typeface="Calibri" pitchFamily="34" charset="0"/>
                <a:ea typeface="Calibri" pitchFamily="34" charset="-122"/>
                <a:cs typeface="Calibri" pitchFamily="34" charset="-120"/>
              </a:rPr>
              <a:t>Airflow DAGs for batch/stream pipelines with SLAs and lineage.</a:t>
            </a:r>
            <a:endParaRPr lang="en-US" sz="900" dirty="0"/>
          </a:p>
        </p:txBody>
      </p:sp>
      <p:sp>
        <p:nvSpPr>
          <p:cNvPr id="36" name="Text 29"/>
          <p:cNvSpPr/>
          <p:nvPr/>
        </p:nvSpPr>
        <p:spPr>
          <a:xfrm>
            <a:off x="8412480" y="4526280"/>
            <a:ext cx="548640" cy="182880"/>
          </a:xfrm>
          <a:prstGeom prst="rect">
            <a:avLst/>
          </a:prstGeom>
          <a:noFill/>
          <a:ln/>
        </p:spPr>
        <p:txBody>
          <a:bodyPr wrap="square" rtlCol="0" anchor="ctr"/>
          <a:lstStyle/>
          <a:p>
            <a:pPr marL="0" indent="0" algn="r">
              <a:buNone/>
            </a:pPr>
            <a:r>
              <a:rPr lang="en-US" sz="900" dirty="0">
                <a:solidFill>
                  <a:srgbClr val="00A896"/>
                </a:solidFill>
                <a:latin typeface="Calibri" pitchFamily="34" charset="0"/>
                <a:ea typeface="Calibri" pitchFamily="34" charset="-122"/>
                <a:cs typeface="Calibri" pitchFamily="34" charset="-120"/>
              </a:rPr>
              <a:t>9 / 16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AFA"/>
        </a:solidFill>
        <a:effectLst/>
      </p:bgPr>
    </p:bg>
    <p:spTree>
      <p:nvGrpSpPr>
        <p:cNvPr id="1" name=""/>
        <p:cNvGrpSpPr/>
        <p:nvPr/>
      </p:nvGrpSpPr>
      <p:grpSpPr>
        <a:xfrm>
          <a:off x="0" y="0"/>
          <a:ext cx="0" cy="0"/>
          <a:chOff x="0" y="0"/>
          <a:chExt cx="0" cy="0"/>
        </a:xfrm>
      </p:grpSpPr>
      <p:sp>
        <p:nvSpPr>
          <p:cNvPr id="2" name="Shape 0"/>
          <p:cNvSpPr/>
          <p:nvPr/>
        </p:nvSpPr>
        <p:spPr>
          <a:xfrm>
            <a:off x="6858000" y="2743200"/>
            <a:ext cx="3657600" cy="3657600"/>
          </a:xfrm>
          <a:prstGeom prst="ellipse">
            <a:avLst/>
          </a:prstGeom>
          <a:solidFill>
            <a:srgbClr val="028090">
              <a:alpha val="6000"/>
            </a:srgbClr>
          </a:solidFill>
          <a:ln w="12700">
            <a:solidFill>
              <a:srgbClr val="028090"/>
            </a:solidFill>
            <a:prstDash val="solid"/>
          </a:ln>
        </p:spPr>
        <p:txBody>
          <a:bodyPr/>
          <a:lstStyle/>
          <a:p>
            <a:endParaRPr lang="en-US"/>
          </a:p>
        </p:txBody>
      </p:sp>
      <p:sp>
        <p:nvSpPr>
          <p:cNvPr id="3" name="Text 1"/>
          <p:cNvSpPr/>
          <p:nvPr/>
        </p:nvSpPr>
        <p:spPr>
          <a:xfrm>
            <a:off x="457200" y="228600"/>
            <a:ext cx="5486400" cy="228600"/>
          </a:xfrm>
          <a:prstGeom prst="rect">
            <a:avLst/>
          </a:prstGeom>
          <a:noFill/>
          <a:ln/>
        </p:spPr>
        <p:txBody>
          <a:bodyPr wrap="square" lIns="0" tIns="0" rIns="0" bIns="0" rtlCol="0" anchor="ctr"/>
          <a:lstStyle/>
          <a:p>
            <a:pPr marL="0" indent="0" algn="l">
              <a:buNone/>
            </a:pPr>
            <a:r>
              <a:rPr lang="en-US" sz="900" b="1" kern="0" spc="400" dirty="0">
                <a:solidFill>
                  <a:srgbClr val="028090"/>
                </a:solidFill>
                <a:latin typeface="Calibri" pitchFamily="34" charset="0"/>
                <a:ea typeface="Calibri" pitchFamily="34" charset="-122"/>
                <a:cs typeface="Calibri" pitchFamily="34" charset="-120"/>
              </a:rPr>
              <a:t>COMPARISON</a:t>
            </a:r>
            <a:endParaRPr lang="en-US" sz="900" dirty="0"/>
          </a:p>
        </p:txBody>
      </p:sp>
      <p:sp>
        <p:nvSpPr>
          <p:cNvPr id="4" name="Text 2"/>
          <p:cNvSpPr/>
          <p:nvPr/>
        </p:nvSpPr>
        <p:spPr>
          <a:xfrm>
            <a:off x="457200" y="457200"/>
            <a:ext cx="8229600" cy="502920"/>
          </a:xfrm>
          <a:prstGeom prst="rect">
            <a:avLst/>
          </a:prstGeom>
          <a:noFill/>
          <a:ln/>
        </p:spPr>
        <p:txBody>
          <a:bodyPr wrap="square" lIns="0" tIns="0" rIns="0" bIns="0" rtlCol="0" anchor="ctr"/>
          <a:lstStyle/>
          <a:p>
            <a:pPr marL="0" indent="0" algn="l">
              <a:buNone/>
            </a:pPr>
            <a:r>
              <a:rPr lang="en-US" sz="2800" b="1" dirty="0">
                <a:solidFill>
                  <a:srgbClr val="028090"/>
                </a:solidFill>
                <a:latin typeface="Cambria" pitchFamily="34" charset="0"/>
                <a:ea typeface="Cambria" pitchFamily="34" charset="-122"/>
                <a:cs typeface="Cambria" pitchFamily="34" charset="-120"/>
              </a:rPr>
              <a:t>Today vs Target Operating Model</a:t>
            </a:r>
            <a:endParaRPr lang="en-US" sz="2800" dirty="0"/>
          </a:p>
        </p:txBody>
      </p:sp>
      <p:sp>
        <p:nvSpPr>
          <p:cNvPr id="5" name="Shape 3"/>
          <p:cNvSpPr/>
          <p:nvPr/>
        </p:nvSpPr>
        <p:spPr>
          <a:xfrm>
            <a:off x="457200" y="1188720"/>
            <a:ext cx="3749040" cy="475488"/>
          </a:xfrm>
          <a:prstGeom prst="rect">
            <a:avLst/>
          </a:prstGeom>
          <a:solidFill>
            <a:srgbClr val="00A896"/>
          </a:solidFill>
          <a:ln w="12700">
            <a:solidFill>
              <a:srgbClr val="00A896"/>
            </a:solidFill>
            <a:prstDash val="solid"/>
          </a:ln>
        </p:spPr>
        <p:txBody>
          <a:bodyPr/>
          <a:lstStyle/>
          <a:p>
            <a:endParaRPr lang="en-US"/>
          </a:p>
        </p:txBody>
      </p:sp>
      <p:sp>
        <p:nvSpPr>
          <p:cNvPr id="6" name="Text 4"/>
          <p:cNvSpPr/>
          <p:nvPr/>
        </p:nvSpPr>
        <p:spPr>
          <a:xfrm>
            <a:off x="457200" y="1188720"/>
            <a:ext cx="3749040"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Current Situation</a:t>
            </a:r>
            <a:endParaRPr lang="en-US" sz="1300" dirty="0"/>
          </a:p>
        </p:txBody>
      </p:sp>
      <p:sp>
        <p:nvSpPr>
          <p:cNvPr id="7" name="Shape 5"/>
          <p:cNvSpPr/>
          <p:nvPr/>
        </p:nvSpPr>
        <p:spPr>
          <a:xfrm>
            <a:off x="457200" y="1737360"/>
            <a:ext cx="3749040" cy="2560320"/>
          </a:xfrm>
          <a:prstGeom prst="rect">
            <a:avLst/>
          </a:prstGeom>
          <a:solidFill>
            <a:srgbClr val="E6F7F8"/>
          </a:solidFill>
          <a:ln w="12700">
            <a:solidFill>
              <a:srgbClr val="E6F7F8"/>
            </a:solidFill>
            <a:prstDash val="solid"/>
          </a:ln>
          <a:effectLst>
            <a:outerShdw blurRad="127000" dist="38100" dir="2700000" algn="bl" rotWithShape="0">
              <a:srgbClr val="000000">
                <a:alpha val="6000"/>
              </a:srgbClr>
            </a:outerShdw>
          </a:effectLst>
        </p:spPr>
        <p:txBody>
          <a:bodyPr/>
          <a:lstStyle/>
          <a:p>
            <a:endParaRPr lang="en-US"/>
          </a:p>
        </p:txBody>
      </p:sp>
      <p:sp>
        <p:nvSpPr>
          <p:cNvPr id="8" name="Text 6"/>
          <p:cNvSpPr/>
          <p:nvPr/>
        </p:nvSpPr>
        <p:spPr>
          <a:xfrm>
            <a:off x="640080" y="1828800"/>
            <a:ext cx="3383280" cy="2377440"/>
          </a:xfrm>
          <a:prstGeom prst="rect">
            <a:avLst/>
          </a:prstGeom>
          <a:noFill/>
          <a:ln/>
        </p:spPr>
        <p:txBody>
          <a:bodyPr wrap="square" rtlCol="0" anchor="t"/>
          <a:lstStyle/>
          <a:p>
            <a:pPr marL="342900" indent="-342900">
              <a:spcAft>
                <a:spcPts val="800"/>
              </a:spcAft>
              <a:buSzPct val="100000"/>
              <a:buChar char="•"/>
            </a:pPr>
            <a:r>
              <a:rPr lang="en-US" sz="1400" dirty="0">
                <a:solidFill>
                  <a:srgbClr val="1F4E52"/>
                </a:solidFill>
                <a:latin typeface="Calibri" pitchFamily="34" charset="0"/>
                <a:ea typeface="Calibri" pitchFamily="34" charset="-122"/>
                <a:cs typeface="Calibri" pitchFamily="34" charset="-120"/>
              </a:rPr>
              <a:t>Today: manual model ops, siloed infra, minimal cross-format testing.</a:t>
            </a:r>
            <a:endParaRPr lang="en-US" sz="1400" dirty="0"/>
          </a:p>
          <a:p>
            <a:pPr marL="342900" indent="-342900">
              <a:spcAft>
                <a:spcPts val="800"/>
              </a:spcAft>
              <a:buSzPct val="100000"/>
              <a:buChar char="•"/>
            </a:pPr>
            <a:r>
              <a:rPr lang="en-US" sz="1400" dirty="0">
                <a:solidFill>
                  <a:srgbClr val="1F4E52"/>
                </a:solidFill>
                <a:latin typeface="Calibri" pitchFamily="34" charset="0"/>
                <a:ea typeface="Calibri" pitchFamily="34" charset="-122"/>
                <a:cs typeface="Calibri" pitchFamily="34" charset="-120"/>
              </a:rPr>
              <a:t>Target: automated MLOps pipelines, K8s data platform, comprehensive CAD/3D QE.</a:t>
            </a:r>
            <a:endParaRPr lang="en-US" sz="1400" dirty="0"/>
          </a:p>
        </p:txBody>
      </p:sp>
      <p:sp>
        <p:nvSpPr>
          <p:cNvPr id="9" name="Shape 7"/>
          <p:cNvSpPr/>
          <p:nvPr/>
        </p:nvSpPr>
        <p:spPr>
          <a:xfrm>
            <a:off x="4937760" y="1188720"/>
            <a:ext cx="3749040" cy="475488"/>
          </a:xfrm>
          <a:prstGeom prst="rect">
            <a:avLst/>
          </a:prstGeom>
          <a:solidFill>
            <a:srgbClr val="028090"/>
          </a:solidFill>
          <a:ln w="12700">
            <a:solidFill>
              <a:srgbClr val="028090"/>
            </a:solidFill>
            <a:prstDash val="solid"/>
          </a:ln>
        </p:spPr>
        <p:txBody>
          <a:bodyPr/>
          <a:lstStyle/>
          <a:p>
            <a:endParaRPr lang="en-US"/>
          </a:p>
        </p:txBody>
      </p:sp>
      <p:sp>
        <p:nvSpPr>
          <p:cNvPr id="10" name="Text 8"/>
          <p:cNvSpPr/>
          <p:nvPr/>
        </p:nvSpPr>
        <p:spPr>
          <a:xfrm>
            <a:off x="4937760" y="1188720"/>
            <a:ext cx="3749040"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With Our Solution</a:t>
            </a:r>
            <a:endParaRPr lang="en-US" sz="1300" dirty="0"/>
          </a:p>
        </p:txBody>
      </p:sp>
      <p:sp>
        <p:nvSpPr>
          <p:cNvPr id="11" name="Shape 9"/>
          <p:cNvSpPr/>
          <p:nvPr/>
        </p:nvSpPr>
        <p:spPr>
          <a:xfrm>
            <a:off x="4937760" y="1737360"/>
            <a:ext cx="3749040" cy="2560320"/>
          </a:xfrm>
          <a:prstGeom prst="rect">
            <a:avLst/>
          </a:prstGeom>
          <a:solidFill>
            <a:srgbClr val="E6F7F8"/>
          </a:solidFill>
          <a:ln w="12700">
            <a:solidFill>
              <a:srgbClr val="E6F7F8"/>
            </a:solidFill>
            <a:prstDash val="solid"/>
          </a:ln>
          <a:effectLst>
            <a:outerShdw blurRad="127000" dist="38100" dir="2700000" algn="bl" rotWithShape="0">
              <a:srgbClr val="000000">
                <a:alpha val="6000"/>
              </a:srgbClr>
            </a:outerShdw>
          </a:effectLst>
        </p:spPr>
        <p:txBody>
          <a:bodyPr/>
          <a:lstStyle/>
          <a:p>
            <a:endParaRPr lang="en-US"/>
          </a:p>
        </p:txBody>
      </p:sp>
      <p:sp>
        <p:nvSpPr>
          <p:cNvPr id="12" name="Text 10"/>
          <p:cNvSpPr/>
          <p:nvPr/>
        </p:nvSpPr>
        <p:spPr>
          <a:xfrm>
            <a:off x="5120640" y="1828800"/>
            <a:ext cx="3383280" cy="2377440"/>
          </a:xfrm>
          <a:prstGeom prst="rect">
            <a:avLst/>
          </a:prstGeom>
          <a:noFill/>
          <a:ln/>
        </p:spPr>
        <p:txBody>
          <a:bodyPr wrap="square" rtlCol="0" anchor="t"/>
          <a:lstStyle/>
          <a:p>
            <a:pPr marL="342900" indent="-342900">
              <a:spcAft>
                <a:spcPts val="800"/>
              </a:spcAft>
              <a:buSzPct val="100000"/>
              <a:buChar char="•"/>
            </a:pPr>
            <a:r>
              <a:rPr lang="en-US" sz="1400" dirty="0">
                <a:solidFill>
                  <a:srgbClr val="1F4E52"/>
                </a:solidFill>
                <a:latin typeface="Calibri" pitchFamily="34" charset="0"/>
                <a:ea typeface="Calibri" pitchFamily="34" charset="-122"/>
                <a:cs typeface="Calibri" pitchFamily="34" charset="-120"/>
              </a:rPr>
              <a:t>Target: performance gates, interoperability checks, continuous regression automation.</a:t>
            </a:r>
            <a:endParaRPr lang="en-US" sz="1400" dirty="0"/>
          </a:p>
          <a:p>
            <a:pPr marL="342900" indent="-342900">
              <a:spcAft>
                <a:spcPts val="800"/>
              </a:spcAft>
              <a:buSzPct val="100000"/>
              <a:buChar char="•"/>
            </a:pPr>
            <a:r>
              <a:rPr lang="en-US" sz="1400" dirty="0">
                <a:solidFill>
                  <a:srgbClr val="1F4E52"/>
                </a:solidFill>
                <a:latin typeface="Calibri" pitchFamily="34" charset="0"/>
                <a:ea typeface="Calibri" pitchFamily="34" charset="-122"/>
                <a:cs typeface="Calibri" pitchFamily="34" charset="-120"/>
              </a:rPr>
              <a:t>Outcomes: faster releases, higher reliability, scalable AI across SaaS.</a:t>
            </a:r>
            <a:endParaRPr lang="en-US" sz="1400" dirty="0"/>
          </a:p>
        </p:txBody>
      </p:sp>
      <p:sp>
        <p:nvSpPr>
          <p:cNvPr id="13" name="Text 11"/>
          <p:cNvSpPr/>
          <p:nvPr/>
        </p:nvSpPr>
        <p:spPr>
          <a:xfrm>
            <a:off x="8412480" y="4526280"/>
            <a:ext cx="548640" cy="182880"/>
          </a:xfrm>
          <a:prstGeom prst="rect">
            <a:avLst/>
          </a:prstGeom>
          <a:noFill/>
          <a:ln/>
        </p:spPr>
        <p:txBody>
          <a:bodyPr wrap="square" rtlCol="0" anchor="ctr"/>
          <a:lstStyle/>
          <a:p>
            <a:pPr marL="0" indent="0" algn="r">
              <a:buNone/>
            </a:pPr>
            <a:r>
              <a:rPr lang="en-US" sz="900" dirty="0">
                <a:solidFill>
                  <a:srgbClr val="00A896"/>
                </a:solidFill>
                <a:latin typeface="Calibri" pitchFamily="34" charset="0"/>
                <a:ea typeface="Calibri" pitchFamily="34" charset="-122"/>
                <a:cs typeface="Calibri" pitchFamily="34" charset="-120"/>
              </a:rPr>
              <a:t>10 / 16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AFA"/>
        </a:solidFill>
        <a:effectLst/>
      </p:bgPr>
    </p:bg>
    <p:spTree>
      <p:nvGrpSpPr>
        <p:cNvPr id="1" name=""/>
        <p:cNvGrpSpPr/>
        <p:nvPr/>
      </p:nvGrpSpPr>
      <p:grpSpPr>
        <a:xfrm>
          <a:off x="0" y="0"/>
          <a:ext cx="0" cy="0"/>
          <a:chOff x="0" y="0"/>
          <a:chExt cx="0" cy="0"/>
        </a:xfrm>
      </p:grpSpPr>
      <p:sp>
        <p:nvSpPr>
          <p:cNvPr id="2" name="Shape 0"/>
          <p:cNvSpPr/>
          <p:nvPr/>
        </p:nvSpPr>
        <p:spPr>
          <a:xfrm>
            <a:off x="6858000" y="2743200"/>
            <a:ext cx="3657600" cy="3657600"/>
          </a:xfrm>
          <a:prstGeom prst="ellipse">
            <a:avLst/>
          </a:prstGeom>
          <a:solidFill>
            <a:srgbClr val="028090">
              <a:alpha val="6000"/>
            </a:srgbClr>
          </a:solidFill>
          <a:ln w="12700">
            <a:solidFill>
              <a:srgbClr val="028090"/>
            </a:solidFill>
            <a:prstDash val="solid"/>
          </a:ln>
        </p:spPr>
        <p:txBody>
          <a:bodyPr/>
          <a:lstStyle/>
          <a:p>
            <a:endParaRPr lang="en-US"/>
          </a:p>
        </p:txBody>
      </p:sp>
      <p:sp>
        <p:nvSpPr>
          <p:cNvPr id="3" name="Text 1"/>
          <p:cNvSpPr/>
          <p:nvPr/>
        </p:nvSpPr>
        <p:spPr>
          <a:xfrm>
            <a:off x="457200" y="228600"/>
            <a:ext cx="5486400" cy="228600"/>
          </a:xfrm>
          <a:prstGeom prst="rect">
            <a:avLst/>
          </a:prstGeom>
          <a:noFill/>
          <a:ln/>
        </p:spPr>
        <p:txBody>
          <a:bodyPr wrap="square" lIns="0" tIns="0" rIns="0" bIns="0" rtlCol="0" anchor="ctr"/>
          <a:lstStyle/>
          <a:p>
            <a:pPr marL="0" indent="0" algn="l">
              <a:buNone/>
            </a:pPr>
            <a:r>
              <a:rPr lang="en-US" sz="900" b="1" kern="0" spc="400" dirty="0">
                <a:solidFill>
                  <a:srgbClr val="028090"/>
                </a:solidFill>
                <a:latin typeface="Calibri" pitchFamily="34" charset="0"/>
                <a:ea typeface="Calibri" pitchFamily="34" charset="-122"/>
                <a:cs typeface="Calibri" pitchFamily="34" charset="-120"/>
              </a:rPr>
              <a:t>CASE STUDY</a:t>
            </a:r>
            <a:endParaRPr lang="en-US" sz="900" dirty="0"/>
          </a:p>
        </p:txBody>
      </p:sp>
      <p:sp>
        <p:nvSpPr>
          <p:cNvPr id="4" name="Text 2"/>
          <p:cNvSpPr/>
          <p:nvPr/>
        </p:nvSpPr>
        <p:spPr>
          <a:xfrm>
            <a:off x="457200" y="457200"/>
            <a:ext cx="8229600" cy="502920"/>
          </a:xfrm>
          <a:prstGeom prst="rect">
            <a:avLst/>
          </a:prstGeom>
          <a:noFill/>
          <a:ln/>
        </p:spPr>
        <p:txBody>
          <a:bodyPr wrap="square" lIns="0" tIns="0" rIns="0" bIns="0" rtlCol="0" anchor="ctr"/>
          <a:lstStyle/>
          <a:p>
            <a:pPr marL="0" indent="0" algn="l">
              <a:buNone/>
            </a:pPr>
            <a:r>
              <a:rPr lang="en-US" sz="2800" b="1" dirty="0">
                <a:solidFill>
                  <a:srgbClr val="028090"/>
                </a:solidFill>
                <a:latin typeface="Cambria" pitchFamily="34" charset="0"/>
                <a:ea typeface="Cambria" pitchFamily="34" charset="-122"/>
                <a:cs typeface="Cambria" pitchFamily="34" charset="-120"/>
              </a:rPr>
              <a:t>Tata Motors QA Acceleration, Autodesk-Ready</a:t>
            </a:r>
            <a:endParaRPr lang="en-US" sz="2800" dirty="0"/>
          </a:p>
        </p:txBody>
      </p:sp>
      <p:sp>
        <p:nvSpPr>
          <p:cNvPr id="5" name="Shape 3"/>
          <p:cNvSpPr/>
          <p:nvPr/>
        </p:nvSpPr>
        <p:spPr>
          <a:xfrm>
            <a:off x="457200" y="1188720"/>
            <a:ext cx="8229600" cy="1417320"/>
          </a:xfrm>
          <a:prstGeom prst="rect">
            <a:avLst/>
          </a:prstGeom>
          <a:solidFill>
            <a:srgbClr val="E6F7F8"/>
          </a:solidFill>
          <a:ln w="12700">
            <a:solidFill>
              <a:srgbClr val="E6F7F8"/>
            </a:solidFill>
            <a:prstDash val="solid"/>
          </a:ln>
          <a:effectLst>
            <a:outerShdw blurRad="127000" dist="38100" dir="2700000" algn="bl" rotWithShape="0">
              <a:srgbClr val="000000">
                <a:alpha val="7000"/>
              </a:srgbClr>
            </a:outerShdw>
          </a:effectLst>
        </p:spPr>
        <p:txBody>
          <a:bodyPr/>
          <a:lstStyle/>
          <a:p>
            <a:endParaRPr lang="en-US"/>
          </a:p>
        </p:txBody>
      </p:sp>
      <p:sp>
        <p:nvSpPr>
          <p:cNvPr id="6" name="Shape 4"/>
          <p:cNvSpPr/>
          <p:nvPr/>
        </p:nvSpPr>
        <p:spPr>
          <a:xfrm>
            <a:off x="457200" y="1188720"/>
            <a:ext cx="8229600" cy="54864"/>
          </a:xfrm>
          <a:prstGeom prst="rect">
            <a:avLst/>
          </a:prstGeom>
          <a:solidFill>
            <a:srgbClr val="02C39A"/>
          </a:solidFill>
          <a:ln w="12700">
            <a:solidFill>
              <a:srgbClr val="02C39A"/>
            </a:solidFill>
            <a:prstDash val="solid"/>
          </a:ln>
        </p:spPr>
        <p:txBody>
          <a:bodyPr/>
          <a:lstStyle/>
          <a:p>
            <a:endParaRPr lang="en-US"/>
          </a:p>
        </p:txBody>
      </p:sp>
      <p:sp>
        <p:nvSpPr>
          <p:cNvPr id="7" name="Text 5"/>
          <p:cNvSpPr/>
          <p:nvPr/>
        </p:nvSpPr>
        <p:spPr>
          <a:xfrm>
            <a:off x="685800" y="1280160"/>
            <a:ext cx="7772400" cy="1234440"/>
          </a:xfrm>
          <a:prstGeom prst="rect">
            <a:avLst/>
          </a:prstGeom>
          <a:noFill/>
          <a:ln/>
        </p:spPr>
        <p:txBody>
          <a:bodyPr wrap="square" rtlCol="0" anchor="ctr"/>
          <a:lstStyle/>
          <a:p>
            <a:pPr marL="0" indent="0">
              <a:buNone/>
            </a:pPr>
            <a:r>
              <a:rPr lang="en-US" sz="1500" i="1" dirty="0">
                <a:solidFill>
                  <a:srgbClr val="028090"/>
                </a:solidFill>
                <a:latin typeface="Cambria" pitchFamily="34" charset="0"/>
                <a:ea typeface="Cambria" pitchFamily="34" charset="-122"/>
                <a:cs typeface="Cambria" pitchFamily="34" charset="-120"/>
              </a:rPr>
              <a:t>"Proven playbook across web, API, OBD—adaptable to Autodesk pipelines."</a:t>
            </a:r>
            <a:endParaRPr lang="en-US" sz="1500" dirty="0"/>
          </a:p>
        </p:txBody>
      </p:sp>
      <p:sp>
        <p:nvSpPr>
          <p:cNvPr id="8" name="Shape 6"/>
          <p:cNvSpPr/>
          <p:nvPr/>
        </p:nvSpPr>
        <p:spPr>
          <a:xfrm>
            <a:off x="457200" y="2697480"/>
            <a:ext cx="4023360" cy="804672"/>
          </a:xfrm>
          <a:prstGeom prst="rect">
            <a:avLst/>
          </a:prstGeom>
          <a:solidFill>
            <a:srgbClr val="E6F7F8"/>
          </a:solidFill>
          <a:ln w="12700">
            <a:solidFill>
              <a:srgbClr val="E6F7F8"/>
            </a:solidFill>
            <a:prstDash val="solid"/>
          </a:ln>
          <a:effectLst>
            <a:outerShdw blurRad="127000" dist="38100" dir="2700000" algn="bl" rotWithShape="0">
              <a:srgbClr val="000000">
                <a:alpha val="6000"/>
              </a:srgbClr>
            </a:outerShdw>
          </a:effectLst>
        </p:spPr>
        <p:txBody>
          <a:bodyPr/>
          <a:lstStyle/>
          <a:p>
            <a:endParaRPr lang="en-US"/>
          </a:p>
        </p:txBody>
      </p:sp>
      <p:sp>
        <p:nvSpPr>
          <p:cNvPr id="9" name="Shape 7"/>
          <p:cNvSpPr/>
          <p:nvPr/>
        </p:nvSpPr>
        <p:spPr>
          <a:xfrm>
            <a:off x="457200" y="2697480"/>
            <a:ext cx="54864" cy="804672"/>
          </a:xfrm>
          <a:prstGeom prst="rect">
            <a:avLst/>
          </a:prstGeom>
          <a:solidFill>
            <a:srgbClr val="028090"/>
          </a:solidFill>
          <a:ln w="12700">
            <a:solidFill>
              <a:srgbClr val="028090"/>
            </a:solidFill>
            <a:prstDash val="solid"/>
          </a:ln>
        </p:spPr>
        <p:txBody>
          <a:bodyPr/>
          <a:lstStyle/>
          <a:p>
            <a:endParaRPr lang="en-US"/>
          </a:p>
        </p:txBody>
      </p:sp>
      <p:pic>
        <p:nvPicPr>
          <p:cNvPr id="10" name="Image 0" descr="preencoded.png"/>
          <p:cNvPicPr>
            <a:picLocks noChangeAspect="1"/>
          </p:cNvPicPr>
          <p:nvPr/>
        </p:nvPicPr>
        <p:blipFill>
          <a:blip/>
          <a:stretch>
            <a:fillRect/>
          </a:stretch>
        </p:blipFill>
        <p:spPr>
          <a:xfrm>
            <a:off x="621792" y="2898648"/>
            <a:ext cx="329184" cy="329184"/>
          </a:xfrm>
          <a:prstGeom prst="rect">
            <a:avLst/>
          </a:prstGeom>
        </p:spPr>
      </p:pic>
      <p:sp>
        <p:nvSpPr>
          <p:cNvPr id="11" name="Text 8"/>
          <p:cNvSpPr/>
          <p:nvPr/>
        </p:nvSpPr>
        <p:spPr>
          <a:xfrm>
            <a:off x="1060704" y="2697480"/>
            <a:ext cx="3291840" cy="804672"/>
          </a:xfrm>
          <a:prstGeom prst="rect">
            <a:avLst/>
          </a:prstGeom>
          <a:noFill/>
          <a:ln/>
        </p:spPr>
        <p:txBody>
          <a:bodyPr wrap="square" lIns="0" tIns="0" rIns="0" bIns="0" rtlCol="0" anchor="ctr"/>
          <a:lstStyle/>
          <a:p>
            <a:pPr marL="0" indent="0">
              <a:buNone/>
            </a:pPr>
            <a:r>
              <a:rPr lang="en-US" sz="1300" dirty="0">
                <a:solidFill>
                  <a:srgbClr val="1F4E52"/>
                </a:solidFill>
                <a:latin typeface="Calibri" pitchFamily="34" charset="0"/>
                <a:ea typeface="Calibri" pitchFamily="34" charset="-122"/>
                <a:cs typeface="Calibri" pitchFamily="34" charset="-120"/>
              </a:rPr>
              <a:t>Regression cycle reduced from 3 days to 2.5 hours.</a:t>
            </a:r>
            <a:endParaRPr lang="en-US" sz="1300" dirty="0"/>
          </a:p>
        </p:txBody>
      </p:sp>
      <p:sp>
        <p:nvSpPr>
          <p:cNvPr id="12" name="Shape 9"/>
          <p:cNvSpPr/>
          <p:nvPr/>
        </p:nvSpPr>
        <p:spPr>
          <a:xfrm>
            <a:off x="4663440" y="2697480"/>
            <a:ext cx="4023360" cy="804672"/>
          </a:xfrm>
          <a:prstGeom prst="rect">
            <a:avLst/>
          </a:prstGeom>
          <a:solidFill>
            <a:srgbClr val="E6F7F8"/>
          </a:solidFill>
          <a:ln w="12700">
            <a:solidFill>
              <a:srgbClr val="E6F7F8"/>
            </a:solidFill>
            <a:prstDash val="solid"/>
          </a:ln>
          <a:effectLst>
            <a:outerShdw blurRad="127000" dist="38100" dir="2700000" algn="bl" rotWithShape="0">
              <a:srgbClr val="000000">
                <a:alpha val="6000"/>
              </a:srgbClr>
            </a:outerShdw>
          </a:effectLst>
        </p:spPr>
        <p:txBody>
          <a:bodyPr/>
          <a:lstStyle/>
          <a:p>
            <a:endParaRPr lang="en-US"/>
          </a:p>
        </p:txBody>
      </p:sp>
      <p:sp>
        <p:nvSpPr>
          <p:cNvPr id="13" name="Shape 10"/>
          <p:cNvSpPr/>
          <p:nvPr/>
        </p:nvSpPr>
        <p:spPr>
          <a:xfrm>
            <a:off x="4663440" y="2697480"/>
            <a:ext cx="54864" cy="804672"/>
          </a:xfrm>
          <a:prstGeom prst="rect">
            <a:avLst/>
          </a:prstGeom>
          <a:solidFill>
            <a:srgbClr val="028090"/>
          </a:solidFill>
          <a:ln w="12700">
            <a:solidFill>
              <a:srgbClr val="028090"/>
            </a:solidFill>
            <a:prstDash val="solid"/>
          </a:ln>
        </p:spPr>
        <p:txBody>
          <a:bodyPr/>
          <a:lstStyle/>
          <a:p>
            <a:endParaRPr lang="en-US"/>
          </a:p>
        </p:txBody>
      </p:sp>
      <p:pic>
        <p:nvPicPr>
          <p:cNvPr id="14" name="Image 1" descr="preencoded.png"/>
          <p:cNvPicPr>
            <a:picLocks noChangeAspect="1"/>
          </p:cNvPicPr>
          <p:nvPr/>
        </p:nvPicPr>
        <p:blipFill>
          <a:blip/>
          <a:stretch>
            <a:fillRect/>
          </a:stretch>
        </p:blipFill>
        <p:spPr>
          <a:xfrm>
            <a:off x="4828032" y="2898648"/>
            <a:ext cx="329184" cy="329184"/>
          </a:xfrm>
          <a:prstGeom prst="rect">
            <a:avLst/>
          </a:prstGeom>
        </p:spPr>
      </p:pic>
      <p:sp>
        <p:nvSpPr>
          <p:cNvPr id="15" name="Text 11"/>
          <p:cNvSpPr/>
          <p:nvPr/>
        </p:nvSpPr>
        <p:spPr>
          <a:xfrm>
            <a:off x="5266944" y="2697480"/>
            <a:ext cx="3291840" cy="804672"/>
          </a:xfrm>
          <a:prstGeom prst="rect">
            <a:avLst/>
          </a:prstGeom>
          <a:noFill/>
          <a:ln/>
        </p:spPr>
        <p:txBody>
          <a:bodyPr wrap="square" lIns="0" tIns="0" rIns="0" bIns="0" rtlCol="0" anchor="ctr"/>
          <a:lstStyle/>
          <a:p>
            <a:pPr marL="0" indent="0">
              <a:buNone/>
            </a:pPr>
            <a:r>
              <a:rPr lang="en-US" sz="1300" dirty="0">
                <a:solidFill>
                  <a:srgbClr val="1F4E52"/>
                </a:solidFill>
                <a:latin typeface="Calibri" pitchFamily="34" charset="0"/>
                <a:ea typeface="Calibri" pitchFamily="34" charset="-122"/>
                <a:cs typeface="Calibri" pitchFamily="34" charset="-120"/>
              </a:rPr>
              <a:t>Defect escape rate driven down to 0.3%.</a:t>
            </a:r>
            <a:endParaRPr lang="en-US" sz="1300" dirty="0"/>
          </a:p>
        </p:txBody>
      </p:sp>
      <p:sp>
        <p:nvSpPr>
          <p:cNvPr id="16" name="Shape 12"/>
          <p:cNvSpPr/>
          <p:nvPr/>
        </p:nvSpPr>
        <p:spPr>
          <a:xfrm>
            <a:off x="457200" y="3593592"/>
            <a:ext cx="4023360" cy="804672"/>
          </a:xfrm>
          <a:prstGeom prst="rect">
            <a:avLst/>
          </a:prstGeom>
          <a:solidFill>
            <a:srgbClr val="E6F7F8"/>
          </a:solidFill>
          <a:ln w="12700">
            <a:solidFill>
              <a:srgbClr val="E6F7F8"/>
            </a:solidFill>
            <a:prstDash val="solid"/>
          </a:ln>
          <a:effectLst>
            <a:outerShdw blurRad="127000" dist="38100" dir="2700000" algn="bl" rotWithShape="0">
              <a:srgbClr val="000000">
                <a:alpha val="6000"/>
              </a:srgbClr>
            </a:outerShdw>
          </a:effectLst>
        </p:spPr>
        <p:txBody>
          <a:bodyPr/>
          <a:lstStyle/>
          <a:p>
            <a:endParaRPr lang="en-US"/>
          </a:p>
        </p:txBody>
      </p:sp>
      <p:sp>
        <p:nvSpPr>
          <p:cNvPr id="17" name="Shape 13"/>
          <p:cNvSpPr/>
          <p:nvPr/>
        </p:nvSpPr>
        <p:spPr>
          <a:xfrm>
            <a:off x="457200" y="3593592"/>
            <a:ext cx="54864" cy="804672"/>
          </a:xfrm>
          <a:prstGeom prst="rect">
            <a:avLst/>
          </a:prstGeom>
          <a:solidFill>
            <a:srgbClr val="028090"/>
          </a:solidFill>
          <a:ln w="12700">
            <a:solidFill>
              <a:srgbClr val="028090"/>
            </a:solidFill>
            <a:prstDash val="solid"/>
          </a:ln>
        </p:spPr>
        <p:txBody>
          <a:bodyPr/>
          <a:lstStyle/>
          <a:p>
            <a:endParaRPr lang="en-US"/>
          </a:p>
        </p:txBody>
      </p:sp>
      <p:pic>
        <p:nvPicPr>
          <p:cNvPr id="18" name="Image 2" descr="preencoded.png"/>
          <p:cNvPicPr>
            <a:picLocks noChangeAspect="1"/>
          </p:cNvPicPr>
          <p:nvPr/>
        </p:nvPicPr>
        <p:blipFill>
          <a:blip/>
          <a:stretch>
            <a:fillRect/>
          </a:stretch>
        </p:blipFill>
        <p:spPr>
          <a:xfrm>
            <a:off x="621792" y="3794760"/>
            <a:ext cx="329184" cy="329184"/>
          </a:xfrm>
          <a:prstGeom prst="rect">
            <a:avLst/>
          </a:prstGeom>
        </p:spPr>
      </p:pic>
      <p:sp>
        <p:nvSpPr>
          <p:cNvPr id="19" name="Text 14"/>
          <p:cNvSpPr/>
          <p:nvPr/>
        </p:nvSpPr>
        <p:spPr>
          <a:xfrm>
            <a:off x="1060704" y="3593592"/>
            <a:ext cx="3291840" cy="804672"/>
          </a:xfrm>
          <a:prstGeom prst="rect">
            <a:avLst/>
          </a:prstGeom>
          <a:noFill/>
          <a:ln/>
        </p:spPr>
        <p:txBody>
          <a:bodyPr wrap="square" lIns="0" tIns="0" rIns="0" bIns="0" rtlCol="0" anchor="ctr"/>
          <a:lstStyle/>
          <a:p>
            <a:pPr marL="0" indent="0">
              <a:buNone/>
            </a:pPr>
            <a:r>
              <a:rPr lang="en-US" sz="1300" dirty="0">
                <a:solidFill>
                  <a:srgbClr val="1F4E52"/>
                </a:solidFill>
                <a:latin typeface="Calibri" pitchFamily="34" charset="0"/>
                <a:ea typeface="Calibri" pitchFamily="34" charset="-122"/>
                <a:cs typeface="Calibri" pitchFamily="34" charset="-120"/>
              </a:rPr>
              <a:t>Full-stack QA across web, APIs, and vehicle OBD.</a:t>
            </a:r>
            <a:endParaRPr lang="en-US" sz="1300" dirty="0"/>
          </a:p>
        </p:txBody>
      </p:sp>
      <p:sp>
        <p:nvSpPr>
          <p:cNvPr id="20" name="Shape 15"/>
          <p:cNvSpPr/>
          <p:nvPr/>
        </p:nvSpPr>
        <p:spPr>
          <a:xfrm>
            <a:off x="4663440" y="3593592"/>
            <a:ext cx="4023360" cy="804672"/>
          </a:xfrm>
          <a:prstGeom prst="rect">
            <a:avLst/>
          </a:prstGeom>
          <a:solidFill>
            <a:srgbClr val="E6F7F8"/>
          </a:solidFill>
          <a:ln w="12700">
            <a:solidFill>
              <a:srgbClr val="E6F7F8"/>
            </a:solidFill>
            <a:prstDash val="solid"/>
          </a:ln>
          <a:effectLst>
            <a:outerShdw blurRad="127000" dist="38100" dir="2700000" algn="bl" rotWithShape="0">
              <a:srgbClr val="000000">
                <a:alpha val="6000"/>
              </a:srgbClr>
            </a:outerShdw>
          </a:effectLst>
        </p:spPr>
        <p:txBody>
          <a:bodyPr/>
          <a:lstStyle/>
          <a:p>
            <a:endParaRPr lang="en-US"/>
          </a:p>
        </p:txBody>
      </p:sp>
      <p:sp>
        <p:nvSpPr>
          <p:cNvPr id="21" name="Shape 16"/>
          <p:cNvSpPr/>
          <p:nvPr/>
        </p:nvSpPr>
        <p:spPr>
          <a:xfrm>
            <a:off x="4663440" y="3593592"/>
            <a:ext cx="54864" cy="804672"/>
          </a:xfrm>
          <a:prstGeom prst="rect">
            <a:avLst/>
          </a:prstGeom>
          <a:solidFill>
            <a:srgbClr val="028090"/>
          </a:solidFill>
          <a:ln w="12700">
            <a:solidFill>
              <a:srgbClr val="028090"/>
            </a:solidFill>
            <a:prstDash val="solid"/>
          </a:ln>
        </p:spPr>
        <p:txBody>
          <a:bodyPr/>
          <a:lstStyle/>
          <a:p>
            <a:endParaRPr lang="en-US"/>
          </a:p>
        </p:txBody>
      </p:sp>
      <p:pic>
        <p:nvPicPr>
          <p:cNvPr id="22" name="Image 3" descr="preencoded.png"/>
          <p:cNvPicPr>
            <a:picLocks noChangeAspect="1"/>
          </p:cNvPicPr>
          <p:nvPr/>
        </p:nvPicPr>
        <p:blipFill>
          <a:blip/>
          <a:stretch>
            <a:fillRect/>
          </a:stretch>
        </p:blipFill>
        <p:spPr>
          <a:xfrm>
            <a:off x="4828032" y="3794760"/>
            <a:ext cx="329184" cy="329184"/>
          </a:xfrm>
          <a:prstGeom prst="rect">
            <a:avLst/>
          </a:prstGeom>
        </p:spPr>
      </p:pic>
      <p:sp>
        <p:nvSpPr>
          <p:cNvPr id="23" name="Text 17"/>
          <p:cNvSpPr/>
          <p:nvPr/>
        </p:nvSpPr>
        <p:spPr>
          <a:xfrm>
            <a:off x="5266944" y="3593592"/>
            <a:ext cx="3291840" cy="804672"/>
          </a:xfrm>
          <a:prstGeom prst="rect">
            <a:avLst/>
          </a:prstGeom>
          <a:noFill/>
          <a:ln/>
        </p:spPr>
        <p:txBody>
          <a:bodyPr wrap="square" lIns="0" tIns="0" rIns="0" bIns="0" rtlCol="0" anchor="ctr"/>
          <a:lstStyle/>
          <a:p>
            <a:pPr marL="0" indent="0">
              <a:buNone/>
            </a:pPr>
            <a:r>
              <a:rPr lang="en-US" sz="1300" dirty="0">
                <a:solidFill>
                  <a:srgbClr val="1F4E52"/>
                </a:solidFill>
                <a:latin typeface="Calibri" pitchFamily="34" charset="0"/>
                <a:ea typeface="Calibri" pitchFamily="34" charset="-122"/>
                <a:cs typeface="Calibri" pitchFamily="34" charset="-120"/>
              </a:rPr>
              <a:t>Approach extends to MLOps, CI/CD, and Autodesk’s CAD interoperability.</a:t>
            </a:r>
            <a:endParaRPr lang="en-US" sz="1300" dirty="0"/>
          </a:p>
        </p:txBody>
      </p:sp>
      <p:sp>
        <p:nvSpPr>
          <p:cNvPr id="24" name="Text 18"/>
          <p:cNvSpPr/>
          <p:nvPr/>
        </p:nvSpPr>
        <p:spPr>
          <a:xfrm>
            <a:off x="8412480" y="4526280"/>
            <a:ext cx="548640" cy="182880"/>
          </a:xfrm>
          <a:prstGeom prst="rect">
            <a:avLst/>
          </a:prstGeom>
          <a:noFill/>
          <a:ln/>
        </p:spPr>
        <p:txBody>
          <a:bodyPr wrap="square" rtlCol="0" anchor="ctr"/>
          <a:lstStyle/>
          <a:p>
            <a:pPr marL="0" indent="0" algn="r">
              <a:buNone/>
            </a:pPr>
            <a:r>
              <a:rPr lang="en-US" sz="900" dirty="0">
                <a:solidFill>
                  <a:srgbClr val="00A896"/>
                </a:solidFill>
                <a:latin typeface="Calibri" pitchFamily="34" charset="0"/>
                <a:ea typeface="Calibri" pitchFamily="34" charset="-122"/>
                <a:cs typeface="Calibri" pitchFamily="34" charset="-120"/>
              </a:rPr>
              <a:t>11 / 16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AFA"/>
        </a:solidFill>
        <a:effectLst/>
      </p:bgPr>
    </p:bg>
    <p:spTree>
      <p:nvGrpSpPr>
        <p:cNvPr id="1" name=""/>
        <p:cNvGrpSpPr/>
        <p:nvPr/>
      </p:nvGrpSpPr>
      <p:grpSpPr>
        <a:xfrm>
          <a:off x="0" y="0"/>
          <a:ext cx="0" cy="0"/>
          <a:chOff x="0" y="0"/>
          <a:chExt cx="0" cy="0"/>
        </a:xfrm>
      </p:grpSpPr>
      <p:sp>
        <p:nvSpPr>
          <p:cNvPr id="2" name="Shape 0"/>
          <p:cNvSpPr/>
          <p:nvPr/>
        </p:nvSpPr>
        <p:spPr>
          <a:xfrm>
            <a:off x="6858000" y="2743200"/>
            <a:ext cx="3657600" cy="3657600"/>
          </a:xfrm>
          <a:prstGeom prst="ellipse">
            <a:avLst/>
          </a:prstGeom>
          <a:solidFill>
            <a:srgbClr val="028090">
              <a:alpha val="6000"/>
            </a:srgbClr>
          </a:solidFill>
          <a:ln w="12700">
            <a:solidFill>
              <a:srgbClr val="028090"/>
            </a:solidFill>
            <a:prstDash val="solid"/>
          </a:ln>
        </p:spPr>
        <p:txBody>
          <a:bodyPr/>
          <a:lstStyle/>
          <a:p>
            <a:endParaRPr lang="en-US"/>
          </a:p>
        </p:txBody>
      </p:sp>
      <p:sp>
        <p:nvSpPr>
          <p:cNvPr id="3" name="Text 1"/>
          <p:cNvSpPr/>
          <p:nvPr/>
        </p:nvSpPr>
        <p:spPr>
          <a:xfrm>
            <a:off x="457200" y="228600"/>
            <a:ext cx="5486400" cy="228600"/>
          </a:xfrm>
          <a:prstGeom prst="rect">
            <a:avLst/>
          </a:prstGeom>
          <a:noFill/>
          <a:ln/>
        </p:spPr>
        <p:txBody>
          <a:bodyPr wrap="square" lIns="0" tIns="0" rIns="0" bIns="0" rtlCol="0" anchor="ctr"/>
          <a:lstStyle/>
          <a:p>
            <a:pPr marL="0" indent="0" algn="l">
              <a:buNone/>
            </a:pPr>
            <a:r>
              <a:rPr lang="en-US" sz="900" b="1" kern="0" spc="400" dirty="0">
                <a:solidFill>
                  <a:srgbClr val="028090"/>
                </a:solidFill>
                <a:latin typeface="Calibri" pitchFamily="34" charset="0"/>
                <a:ea typeface="Calibri" pitchFamily="34" charset="-122"/>
                <a:cs typeface="Calibri" pitchFamily="34" charset="-120"/>
              </a:rPr>
              <a:t>ENGAGEMENT</a:t>
            </a:r>
            <a:endParaRPr lang="en-US" sz="900" dirty="0"/>
          </a:p>
        </p:txBody>
      </p:sp>
      <p:sp>
        <p:nvSpPr>
          <p:cNvPr id="4" name="Text 2"/>
          <p:cNvSpPr/>
          <p:nvPr/>
        </p:nvSpPr>
        <p:spPr>
          <a:xfrm>
            <a:off x="457200" y="457200"/>
            <a:ext cx="8229600" cy="502920"/>
          </a:xfrm>
          <a:prstGeom prst="rect">
            <a:avLst/>
          </a:prstGeom>
          <a:noFill/>
          <a:ln/>
        </p:spPr>
        <p:txBody>
          <a:bodyPr wrap="square" lIns="0" tIns="0" rIns="0" bIns="0" rtlCol="0" anchor="ctr"/>
          <a:lstStyle/>
          <a:p>
            <a:pPr marL="0" indent="0" algn="l">
              <a:buNone/>
            </a:pPr>
            <a:r>
              <a:rPr lang="en-US" sz="2800" b="1" dirty="0">
                <a:solidFill>
                  <a:srgbClr val="028090"/>
                </a:solidFill>
                <a:latin typeface="Cambria" pitchFamily="34" charset="0"/>
                <a:ea typeface="Cambria" pitchFamily="34" charset="-122"/>
                <a:cs typeface="Cambria" pitchFamily="34" charset="-120"/>
              </a:rPr>
              <a:t>Engagement Models to Accelerate Autodesk</a:t>
            </a:r>
            <a:endParaRPr lang="en-US" sz="2800" dirty="0"/>
          </a:p>
        </p:txBody>
      </p:sp>
      <p:sp>
        <p:nvSpPr>
          <p:cNvPr id="5" name="Text 3"/>
          <p:cNvSpPr/>
          <p:nvPr/>
        </p:nvSpPr>
        <p:spPr>
          <a:xfrm>
            <a:off x="457200" y="987552"/>
            <a:ext cx="8229600" cy="274320"/>
          </a:xfrm>
          <a:prstGeom prst="rect">
            <a:avLst/>
          </a:prstGeom>
          <a:noFill/>
          <a:ln/>
        </p:spPr>
        <p:txBody>
          <a:bodyPr wrap="square" lIns="0" tIns="0" rIns="0" bIns="0" rtlCol="0" anchor="ctr"/>
          <a:lstStyle/>
          <a:p>
            <a:pPr marL="0" indent="0" algn="l">
              <a:buNone/>
            </a:pPr>
            <a:r>
              <a:rPr lang="en-US" sz="1300" i="1" dirty="0">
                <a:solidFill>
                  <a:srgbClr val="00A896"/>
                </a:solidFill>
                <a:latin typeface="Calibri" pitchFamily="34" charset="0"/>
                <a:ea typeface="Calibri" pitchFamily="34" charset="-122"/>
                <a:cs typeface="Calibri" pitchFamily="34" charset="-120"/>
              </a:rPr>
              <a:t>Pick the approach that speeds AI/ML, cloud, and quality.</a:t>
            </a:r>
            <a:endParaRPr lang="en-US" sz="1300" dirty="0"/>
          </a:p>
        </p:txBody>
      </p:sp>
      <p:sp>
        <p:nvSpPr>
          <p:cNvPr id="6" name="Shape 4"/>
          <p:cNvSpPr/>
          <p:nvPr/>
        </p:nvSpPr>
        <p:spPr>
          <a:xfrm>
            <a:off x="457200" y="1371600"/>
            <a:ext cx="2606040" cy="457200"/>
          </a:xfrm>
          <a:prstGeom prst="rect">
            <a:avLst/>
          </a:prstGeom>
          <a:solidFill>
            <a:srgbClr val="00A896"/>
          </a:solidFill>
          <a:ln w="12700">
            <a:solidFill>
              <a:srgbClr val="00A896"/>
            </a:solidFill>
            <a:prstDash val="solid"/>
          </a:ln>
        </p:spPr>
        <p:txBody>
          <a:bodyPr/>
          <a:lstStyle/>
          <a:p>
            <a:endParaRPr lang="en-US"/>
          </a:p>
        </p:txBody>
      </p:sp>
      <p:sp>
        <p:nvSpPr>
          <p:cNvPr id="7" name="Text 5"/>
          <p:cNvSpPr/>
          <p:nvPr/>
        </p:nvSpPr>
        <p:spPr>
          <a:xfrm>
            <a:off x="457200" y="1371600"/>
            <a:ext cx="260604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Platform Acceleration Pod</a:t>
            </a:r>
            <a:endParaRPr lang="en-US" sz="1300" dirty="0"/>
          </a:p>
        </p:txBody>
      </p:sp>
      <p:sp>
        <p:nvSpPr>
          <p:cNvPr id="8" name="Shape 6"/>
          <p:cNvSpPr/>
          <p:nvPr/>
        </p:nvSpPr>
        <p:spPr>
          <a:xfrm>
            <a:off x="457200" y="1828800"/>
            <a:ext cx="2606040" cy="2834640"/>
          </a:xfrm>
          <a:prstGeom prst="rect">
            <a:avLst/>
          </a:prstGeom>
          <a:solidFill>
            <a:srgbClr val="E6F7F8"/>
          </a:solidFill>
          <a:ln w="12700">
            <a:solidFill>
              <a:srgbClr val="E6F7F8"/>
            </a:solidFill>
            <a:prstDash val="solid"/>
          </a:ln>
          <a:effectLst>
            <a:outerShdw blurRad="127000" dist="38100" dir="2700000" algn="bl" rotWithShape="0">
              <a:srgbClr val="000000">
                <a:alpha val="5000"/>
              </a:srgbClr>
            </a:outerShdw>
          </a:effectLst>
        </p:spPr>
        <p:txBody>
          <a:bodyPr/>
          <a:lstStyle/>
          <a:p>
            <a:endParaRPr lang="en-US"/>
          </a:p>
        </p:txBody>
      </p:sp>
      <p:sp>
        <p:nvSpPr>
          <p:cNvPr id="9" name="Text 7"/>
          <p:cNvSpPr/>
          <p:nvPr/>
        </p:nvSpPr>
        <p:spPr>
          <a:xfrm>
            <a:off x="566928" y="1920240"/>
            <a:ext cx="2386584" cy="2651760"/>
          </a:xfrm>
          <a:prstGeom prst="rect">
            <a:avLst/>
          </a:prstGeom>
          <a:noFill/>
          <a:ln/>
        </p:spPr>
        <p:txBody>
          <a:bodyPr wrap="square" rtlCol="0" anchor="t"/>
          <a:lstStyle/>
          <a:p>
            <a:pPr marL="342900" indent="-342900">
              <a:spcAft>
                <a:spcPts val="600"/>
              </a:spcAft>
              <a:buSzPct val="100000"/>
              <a:buChar char="•"/>
            </a:pPr>
            <a:r>
              <a:rPr lang="en-US" sz="1200" dirty="0">
                <a:solidFill>
                  <a:srgbClr val="1F4E52"/>
                </a:solidFill>
                <a:latin typeface="Calibri" pitchFamily="34" charset="0"/>
                <a:ea typeface="Calibri" pitchFamily="34" charset="-122"/>
                <a:cs typeface="Calibri" pitchFamily="34" charset="-120"/>
              </a:rPr>
              <a:t>Stand up MLOps, feature stores, model serving</a:t>
            </a:r>
            <a:endParaRPr lang="en-US" sz="1200" dirty="0"/>
          </a:p>
          <a:p>
            <a:pPr marL="342900" indent="-342900">
              <a:spcAft>
                <a:spcPts val="600"/>
              </a:spcAft>
              <a:buSzPct val="100000"/>
              <a:buChar char="•"/>
            </a:pPr>
            <a:r>
              <a:rPr lang="en-US" sz="1200" dirty="0">
                <a:solidFill>
                  <a:srgbClr val="1F4E52"/>
                </a:solidFill>
                <a:latin typeface="Calibri" pitchFamily="34" charset="0"/>
                <a:ea typeface="Calibri" pitchFamily="34" charset="-122"/>
                <a:cs typeface="Calibri" pitchFamily="34" charset="-120"/>
              </a:rPr>
              <a:t>Harden Kubernetes…</a:t>
            </a:r>
            <a:endParaRPr lang="en-US" sz="1200" dirty="0"/>
          </a:p>
        </p:txBody>
      </p:sp>
      <p:sp>
        <p:nvSpPr>
          <p:cNvPr id="10" name="Shape 8"/>
          <p:cNvSpPr/>
          <p:nvPr/>
        </p:nvSpPr>
        <p:spPr>
          <a:xfrm>
            <a:off x="3264408" y="1371600"/>
            <a:ext cx="2606040" cy="457200"/>
          </a:xfrm>
          <a:prstGeom prst="rect">
            <a:avLst/>
          </a:prstGeom>
          <a:solidFill>
            <a:srgbClr val="028090"/>
          </a:solidFill>
          <a:ln w="12700">
            <a:solidFill>
              <a:srgbClr val="028090"/>
            </a:solidFill>
            <a:prstDash val="solid"/>
          </a:ln>
        </p:spPr>
        <p:txBody>
          <a:bodyPr/>
          <a:lstStyle/>
          <a:p>
            <a:endParaRPr lang="en-US"/>
          </a:p>
        </p:txBody>
      </p:sp>
      <p:sp>
        <p:nvSpPr>
          <p:cNvPr id="11" name="Text 9"/>
          <p:cNvSpPr/>
          <p:nvPr/>
        </p:nvSpPr>
        <p:spPr>
          <a:xfrm>
            <a:off x="3264408" y="1371600"/>
            <a:ext cx="260604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Managed QE-as-a-Service</a:t>
            </a:r>
            <a:endParaRPr lang="en-US" sz="1300" dirty="0"/>
          </a:p>
        </p:txBody>
      </p:sp>
      <p:sp>
        <p:nvSpPr>
          <p:cNvPr id="12" name="Shape 10"/>
          <p:cNvSpPr/>
          <p:nvPr/>
        </p:nvSpPr>
        <p:spPr>
          <a:xfrm>
            <a:off x="3264408" y="1828800"/>
            <a:ext cx="2606040" cy="2834640"/>
          </a:xfrm>
          <a:prstGeom prst="rect">
            <a:avLst/>
          </a:prstGeom>
          <a:solidFill>
            <a:srgbClr val="E6F7F8"/>
          </a:solidFill>
          <a:ln w="12700">
            <a:solidFill>
              <a:srgbClr val="E6F7F8"/>
            </a:solidFill>
            <a:prstDash val="solid"/>
          </a:ln>
          <a:effectLst>
            <a:outerShdw blurRad="127000" dist="38100" dir="2700000" algn="bl" rotWithShape="0">
              <a:srgbClr val="000000">
                <a:alpha val="5000"/>
              </a:srgbClr>
            </a:outerShdw>
          </a:effectLst>
        </p:spPr>
        <p:txBody>
          <a:bodyPr/>
          <a:lstStyle/>
          <a:p>
            <a:endParaRPr lang="en-US"/>
          </a:p>
        </p:txBody>
      </p:sp>
      <p:sp>
        <p:nvSpPr>
          <p:cNvPr id="13" name="Text 11"/>
          <p:cNvSpPr/>
          <p:nvPr/>
        </p:nvSpPr>
        <p:spPr>
          <a:xfrm>
            <a:off x="3374136" y="1920240"/>
            <a:ext cx="2386584" cy="2651760"/>
          </a:xfrm>
          <a:prstGeom prst="rect">
            <a:avLst/>
          </a:prstGeom>
          <a:noFill/>
          <a:ln/>
        </p:spPr>
        <p:txBody>
          <a:bodyPr wrap="square" rtlCol="0" anchor="t"/>
          <a:lstStyle/>
          <a:p>
            <a:pPr marL="342900" indent="-342900">
              <a:spcAft>
                <a:spcPts val="600"/>
              </a:spcAft>
              <a:buSzPct val="100000"/>
              <a:buChar char="•"/>
            </a:pPr>
            <a:r>
              <a:rPr lang="en-US" sz="1200" dirty="0">
                <a:solidFill>
                  <a:srgbClr val="1F4E52"/>
                </a:solidFill>
                <a:latin typeface="Calibri" pitchFamily="34" charset="0"/>
                <a:ea typeface="Calibri" pitchFamily="34" charset="-122"/>
                <a:cs typeface="Calibri" pitchFamily="34" charset="-120"/>
              </a:rPr>
              <a:t>Automate regression across CAD/3D formats and microservices</a:t>
            </a:r>
            <a:endParaRPr lang="en-US" sz="1200" dirty="0"/>
          </a:p>
          <a:p>
            <a:pPr marL="342900" indent="-342900">
              <a:spcAft>
                <a:spcPts val="600"/>
              </a:spcAft>
              <a:buSzPct val="100000"/>
              <a:buChar char="•"/>
            </a:pPr>
            <a:r>
              <a:rPr lang="en-US" sz="1200" dirty="0">
                <a:solidFill>
                  <a:srgbClr val="1F4E52"/>
                </a:solidFill>
                <a:latin typeface="Calibri" pitchFamily="34" charset="0"/>
                <a:ea typeface="Calibri" pitchFamily="34" charset="-122"/>
                <a:cs typeface="Calibri" pitchFamily="34" charset="-120"/>
              </a:rPr>
              <a:t>Performance, interoperability, and…</a:t>
            </a:r>
            <a:endParaRPr lang="en-US" sz="1200" dirty="0"/>
          </a:p>
        </p:txBody>
      </p:sp>
      <p:sp>
        <p:nvSpPr>
          <p:cNvPr id="14" name="Shape 12"/>
          <p:cNvSpPr/>
          <p:nvPr/>
        </p:nvSpPr>
        <p:spPr>
          <a:xfrm>
            <a:off x="6071616" y="1371600"/>
            <a:ext cx="2606040" cy="457200"/>
          </a:xfrm>
          <a:prstGeom prst="rect">
            <a:avLst/>
          </a:prstGeom>
          <a:solidFill>
            <a:srgbClr val="02C39A"/>
          </a:solidFill>
          <a:ln w="12700">
            <a:solidFill>
              <a:srgbClr val="02C39A"/>
            </a:solidFill>
            <a:prstDash val="solid"/>
          </a:ln>
        </p:spPr>
        <p:txBody>
          <a:bodyPr/>
          <a:lstStyle/>
          <a:p>
            <a:endParaRPr lang="en-US"/>
          </a:p>
        </p:txBody>
      </p:sp>
      <p:sp>
        <p:nvSpPr>
          <p:cNvPr id="15" name="Text 13"/>
          <p:cNvSpPr/>
          <p:nvPr/>
        </p:nvSpPr>
        <p:spPr>
          <a:xfrm>
            <a:off x="6071616" y="1371600"/>
            <a:ext cx="260604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Strategic Staff Aug (Embedded Seniors)</a:t>
            </a:r>
            <a:endParaRPr lang="en-US" sz="1300" dirty="0"/>
          </a:p>
        </p:txBody>
      </p:sp>
      <p:sp>
        <p:nvSpPr>
          <p:cNvPr id="16" name="Shape 14"/>
          <p:cNvSpPr/>
          <p:nvPr/>
        </p:nvSpPr>
        <p:spPr>
          <a:xfrm>
            <a:off x="6071616" y="1828800"/>
            <a:ext cx="2606040" cy="2834640"/>
          </a:xfrm>
          <a:prstGeom prst="rect">
            <a:avLst/>
          </a:prstGeom>
          <a:solidFill>
            <a:srgbClr val="E6F7F8"/>
          </a:solidFill>
          <a:ln w="12700">
            <a:solidFill>
              <a:srgbClr val="E6F7F8"/>
            </a:solidFill>
            <a:prstDash val="solid"/>
          </a:ln>
          <a:effectLst>
            <a:outerShdw blurRad="127000" dist="38100" dir="2700000" algn="bl" rotWithShape="0">
              <a:srgbClr val="000000">
                <a:alpha val="5000"/>
              </a:srgbClr>
            </a:outerShdw>
          </a:effectLst>
        </p:spPr>
        <p:txBody>
          <a:bodyPr/>
          <a:lstStyle/>
          <a:p>
            <a:endParaRPr lang="en-US"/>
          </a:p>
        </p:txBody>
      </p:sp>
      <p:sp>
        <p:nvSpPr>
          <p:cNvPr id="17" name="Text 15"/>
          <p:cNvSpPr/>
          <p:nvPr/>
        </p:nvSpPr>
        <p:spPr>
          <a:xfrm>
            <a:off x="6181344" y="1920240"/>
            <a:ext cx="2386584" cy="2651760"/>
          </a:xfrm>
          <a:prstGeom prst="rect">
            <a:avLst/>
          </a:prstGeom>
          <a:noFill/>
          <a:ln/>
        </p:spPr>
        <p:txBody>
          <a:bodyPr wrap="square" rtlCol="0" anchor="t"/>
          <a:lstStyle/>
          <a:p>
            <a:pPr marL="342900" indent="-342900">
              <a:spcAft>
                <a:spcPts val="600"/>
              </a:spcAft>
              <a:buSzPct val="100000"/>
              <a:buChar char="•"/>
            </a:pPr>
            <a:r>
              <a:rPr lang="en-US" sz="1200" dirty="0">
                <a:solidFill>
                  <a:srgbClr val="1F4E52"/>
                </a:solidFill>
                <a:latin typeface="Calibri" pitchFamily="34" charset="0"/>
                <a:ea typeface="Calibri" pitchFamily="34" charset="-122"/>
                <a:cs typeface="Calibri" pitchFamily="34" charset="-120"/>
              </a:rPr>
              <a:t>Senior ML/Platform engineers embedded in Autodesk squads</a:t>
            </a:r>
            <a:endParaRPr lang="en-US" sz="1200" dirty="0"/>
          </a:p>
          <a:p>
            <a:pPr marL="342900" indent="-342900">
              <a:spcAft>
                <a:spcPts val="600"/>
              </a:spcAft>
              <a:buSzPct val="100000"/>
              <a:buChar char="•"/>
            </a:pPr>
            <a:r>
              <a:rPr lang="en-US" sz="1200" dirty="0">
                <a:solidFill>
                  <a:srgbClr val="1F4E52"/>
                </a:solidFill>
                <a:latin typeface="Calibri" pitchFamily="34" charset="0"/>
                <a:ea typeface="Calibri" pitchFamily="34" charset="-122"/>
                <a:cs typeface="Calibri" pitchFamily="34" charset="-120"/>
              </a:rPr>
              <a:t>…</a:t>
            </a:r>
            <a:endParaRPr lang="en-US" sz="1200" dirty="0"/>
          </a:p>
        </p:txBody>
      </p:sp>
      <p:sp>
        <p:nvSpPr>
          <p:cNvPr id="18" name="Text 16"/>
          <p:cNvSpPr/>
          <p:nvPr/>
        </p:nvSpPr>
        <p:spPr>
          <a:xfrm>
            <a:off x="8412480" y="4526280"/>
            <a:ext cx="548640" cy="182880"/>
          </a:xfrm>
          <a:prstGeom prst="rect">
            <a:avLst/>
          </a:prstGeom>
          <a:noFill/>
          <a:ln/>
        </p:spPr>
        <p:txBody>
          <a:bodyPr wrap="square" rtlCol="0" anchor="ctr"/>
          <a:lstStyle/>
          <a:p>
            <a:pPr marL="0" indent="0" algn="r">
              <a:buNone/>
            </a:pPr>
            <a:r>
              <a:rPr lang="en-US" sz="900" dirty="0">
                <a:solidFill>
                  <a:srgbClr val="00A896"/>
                </a:solidFill>
                <a:latin typeface="Calibri" pitchFamily="34" charset="0"/>
                <a:ea typeface="Calibri" pitchFamily="34" charset="-122"/>
                <a:cs typeface="Calibri" pitchFamily="34" charset="-120"/>
              </a:rPr>
              <a:t>12 / 16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AFA"/>
        </a:solidFill>
        <a:effectLst/>
      </p:bgPr>
    </p:bg>
    <p:spTree>
      <p:nvGrpSpPr>
        <p:cNvPr id="1" name=""/>
        <p:cNvGrpSpPr/>
        <p:nvPr/>
      </p:nvGrpSpPr>
      <p:grpSpPr>
        <a:xfrm>
          <a:off x="0" y="0"/>
          <a:ext cx="0" cy="0"/>
          <a:chOff x="0" y="0"/>
          <a:chExt cx="0" cy="0"/>
        </a:xfrm>
      </p:grpSpPr>
      <p:sp>
        <p:nvSpPr>
          <p:cNvPr id="2" name="Shape 0"/>
          <p:cNvSpPr/>
          <p:nvPr/>
        </p:nvSpPr>
        <p:spPr>
          <a:xfrm>
            <a:off x="6858000" y="2743200"/>
            <a:ext cx="3657600" cy="3657600"/>
          </a:xfrm>
          <a:prstGeom prst="ellipse">
            <a:avLst/>
          </a:prstGeom>
          <a:solidFill>
            <a:srgbClr val="028090">
              <a:alpha val="6000"/>
            </a:srgbClr>
          </a:solidFill>
          <a:ln w="12700">
            <a:solidFill>
              <a:srgbClr val="028090"/>
            </a:solidFill>
            <a:prstDash val="solid"/>
          </a:ln>
        </p:spPr>
        <p:txBody>
          <a:bodyPr/>
          <a:lstStyle/>
          <a:p>
            <a:endParaRPr lang="en-US"/>
          </a:p>
        </p:txBody>
      </p:sp>
      <p:sp>
        <p:nvSpPr>
          <p:cNvPr id="3" name="Text 1"/>
          <p:cNvSpPr/>
          <p:nvPr/>
        </p:nvSpPr>
        <p:spPr>
          <a:xfrm>
            <a:off x="457200" y="228600"/>
            <a:ext cx="5486400" cy="228600"/>
          </a:xfrm>
          <a:prstGeom prst="rect">
            <a:avLst/>
          </a:prstGeom>
          <a:noFill/>
          <a:ln/>
        </p:spPr>
        <p:txBody>
          <a:bodyPr wrap="square" lIns="0" tIns="0" rIns="0" bIns="0" rtlCol="0" anchor="ctr"/>
          <a:lstStyle/>
          <a:p>
            <a:pPr marL="0" indent="0" algn="l">
              <a:buNone/>
            </a:pPr>
            <a:r>
              <a:rPr lang="en-US" sz="900" b="1" kern="0" spc="400" dirty="0">
                <a:solidFill>
                  <a:srgbClr val="028090"/>
                </a:solidFill>
                <a:latin typeface="Calibri" pitchFamily="34" charset="0"/>
                <a:ea typeface="Calibri" pitchFamily="34" charset="-122"/>
                <a:cs typeface="Calibri" pitchFamily="34" charset="-120"/>
              </a:rPr>
              <a:t>INVESTMENT</a:t>
            </a:r>
            <a:endParaRPr lang="en-US" sz="900" dirty="0"/>
          </a:p>
        </p:txBody>
      </p:sp>
      <p:sp>
        <p:nvSpPr>
          <p:cNvPr id="4" name="Text 2"/>
          <p:cNvSpPr/>
          <p:nvPr/>
        </p:nvSpPr>
        <p:spPr>
          <a:xfrm>
            <a:off x="457200" y="457200"/>
            <a:ext cx="8229600" cy="502920"/>
          </a:xfrm>
          <a:prstGeom prst="rect">
            <a:avLst/>
          </a:prstGeom>
          <a:noFill/>
          <a:ln/>
        </p:spPr>
        <p:txBody>
          <a:bodyPr wrap="square" lIns="0" tIns="0" rIns="0" bIns="0" rtlCol="0" anchor="ctr"/>
          <a:lstStyle/>
          <a:p>
            <a:pPr marL="0" indent="0" algn="l">
              <a:buNone/>
            </a:pPr>
            <a:r>
              <a:rPr lang="en-US" sz="2800" b="1" dirty="0">
                <a:solidFill>
                  <a:srgbClr val="028090"/>
                </a:solidFill>
                <a:latin typeface="Cambria" pitchFamily="34" charset="0"/>
                <a:ea typeface="Cambria" pitchFamily="34" charset="-122"/>
                <a:cs typeface="Cambria" pitchFamily="34" charset="-120"/>
              </a:rPr>
              <a:t>Transparent, Outcome-Driven Pricing Options</a:t>
            </a:r>
            <a:endParaRPr lang="en-US" sz="2800" dirty="0"/>
          </a:p>
        </p:txBody>
      </p:sp>
      <p:sp>
        <p:nvSpPr>
          <p:cNvPr id="5" name="Text 3"/>
          <p:cNvSpPr/>
          <p:nvPr/>
        </p:nvSpPr>
        <p:spPr>
          <a:xfrm>
            <a:off x="457200" y="987552"/>
            <a:ext cx="8229600" cy="274320"/>
          </a:xfrm>
          <a:prstGeom prst="rect">
            <a:avLst/>
          </a:prstGeom>
          <a:noFill/>
          <a:ln/>
        </p:spPr>
        <p:txBody>
          <a:bodyPr wrap="square" lIns="0" tIns="0" rIns="0" bIns="0" rtlCol="0" anchor="ctr"/>
          <a:lstStyle/>
          <a:p>
            <a:pPr marL="0" indent="0" algn="l">
              <a:buNone/>
            </a:pPr>
            <a:r>
              <a:rPr lang="en-US" sz="1300" i="1" dirty="0">
                <a:solidFill>
                  <a:srgbClr val="00A896"/>
                </a:solidFill>
                <a:latin typeface="Calibri" pitchFamily="34" charset="0"/>
                <a:ea typeface="Calibri" pitchFamily="34" charset="-122"/>
                <a:cs typeface="Calibri" pitchFamily="34" charset="-120"/>
              </a:rPr>
              <a:t>All options include discovery, KPIs, and success metrics.</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2316480"/>
        </p:xfrm>
        <a:graphic>
          <a:graphicData uri="http://schemas.openxmlformats.org/drawingml/2006/table">
            <a:tbl>
              <a:tblPr/>
              <a:tblGrid>
                <a:gridCol w="22860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5720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Tier</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28090"/>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Includes</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28090"/>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Investment</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28090"/>
                    </a:solidFill>
                  </a:tcPr>
                </a:tc>
                <a:extLst>
                  <a:ext uri="{0D108BD9-81ED-4DB2-BD59-A6C34878D82A}">
                    <a16:rowId xmlns:a16="http://schemas.microsoft.com/office/drawing/2014/main" val="10000"/>
                  </a:ext>
                </a:extLst>
              </a:tr>
              <a:tr h="457200">
                <a:tc>
                  <a:txBody>
                    <a:bodyPr/>
                    <a:lstStyle/>
                    <a:p>
                      <a:pPr marL="0" indent="0" algn="ctr">
                        <a:buNone/>
                      </a:pPr>
                      <a:r>
                        <a:rPr lang="en-US" sz="1300" dirty="0">
                          <a:solidFill>
                            <a:srgbClr val="1F4E52"/>
                          </a:solidFill>
                          <a:latin typeface="Calibri" pitchFamily="34" charset="0"/>
                          <a:ea typeface="Calibri" pitchFamily="34" charset="-122"/>
                          <a:cs typeface="Calibri" pitchFamily="34" charset="-120"/>
                        </a:rPr>
                        <a:t>Pod Monthly (Outcome-Focused)</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6F7F8"/>
                    </a:solidFill>
                  </a:tcPr>
                </a:tc>
                <a:tc>
                  <a:txBody>
                    <a:bodyPr/>
                    <a:lstStyle/>
                    <a:p>
                      <a:pPr marL="0" indent="0" algn="ctr">
                        <a:buNone/>
                      </a:pP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6F7F8"/>
                    </a:solidFill>
                  </a:tcPr>
                </a:tc>
                <a:tc>
                  <a:txBody>
                    <a:bodyPr/>
                    <a:lstStyle/>
                    <a:p>
                      <a:pPr marL="0" indent="0" algn="ctr">
                        <a:buNone/>
                      </a:pPr>
                      <a:r>
                        <a:rPr lang="en-US" sz="1300" dirty="0">
                          <a:solidFill>
                            <a:srgbClr val="1F4E52"/>
                          </a:solidFill>
                          <a:latin typeface="Calibri" pitchFamily="34" charset="0"/>
                          <a:ea typeface="Calibri" pitchFamily="34" charset="-122"/>
                          <a:cs typeface="Calibri" pitchFamily="34" charset="-120"/>
                        </a:rPr>
                        <a:t>Accelerate MLOps/GenAI platform milestones</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6F7F8"/>
                    </a:solidFill>
                  </a:tcPr>
                </a:tc>
                <a:extLst>
                  <a:ext uri="{0D108BD9-81ED-4DB2-BD59-A6C34878D82A}">
                    <a16:rowId xmlns:a16="http://schemas.microsoft.com/office/drawing/2014/main" val="10001"/>
                  </a:ext>
                </a:extLst>
              </a:tr>
              <a:tr h="457200">
                <a:tc>
                  <a:txBody>
                    <a:bodyPr/>
                    <a:lstStyle/>
                    <a:p>
                      <a:pPr marL="0" indent="0" algn="ctr">
                        <a:buNone/>
                      </a:pPr>
                      <a:r>
                        <a:rPr lang="en-US" sz="1300" dirty="0">
                          <a:solidFill>
                            <a:srgbClr val="1F4E52"/>
                          </a:solidFill>
                          <a:latin typeface="Calibri" pitchFamily="34" charset="0"/>
                          <a:ea typeface="Calibri" pitchFamily="34" charset="-122"/>
                          <a:cs typeface="Calibri" pitchFamily="34" charset="-120"/>
                        </a:rPr>
                        <a:t>Managed Service (SLO-Based)</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AFA"/>
                    </a:solidFill>
                  </a:tcPr>
                </a:tc>
                <a:tc>
                  <a:txBody>
                    <a:bodyPr/>
                    <a:lstStyle/>
                    <a:p>
                      <a:pPr marL="0" indent="0" algn="ctr">
                        <a:buNone/>
                      </a:pP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AFA"/>
                    </a:solidFill>
                  </a:tcPr>
                </a:tc>
                <a:tc>
                  <a:txBody>
                    <a:bodyPr/>
                    <a:lstStyle/>
                    <a:p>
                      <a:pPr marL="0" indent="0" algn="ctr">
                        <a:buNone/>
                      </a:pPr>
                      <a:r>
                        <a:rPr lang="en-US" sz="1300" dirty="0">
                          <a:solidFill>
                            <a:srgbClr val="1F4E52"/>
                          </a:solidFill>
                          <a:latin typeface="Calibri" pitchFamily="34" charset="0"/>
                          <a:ea typeface="Calibri" pitchFamily="34" charset="-122"/>
                          <a:cs typeface="Calibri" pitchFamily="34" charset="-120"/>
                        </a:rPr>
                        <a:t>Operate ML and data platforms to SLOs</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AFA"/>
                    </a:solidFill>
                  </a:tcPr>
                </a:tc>
                <a:extLst>
                  <a:ext uri="{0D108BD9-81ED-4DB2-BD59-A6C34878D82A}">
                    <a16:rowId xmlns:a16="http://schemas.microsoft.com/office/drawing/2014/main" val="10002"/>
                  </a:ext>
                </a:extLst>
              </a:tr>
              <a:tr h="457200">
                <a:tc>
                  <a:txBody>
                    <a:bodyPr/>
                    <a:lstStyle/>
                    <a:p>
                      <a:pPr marL="0" indent="0" algn="ctr">
                        <a:buNone/>
                      </a:pPr>
                      <a:r>
                        <a:rPr lang="en-US" sz="1300" dirty="0">
                          <a:solidFill>
                            <a:srgbClr val="1F4E52"/>
                          </a:solidFill>
                          <a:latin typeface="Calibri" pitchFamily="34" charset="0"/>
                          <a:ea typeface="Calibri" pitchFamily="34" charset="-122"/>
                          <a:cs typeface="Calibri" pitchFamily="34" charset="-120"/>
                        </a:rPr>
                        <a:t>Staff Aug (Blended Rates)</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6F7F8"/>
                    </a:solidFill>
                  </a:tcPr>
                </a:tc>
                <a:tc>
                  <a:txBody>
                    <a:bodyPr/>
                    <a:lstStyle/>
                    <a:p>
                      <a:pPr marL="0" indent="0" algn="ctr">
                        <a:buNone/>
                      </a:pP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6F7F8"/>
                    </a:solidFill>
                  </a:tcPr>
                </a:tc>
                <a:tc>
                  <a:txBody>
                    <a:bodyPr/>
                    <a:lstStyle/>
                    <a:p>
                      <a:pPr marL="0" indent="0" algn="ctr">
                        <a:buNone/>
                      </a:pPr>
                      <a:r>
                        <a:rPr lang="en-US" sz="1300" dirty="0">
                          <a:solidFill>
                            <a:srgbClr val="1F4E52"/>
                          </a:solidFill>
                          <a:latin typeface="Calibri" pitchFamily="34" charset="0"/>
                          <a:ea typeface="Calibri" pitchFamily="34" charset="-122"/>
                          <a:cs typeface="Calibri" pitchFamily="34" charset="-120"/>
                        </a:rPr>
                        <a:t>Senior engineers embedded within Autodesk squads</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6F7F8"/>
                    </a:solidFill>
                  </a:tcPr>
                </a:tc>
                <a:extLst>
                  <a:ext uri="{0D108BD9-81ED-4DB2-BD59-A6C34878D82A}">
                    <a16:rowId xmlns:a16="http://schemas.microsoft.com/office/drawing/2014/main" val="10003"/>
                  </a:ext>
                </a:extLst>
              </a:tr>
            </a:tbl>
          </a:graphicData>
        </a:graphic>
      </p:graphicFrame>
      <p:sp>
        <p:nvSpPr>
          <p:cNvPr id="7" name="Text 4"/>
          <p:cNvSpPr/>
          <p:nvPr/>
        </p:nvSpPr>
        <p:spPr>
          <a:xfrm>
            <a:off x="8412480" y="4526280"/>
            <a:ext cx="548640" cy="182880"/>
          </a:xfrm>
          <a:prstGeom prst="rect">
            <a:avLst/>
          </a:prstGeom>
          <a:noFill/>
          <a:ln/>
        </p:spPr>
        <p:txBody>
          <a:bodyPr wrap="square" rtlCol="0" anchor="ctr"/>
          <a:lstStyle/>
          <a:p>
            <a:pPr marL="0" indent="0" algn="r">
              <a:buNone/>
            </a:pPr>
            <a:r>
              <a:rPr lang="en-US" sz="900" dirty="0">
                <a:solidFill>
                  <a:srgbClr val="00A896"/>
                </a:solidFill>
                <a:latin typeface="Calibri" pitchFamily="34" charset="0"/>
                <a:ea typeface="Calibri" pitchFamily="34" charset="-122"/>
                <a:cs typeface="Calibri" pitchFamily="34" charset="-120"/>
              </a:rPr>
              <a:t>13 / 16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AFA"/>
        </a:solidFill>
        <a:effectLst/>
      </p:bgPr>
    </p:bg>
    <p:spTree>
      <p:nvGrpSpPr>
        <p:cNvPr id="1" name=""/>
        <p:cNvGrpSpPr/>
        <p:nvPr/>
      </p:nvGrpSpPr>
      <p:grpSpPr>
        <a:xfrm>
          <a:off x="0" y="0"/>
          <a:ext cx="0" cy="0"/>
          <a:chOff x="0" y="0"/>
          <a:chExt cx="0" cy="0"/>
        </a:xfrm>
      </p:grpSpPr>
      <p:sp>
        <p:nvSpPr>
          <p:cNvPr id="2" name="Shape 0"/>
          <p:cNvSpPr/>
          <p:nvPr/>
        </p:nvSpPr>
        <p:spPr>
          <a:xfrm>
            <a:off x="6858000" y="2743200"/>
            <a:ext cx="3657600" cy="3657600"/>
          </a:xfrm>
          <a:prstGeom prst="ellipse">
            <a:avLst/>
          </a:prstGeom>
          <a:solidFill>
            <a:srgbClr val="028090">
              <a:alpha val="6000"/>
            </a:srgbClr>
          </a:solidFill>
          <a:ln w="12700">
            <a:solidFill>
              <a:srgbClr val="028090"/>
            </a:solidFill>
            <a:prstDash val="solid"/>
          </a:ln>
        </p:spPr>
        <p:txBody>
          <a:bodyPr/>
          <a:lstStyle/>
          <a:p>
            <a:endParaRPr lang="en-US"/>
          </a:p>
        </p:txBody>
      </p:sp>
      <p:sp>
        <p:nvSpPr>
          <p:cNvPr id="3" name="Text 1"/>
          <p:cNvSpPr/>
          <p:nvPr/>
        </p:nvSpPr>
        <p:spPr>
          <a:xfrm>
            <a:off x="457200" y="228600"/>
            <a:ext cx="5486400" cy="228600"/>
          </a:xfrm>
          <a:prstGeom prst="rect">
            <a:avLst/>
          </a:prstGeom>
          <a:noFill/>
          <a:ln/>
        </p:spPr>
        <p:txBody>
          <a:bodyPr wrap="square" lIns="0" tIns="0" rIns="0" bIns="0" rtlCol="0" anchor="ctr"/>
          <a:lstStyle/>
          <a:p>
            <a:pPr marL="0" indent="0" algn="l">
              <a:buNone/>
            </a:pPr>
            <a:r>
              <a:rPr lang="en-US" sz="900" b="1" kern="0" spc="400" dirty="0">
                <a:solidFill>
                  <a:srgbClr val="028090"/>
                </a:solidFill>
                <a:latin typeface="Calibri" pitchFamily="34" charset="0"/>
                <a:ea typeface="Calibri" pitchFamily="34" charset="-122"/>
                <a:cs typeface="Calibri" pitchFamily="34" charset="-120"/>
              </a:rPr>
              <a:t>OUR TEAM</a:t>
            </a:r>
            <a:endParaRPr lang="en-US" sz="900" dirty="0"/>
          </a:p>
        </p:txBody>
      </p:sp>
      <p:sp>
        <p:nvSpPr>
          <p:cNvPr id="4" name="Text 2"/>
          <p:cNvSpPr/>
          <p:nvPr/>
        </p:nvSpPr>
        <p:spPr>
          <a:xfrm>
            <a:off x="457200" y="457200"/>
            <a:ext cx="8229600" cy="457200"/>
          </a:xfrm>
          <a:prstGeom prst="rect">
            <a:avLst/>
          </a:prstGeom>
          <a:noFill/>
          <a:ln/>
        </p:spPr>
        <p:txBody>
          <a:bodyPr wrap="square" lIns="0" tIns="0" rIns="0" bIns="0" rtlCol="0" anchor="ctr"/>
          <a:lstStyle/>
          <a:p>
            <a:pPr marL="0" indent="0" algn="l">
              <a:buNone/>
            </a:pPr>
            <a:r>
              <a:rPr lang="en-US" sz="2600" b="1" dirty="0">
                <a:solidFill>
                  <a:srgbClr val="028090"/>
                </a:solidFill>
                <a:latin typeface="Cambria" pitchFamily="34" charset="0"/>
                <a:ea typeface="Cambria" pitchFamily="34" charset="-122"/>
                <a:cs typeface="Cambria" pitchFamily="34" charset="-120"/>
              </a:rPr>
              <a:t>Proven Leads For AI Platform Scale</a:t>
            </a:r>
            <a:endParaRPr lang="en-US" sz="2600" dirty="0"/>
          </a:p>
        </p:txBody>
      </p:sp>
      <p:sp>
        <p:nvSpPr>
          <p:cNvPr id="5" name="Text 3"/>
          <p:cNvSpPr/>
          <p:nvPr/>
        </p:nvSpPr>
        <p:spPr>
          <a:xfrm>
            <a:off x="457200" y="914400"/>
            <a:ext cx="8229600" cy="256032"/>
          </a:xfrm>
          <a:prstGeom prst="rect">
            <a:avLst/>
          </a:prstGeom>
          <a:noFill/>
          <a:ln/>
        </p:spPr>
        <p:txBody>
          <a:bodyPr wrap="square" lIns="0" tIns="0" rIns="0" bIns="0" rtlCol="0" anchor="ctr"/>
          <a:lstStyle/>
          <a:p>
            <a:pPr marL="0" indent="0" algn="l">
              <a:buNone/>
            </a:pPr>
            <a:r>
              <a:rPr lang="en-US" sz="1200" i="1" dirty="0">
                <a:solidFill>
                  <a:srgbClr val="00A896"/>
                </a:solidFill>
                <a:latin typeface="Calibri" pitchFamily="34" charset="0"/>
                <a:ea typeface="Calibri" pitchFamily="34" charset="-122"/>
                <a:cs typeface="Calibri" pitchFamily="34" charset="-120"/>
              </a:rPr>
              <a:t>Embedded leadership to accelerate AI/ML, cloud-native, and quality for Autodesk.</a:t>
            </a:r>
            <a:endParaRPr lang="en-US" sz="1200" dirty="0"/>
          </a:p>
        </p:txBody>
      </p:sp>
      <p:sp>
        <p:nvSpPr>
          <p:cNvPr id="6" name="Shape 4"/>
          <p:cNvSpPr/>
          <p:nvPr/>
        </p:nvSpPr>
        <p:spPr>
          <a:xfrm>
            <a:off x="457200" y="1261872"/>
            <a:ext cx="4032504" cy="1449324"/>
          </a:xfrm>
          <a:prstGeom prst="rect">
            <a:avLst/>
          </a:prstGeom>
          <a:solidFill>
            <a:srgbClr val="E6F7F8"/>
          </a:solidFill>
          <a:ln w="12700">
            <a:solidFill>
              <a:srgbClr val="E6F7F8"/>
            </a:solidFill>
            <a:prstDash val="solid"/>
          </a:ln>
          <a:effectLst>
            <a:outerShdw blurRad="127000" dist="38100" dir="2700000" algn="bl" rotWithShape="0">
              <a:srgbClr val="000000">
                <a:alpha val="5000"/>
              </a:srgbClr>
            </a:outerShdw>
          </a:effectLst>
        </p:spPr>
        <p:txBody>
          <a:bodyPr/>
          <a:lstStyle/>
          <a:p>
            <a:endParaRPr lang="en-US"/>
          </a:p>
        </p:txBody>
      </p:sp>
      <p:sp>
        <p:nvSpPr>
          <p:cNvPr id="7" name="Shape 5"/>
          <p:cNvSpPr/>
          <p:nvPr/>
        </p:nvSpPr>
        <p:spPr>
          <a:xfrm>
            <a:off x="457200" y="1261872"/>
            <a:ext cx="4032504" cy="45720"/>
          </a:xfrm>
          <a:prstGeom prst="rect">
            <a:avLst/>
          </a:prstGeom>
          <a:solidFill>
            <a:srgbClr val="028090"/>
          </a:solidFill>
          <a:ln w="12700">
            <a:solidFill>
              <a:srgbClr val="028090"/>
            </a:solidFill>
            <a:prstDash val="solid"/>
          </a:ln>
        </p:spPr>
        <p:txBody>
          <a:bodyPr/>
          <a:lstStyle/>
          <a:p>
            <a:endParaRPr lang="en-US"/>
          </a:p>
        </p:txBody>
      </p:sp>
      <p:sp>
        <p:nvSpPr>
          <p:cNvPr id="8" name="Shape 6"/>
          <p:cNvSpPr/>
          <p:nvPr/>
        </p:nvSpPr>
        <p:spPr>
          <a:xfrm>
            <a:off x="2336292" y="1371600"/>
            <a:ext cx="274320" cy="274320"/>
          </a:xfrm>
          <a:prstGeom prst="ellipse">
            <a:avLst/>
          </a:prstGeom>
          <a:solidFill>
            <a:srgbClr val="028090"/>
          </a:solidFill>
          <a:ln w="12700">
            <a:solidFill>
              <a:srgbClr val="028090"/>
            </a:solidFill>
            <a:prstDash val="solid"/>
          </a:ln>
        </p:spPr>
        <p:txBody>
          <a:bodyPr/>
          <a:lstStyle/>
          <a:p>
            <a:endParaRPr lang="en-US"/>
          </a:p>
        </p:txBody>
      </p:sp>
      <p:pic>
        <p:nvPicPr>
          <p:cNvPr id="9" name="Image 0" descr="preencoded.png"/>
          <p:cNvPicPr>
            <a:picLocks noChangeAspect="1"/>
          </p:cNvPicPr>
          <p:nvPr/>
        </p:nvPicPr>
        <p:blipFill>
          <a:blip/>
          <a:stretch>
            <a:fillRect/>
          </a:stretch>
        </p:blipFill>
        <p:spPr>
          <a:xfrm>
            <a:off x="2363724" y="1399032"/>
            <a:ext cx="219456" cy="219456"/>
          </a:xfrm>
          <a:prstGeom prst="rect">
            <a:avLst/>
          </a:prstGeom>
        </p:spPr>
      </p:pic>
      <p:sp>
        <p:nvSpPr>
          <p:cNvPr id="10" name="Text 7"/>
          <p:cNvSpPr/>
          <p:nvPr/>
        </p:nvSpPr>
        <p:spPr>
          <a:xfrm>
            <a:off x="530352" y="1673352"/>
            <a:ext cx="3886200" cy="256032"/>
          </a:xfrm>
          <a:prstGeom prst="rect">
            <a:avLst/>
          </a:prstGeom>
          <a:noFill/>
          <a:ln/>
        </p:spPr>
        <p:txBody>
          <a:bodyPr wrap="square" lIns="0" tIns="0" rIns="0" bIns="0" rtlCol="0" anchor="ctr"/>
          <a:lstStyle/>
          <a:p>
            <a:pPr marL="0" indent="0" algn="ctr">
              <a:buNone/>
            </a:pPr>
            <a:r>
              <a:rPr lang="en-US" sz="1000" b="1" dirty="0">
                <a:solidFill>
                  <a:srgbClr val="028090"/>
                </a:solidFill>
                <a:latin typeface="Calibri" pitchFamily="34" charset="0"/>
                <a:ea typeface="Calibri" pitchFamily="34" charset="-122"/>
                <a:cs typeface="Calibri" pitchFamily="34" charset="-120"/>
              </a:rPr>
              <a:t>AI/ML Platform Architect</a:t>
            </a:r>
            <a:endParaRPr lang="en-US" sz="1000" dirty="0"/>
          </a:p>
        </p:txBody>
      </p:sp>
      <p:sp>
        <p:nvSpPr>
          <p:cNvPr id="11" name="Text 8"/>
          <p:cNvSpPr/>
          <p:nvPr/>
        </p:nvSpPr>
        <p:spPr>
          <a:xfrm>
            <a:off x="530352" y="1920240"/>
            <a:ext cx="3886200" cy="672084"/>
          </a:xfrm>
          <a:prstGeom prst="rect">
            <a:avLst/>
          </a:prstGeom>
          <a:noFill/>
          <a:ln/>
        </p:spPr>
        <p:txBody>
          <a:bodyPr wrap="square" lIns="0" tIns="0" rIns="0" bIns="0" rtlCol="0" anchor="t"/>
          <a:lstStyle/>
          <a:p>
            <a:pPr marL="0" indent="0" algn="ctr">
              <a:buNone/>
            </a:pPr>
            <a:r>
              <a:rPr lang="en-US" sz="900" dirty="0">
                <a:solidFill>
                  <a:srgbClr val="1F4E52"/>
                </a:solidFill>
                <a:latin typeface="Calibri" pitchFamily="34" charset="0"/>
                <a:ea typeface="Calibri" pitchFamily="34" charset="-122"/>
                <a:cs typeface="Calibri" pitchFamily="34" charset="-120"/>
              </a:rPr>
              <a:t>Unifies GenAI, MLOps, and ML platform for Autodesk.</a:t>
            </a:r>
            <a:endParaRPr lang="en-US" sz="900" dirty="0"/>
          </a:p>
        </p:txBody>
      </p:sp>
      <p:sp>
        <p:nvSpPr>
          <p:cNvPr id="12" name="Shape 9"/>
          <p:cNvSpPr/>
          <p:nvPr/>
        </p:nvSpPr>
        <p:spPr>
          <a:xfrm>
            <a:off x="4654296" y="1261872"/>
            <a:ext cx="4032504" cy="1449324"/>
          </a:xfrm>
          <a:prstGeom prst="rect">
            <a:avLst/>
          </a:prstGeom>
          <a:solidFill>
            <a:srgbClr val="E6F7F8"/>
          </a:solidFill>
          <a:ln w="12700">
            <a:solidFill>
              <a:srgbClr val="E6F7F8"/>
            </a:solidFill>
            <a:prstDash val="solid"/>
          </a:ln>
          <a:effectLst>
            <a:outerShdw blurRad="127000" dist="38100" dir="2700000" algn="bl" rotWithShape="0">
              <a:srgbClr val="000000">
                <a:alpha val="5000"/>
              </a:srgbClr>
            </a:outerShdw>
          </a:effectLst>
        </p:spPr>
        <p:txBody>
          <a:bodyPr/>
          <a:lstStyle/>
          <a:p>
            <a:endParaRPr lang="en-US"/>
          </a:p>
        </p:txBody>
      </p:sp>
      <p:sp>
        <p:nvSpPr>
          <p:cNvPr id="13" name="Shape 10"/>
          <p:cNvSpPr/>
          <p:nvPr/>
        </p:nvSpPr>
        <p:spPr>
          <a:xfrm>
            <a:off x="4654296" y="1261872"/>
            <a:ext cx="4032504" cy="45720"/>
          </a:xfrm>
          <a:prstGeom prst="rect">
            <a:avLst/>
          </a:prstGeom>
          <a:solidFill>
            <a:srgbClr val="028090"/>
          </a:solidFill>
          <a:ln w="12700">
            <a:solidFill>
              <a:srgbClr val="028090"/>
            </a:solidFill>
            <a:prstDash val="solid"/>
          </a:ln>
        </p:spPr>
        <p:txBody>
          <a:bodyPr/>
          <a:lstStyle/>
          <a:p>
            <a:endParaRPr lang="en-US"/>
          </a:p>
        </p:txBody>
      </p:sp>
      <p:sp>
        <p:nvSpPr>
          <p:cNvPr id="14" name="Shape 11"/>
          <p:cNvSpPr/>
          <p:nvPr/>
        </p:nvSpPr>
        <p:spPr>
          <a:xfrm>
            <a:off x="6533388" y="1371600"/>
            <a:ext cx="274320" cy="274320"/>
          </a:xfrm>
          <a:prstGeom prst="ellipse">
            <a:avLst/>
          </a:prstGeom>
          <a:solidFill>
            <a:srgbClr val="028090"/>
          </a:solidFill>
          <a:ln w="12700">
            <a:solidFill>
              <a:srgbClr val="028090"/>
            </a:solidFill>
            <a:prstDash val="solid"/>
          </a:ln>
        </p:spPr>
        <p:txBody>
          <a:bodyPr/>
          <a:lstStyle/>
          <a:p>
            <a:endParaRPr lang="en-US"/>
          </a:p>
        </p:txBody>
      </p:sp>
      <p:pic>
        <p:nvPicPr>
          <p:cNvPr id="15" name="Image 1" descr="preencoded.png"/>
          <p:cNvPicPr>
            <a:picLocks noChangeAspect="1"/>
          </p:cNvPicPr>
          <p:nvPr/>
        </p:nvPicPr>
        <p:blipFill>
          <a:blip/>
          <a:stretch>
            <a:fillRect/>
          </a:stretch>
        </p:blipFill>
        <p:spPr>
          <a:xfrm>
            <a:off x="6560820" y="1399032"/>
            <a:ext cx="219456" cy="219456"/>
          </a:xfrm>
          <a:prstGeom prst="rect">
            <a:avLst/>
          </a:prstGeom>
        </p:spPr>
      </p:pic>
      <p:sp>
        <p:nvSpPr>
          <p:cNvPr id="16" name="Text 12"/>
          <p:cNvSpPr/>
          <p:nvPr/>
        </p:nvSpPr>
        <p:spPr>
          <a:xfrm>
            <a:off x="4727448" y="1673352"/>
            <a:ext cx="3886200" cy="256032"/>
          </a:xfrm>
          <a:prstGeom prst="rect">
            <a:avLst/>
          </a:prstGeom>
          <a:noFill/>
          <a:ln/>
        </p:spPr>
        <p:txBody>
          <a:bodyPr wrap="square" lIns="0" tIns="0" rIns="0" bIns="0" rtlCol="0" anchor="ctr"/>
          <a:lstStyle/>
          <a:p>
            <a:pPr marL="0" indent="0" algn="ctr">
              <a:buNone/>
            </a:pPr>
            <a:r>
              <a:rPr lang="en-US" sz="1000" b="1" dirty="0">
                <a:solidFill>
                  <a:srgbClr val="028090"/>
                </a:solidFill>
                <a:latin typeface="Calibri" pitchFamily="34" charset="0"/>
                <a:ea typeface="Calibri" pitchFamily="34" charset="-122"/>
                <a:cs typeface="Calibri" pitchFamily="34" charset="-120"/>
              </a:rPr>
              <a:t>DevOps Lead</a:t>
            </a:r>
            <a:endParaRPr lang="en-US" sz="1000" dirty="0"/>
          </a:p>
        </p:txBody>
      </p:sp>
      <p:sp>
        <p:nvSpPr>
          <p:cNvPr id="17" name="Text 13"/>
          <p:cNvSpPr/>
          <p:nvPr/>
        </p:nvSpPr>
        <p:spPr>
          <a:xfrm>
            <a:off x="4727448" y="1920240"/>
            <a:ext cx="3886200" cy="672084"/>
          </a:xfrm>
          <a:prstGeom prst="rect">
            <a:avLst/>
          </a:prstGeom>
          <a:noFill/>
          <a:ln/>
        </p:spPr>
        <p:txBody>
          <a:bodyPr wrap="square" lIns="0" tIns="0" rIns="0" bIns="0" rtlCol="0" anchor="t"/>
          <a:lstStyle/>
          <a:p>
            <a:pPr marL="0" indent="0" algn="ctr">
              <a:buNone/>
            </a:pPr>
            <a:r>
              <a:rPr lang="en-US" sz="900" dirty="0">
                <a:solidFill>
                  <a:srgbClr val="1F4E52"/>
                </a:solidFill>
                <a:latin typeface="Calibri" pitchFamily="34" charset="0"/>
                <a:ea typeface="Calibri" pitchFamily="34" charset="-122"/>
                <a:cs typeface="Calibri" pitchFamily="34" charset="-120"/>
              </a:rPr>
              <a:t>Hardens Kubernetes, CI/CD, SRE for reliable, scalable SaaS.</a:t>
            </a:r>
            <a:endParaRPr lang="en-US" sz="900" dirty="0"/>
          </a:p>
        </p:txBody>
      </p:sp>
      <p:sp>
        <p:nvSpPr>
          <p:cNvPr id="18" name="Shape 14"/>
          <p:cNvSpPr/>
          <p:nvPr/>
        </p:nvSpPr>
        <p:spPr>
          <a:xfrm>
            <a:off x="457200" y="2848356"/>
            <a:ext cx="4032504" cy="1449324"/>
          </a:xfrm>
          <a:prstGeom prst="rect">
            <a:avLst/>
          </a:prstGeom>
          <a:solidFill>
            <a:srgbClr val="E6F7F8"/>
          </a:solidFill>
          <a:ln w="12700">
            <a:solidFill>
              <a:srgbClr val="E6F7F8"/>
            </a:solidFill>
            <a:prstDash val="solid"/>
          </a:ln>
          <a:effectLst>
            <a:outerShdw blurRad="127000" dist="38100" dir="2700000" algn="bl" rotWithShape="0">
              <a:srgbClr val="000000">
                <a:alpha val="5000"/>
              </a:srgbClr>
            </a:outerShdw>
          </a:effectLst>
        </p:spPr>
        <p:txBody>
          <a:bodyPr/>
          <a:lstStyle/>
          <a:p>
            <a:endParaRPr lang="en-US"/>
          </a:p>
        </p:txBody>
      </p:sp>
      <p:sp>
        <p:nvSpPr>
          <p:cNvPr id="19" name="Shape 15"/>
          <p:cNvSpPr/>
          <p:nvPr/>
        </p:nvSpPr>
        <p:spPr>
          <a:xfrm>
            <a:off x="457200" y="2848356"/>
            <a:ext cx="4032504" cy="45720"/>
          </a:xfrm>
          <a:prstGeom prst="rect">
            <a:avLst/>
          </a:prstGeom>
          <a:solidFill>
            <a:srgbClr val="028090"/>
          </a:solidFill>
          <a:ln w="12700">
            <a:solidFill>
              <a:srgbClr val="028090"/>
            </a:solidFill>
            <a:prstDash val="solid"/>
          </a:ln>
        </p:spPr>
        <p:txBody>
          <a:bodyPr/>
          <a:lstStyle/>
          <a:p>
            <a:endParaRPr lang="en-US"/>
          </a:p>
        </p:txBody>
      </p:sp>
      <p:sp>
        <p:nvSpPr>
          <p:cNvPr id="20" name="Shape 16"/>
          <p:cNvSpPr/>
          <p:nvPr/>
        </p:nvSpPr>
        <p:spPr>
          <a:xfrm>
            <a:off x="2336292" y="2958084"/>
            <a:ext cx="274320" cy="274320"/>
          </a:xfrm>
          <a:prstGeom prst="ellipse">
            <a:avLst/>
          </a:prstGeom>
          <a:solidFill>
            <a:srgbClr val="028090"/>
          </a:solidFill>
          <a:ln w="12700">
            <a:solidFill>
              <a:srgbClr val="028090"/>
            </a:solidFill>
            <a:prstDash val="solid"/>
          </a:ln>
        </p:spPr>
        <p:txBody>
          <a:bodyPr/>
          <a:lstStyle/>
          <a:p>
            <a:endParaRPr lang="en-US"/>
          </a:p>
        </p:txBody>
      </p:sp>
      <p:pic>
        <p:nvPicPr>
          <p:cNvPr id="21" name="Image 2" descr="preencoded.png"/>
          <p:cNvPicPr>
            <a:picLocks noChangeAspect="1"/>
          </p:cNvPicPr>
          <p:nvPr/>
        </p:nvPicPr>
        <p:blipFill>
          <a:blip/>
          <a:stretch>
            <a:fillRect/>
          </a:stretch>
        </p:blipFill>
        <p:spPr>
          <a:xfrm>
            <a:off x="2363724" y="2985516"/>
            <a:ext cx="219456" cy="219456"/>
          </a:xfrm>
          <a:prstGeom prst="rect">
            <a:avLst/>
          </a:prstGeom>
        </p:spPr>
      </p:pic>
      <p:sp>
        <p:nvSpPr>
          <p:cNvPr id="22" name="Text 17"/>
          <p:cNvSpPr/>
          <p:nvPr/>
        </p:nvSpPr>
        <p:spPr>
          <a:xfrm>
            <a:off x="530352" y="3259836"/>
            <a:ext cx="3886200" cy="256032"/>
          </a:xfrm>
          <a:prstGeom prst="rect">
            <a:avLst/>
          </a:prstGeom>
          <a:noFill/>
          <a:ln/>
        </p:spPr>
        <p:txBody>
          <a:bodyPr wrap="square" lIns="0" tIns="0" rIns="0" bIns="0" rtlCol="0" anchor="ctr"/>
          <a:lstStyle/>
          <a:p>
            <a:pPr marL="0" indent="0" algn="ctr">
              <a:buNone/>
            </a:pPr>
            <a:r>
              <a:rPr lang="en-US" sz="1000" b="1" dirty="0">
                <a:solidFill>
                  <a:srgbClr val="028090"/>
                </a:solidFill>
                <a:latin typeface="Calibri" pitchFamily="34" charset="0"/>
                <a:ea typeface="Calibri" pitchFamily="34" charset="-122"/>
                <a:cs typeface="Calibri" pitchFamily="34" charset="-120"/>
              </a:rPr>
              <a:t>QE Director</a:t>
            </a:r>
            <a:endParaRPr lang="en-US" sz="1000" dirty="0"/>
          </a:p>
        </p:txBody>
      </p:sp>
      <p:sp>
        <p:nvSpPr>
          <p:cNvPr id="23" name="Text 18"/>
          <p:cNvSpPr/>
          <p:nvPr/>
        </p:nvSpPr>
        <p:spPr>
          <a:xfrm>
            <a:off x="530352" y="3506724"/>
            <a:ext cx="3886200" cy="672084"/>
          </a:xfrm>
          <a:prstGeom prst="rect">
            <a:avLst/>
          </a:prstGeom>
          <a:noFill/>
          <a:ln/>
        </p:spPr>
        <p:txBody>
          <a:bodyPr wrap="square" lIns="0" tIns="0" rIns="0" bIns="0" rtlCol="0" anchor="t"/>
          <a:lstStyle/>
          <a:p>
            <a:pPr marL="0" indent="0" algn="ctr">
              <a:buNone/>
            </a:pPr>
            <a:r>
              <a:rPr lang="en-US" sz="900" dirty="0">
                <a:solidFill>
                  <a:srgbClr val="1F4E52"/>
                </a:solidFill>
                <a:latin typeface="Calibri" pitchFamily="34" charset="0"/>
                <a:ea typeface="Calibri" pitchFamily="34" charset="-122"/>
                <a:cs typeface="Calibri" pitchFamily="34" charset="-120"/>
              </a:rPr>
              <a:t>Automates CAD/3D interoperability, regression, and performance to curb escapes.</a:t>
            </a:r>
            <a:endParaRPr lang="en-US" sz="900" dirty="0"/>
          </a:p>
        </p:txBody>
      </p:sp>
      <p:sp>
        <p:nvSpPr>
          <p:cNvPr id="24" name="Shape 19"/>
          <p:cNvSpPr/>
          <p:nvPr/>
        </p:nvSpPr>
        <p:spPr>
          <a:xfrm>
            <a:off x="4654296" y="2848356"/>
            <a:ext cx="4032504" cy="1449324"/>
          </a:xfrm>
          <a:prstGeom prst="rect">
            <a:avLst/>
          </a:prstGeom>
          <a:solidFill>
            <a:srgbClr val="E6F7F8"/>
          </a:solidFill>
          <a:ln w="12700">
            <a:solidFill>
              <a:srgbClr val="E6F7F8"/>
            </a:solidFill>
            <a:prstDash val="solid"/>
          </a:ln>
          <a:effectLst>
            <a:outerShdw blurRad="127000" dist="38100" dir="2700000" algn="bl" rotWithShape="0">
              <a:srgbClr val="000000">
                <a:alpha val="5000"/>
              </a:srgbClr>
            </a:outerShdw>
          </a:effectLst>
        </p:spPr>
        <p:txBody>
          <a:bodyPr/>
          <a:lstStyle/>
          <a:p>
            <a:endParaRPr lang="en-US"/>
          </a:p>
        </p:txBody>
      </p:sp>
      <p:sp>
        <p:nvSpPr>
          <p:cNvPr id="25" name="Shape 20"/>
          <p:cNvSpPr/>
          <p:nvPr/>
        </p:nvSpPr>
        <p:spPr>
          <a:xfrm>
            <a:off x="4654296" y="2848356"/>
            <a:ext cx="4032504" cy="45720"/>
          </a:xfrm>
          <a:prstGeom prst="rect">
            <a:avLst/>
          </a:prstGeom>
          <a:solidFill>
            <a:srgbClr val="028090"/>
          </a:solidFill>
          <a:ln w="12700">
            <a:solidFill>
              <a:srgbClr val="028090"/>
            </a:solidFill>
            <a:prstDash val="solid"/>
          </a:ln>
        </p:spPr>
        <p:txBody>
          <a:bodyPr/>
          <a:lstStyle/>
          <a:p>
            <a:endParaRPr lang="en-US"/>
          </a:p>
        </p:txBody>
      </p:sp>
      <p:sp>
        <p:nvSpPr>
          <p:cNvPr id="26" name="Shape 21"/>
          <p:cNvSpPr/>
          <p:nvPr/>
        </p:nvSpPr>
        <p:spPr>
          <a:xfrm>
            <a:off x="6533388" y="2958084"/>
            <a:ext cx="274320" cy="274320"/>
          </a:xfrm>
          <a:prstGeom prst="ellipse">
            <a:avLst/>
          </a:prstGeom>
          <a:solidFill>
            <a:srgbClr val="028090"/>
          </a:solidFill>
          <a:ln w="12700">
            <a:solidFill>
              <a:srgbClr val="028090"/>
            </a:solidFill>
            <a:prstDash val="solid"/>
          </a:ln>
        </p:spPr>
        <p:txBody>
          <a:bodyPr/>
          <a:lstStyle/>
          <a:p>
            <a:endParaRPr lang="en-US"/>
          </a:p>
        </p:txBody>
      </p:sp>
      <p:pic>
        <p:nvPicPr>
          <p:cNvPr id="27" name="Image 3" descr="preencoded.png"/>
          <p:cNvPicPr>
            <a:picLocks noChangeAspect="1"/>
          </p:cNvPicPr>
          <p:nvPr/>
        </p:nvPicPr>
        <p:blipFill>
          <a:blip/>
          <a:stretch>
            <a:fillRect/>
          </a:stretch>
        </p:blipFill>
        <p:spPr>
          <a:xfrm>
            <a:off x="6560820" y="2985516"/>
            <a:ext cx="219456" cy="219456"/>
          </a:xfrm>
          <a:prstGeom prst="rect">
            <a:avLst/>
          </a:prstGeom>
        </p:spPr>
      </p:pic>
      <p:sp>
        <p:nvSpPr>
          <p:cNvPr id="28" name="Text 22"/>
          <p:cNvSpPr/>
          <p:nvPr/>
        </p:nvSpPr>
        <p:spPr>
          <a:xfrm>
            <a:off x="4727448" y="3259836"/>
            <a:ext cx="3886200" cy="256032"/>
          </a:xfrm>
          <a:prstGeom prst="rect">
            <a:avLst/>
          </a:prstGeom>
          <a:noFill/>
          <a:ln/>
        </p:spPr>
        <p:txBody>
          <a:bodyPr wrap="square" lIns="0" tIns="0" rIns="0" bIns="0" rtlCol="0" anchor="ctr"/>
          <a:lstStyle/>
          <a:p>
            <a:pPr marL="0" indent="0" algn="ctr">
              <a:buNone/>
            </a:pPr>
            <a:r>
              <a:rPr lang="en-US" sz="1000" b="1" dirty="0">
                <a:solidFill>
                  <a:srgbClr val="028090"/>
                </a:solidFill>
                <a:latin typeface="Calibri" pitchFamily="34" charset="0"/>
                <a:ea typeface="Calibri" pitchFamily="34" charset="-122"/>
                <a:cs typeface="Calibri" pitchFamily="34" charset="-120"/>
              </a:rPr>
              <a:t>Data Engineering Lead + Program Manager</a:t>
            </a:r>
            <a:endParaRPr lang="en-US" sz="1000" dirty="0"/>
          </a:p>
        </p:txBody>
      </p:sp>
      <p:sp>
        <p:nvSpPr>
          <p:cNvPr id="29" name="Text 23"/>
          <p:cNvSpPr/>
          <p:nvPr/>
        </p:nvSpPr>
        <p:spPr>
          <a:xfrm>
            <a:off x="4727448" y="3506724"/>
            <a:ext cx="3886200" cy="672084"/>
          </a:xfrm>
          <a:prstGeom prst="rect">
            <a:avLst/>
          </a:prstGeom>
          <a:noFill/>
          <a:ln/>
        </p:spPr>
        <p:txBody>
          <a:bodyPr wrap="square" lIns="0" tIns="0" rIns="0" bIns="0" rtlCol="0" anchor="t"/>
          <a:lstStyle/>
          <a:p>
            <a:pPr marL="0" indent="0" algn="ctr">
              <a:buNone/>
            </a:pPr>
            <a:r>
              <a:rPr lang="en-US" sz="900" dirty="0">
                <a:solidFill>
                  <a:srgbClr val="1F4E52"/>
                </a:solidFill>
                <a:latin typeface="Calibri" pitchFamily="34" charset="0"/>
                <a:ea typeface="Calibri" pitchFamily="34" charset="-122"/>
                <a:cs typeface="Calibri" pitchFamily="34" charset="-120"/>
              </a:rPr>
              <a:t>Scales Spark/Presto/Hive and orchestrates delivery outcomes.</a:t>
            </a:r>
            <a:endParaRPr lang="en-US" sz="900" dirty="0"/>
          </a:p>
        </p:txBody>
      </p:sp>
      <p:sp>
        <p:nvSpPr>
          <p:cNvPr id="30" name="Text 24"/>
          <p:cNvSpPr/>
          <p:nvPr/>
        </p:nvSpPr>
        <p:spPr>
          <a:xfrm>
            <a:off x="8412480" y="4526280"/>
            <a:ext cx="548640" cy="182880"/>
          </a:xfrm>
          <a:prstGeom prst="rect">
            <a:avLst/>
          </a:prstGeom>
          <a:noFill/>
          <a:ln/>
        </p:spPr>
        <p:txBody>
          <a:bodyPr wrap="square" rtlCol="0" anchor="ctr"/>
          <a:lstStyle/>
          <a:p>
            <a:pPr marL="0" indent="0" algn="r">
              <a:buNone/>
            </a:pPr>
            <a:r>
              <a:rPr lang="en-US" sz="900" dirty="0">
                <a:solidFill>
                  <a:srgbClr val="00A896"/>
                </a:solidFill>
                <a:latin typeface="Calibri" pitchFamily="34" charset="0"/>
                <a:ea typeface="Calibri" pitchFamily="34" charset="-122"/>
                <a:cs typeface="Calibri" pitchFamily="34" charset="-120"/>
              </a:rPr>
              <a:t>14 / 16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28090"/>
        </a:solidFill>
        <a:effectLst/>
      </p:bgPr>
    </p:bg>
    <p:spTree>
      <p:nvGrpSpPr>
        <p:cNvPr id="1" name=""/>
        <p:cNvGrpSpPr/>
        <p:nvPr/>
      </p:nvGrpSpPr>
      <p:grpSpPr>
        <a:xfrm>
          <a:off x="0" y="0"/>
          <a:ext cx="0" cy="0"/>
          <a:chOff x="0" y="0"/>
          <a:chExt cx="0" cy="0"/>
        </a:xfrm>
      </p:grpSpPr>
      <p:sp>
        <p:nvSpPr>
          <p:cNvPr id="2" name="Text 0"/>
          <p:cNvSpPr/>
          <p:nvPr/>
        </p:nvSpPr>
        <p:spPr>
          <a:xfrm>
            <a:off x="5029200" y="91440"/>
            <a:ext cx="3931920" cy="3840480"/>
          </a:xfrm>
          <a:prstGeom prst="rect">
            <a:avLst/>
          </a:prstGeom>
          <a:noFill/>
          <a:ln/>
        </p:spPr>
        <p:txBody>
          <a:bodyPr wrap="square" lIns="0" tIns="0" rIns="0" bIns="0" rtlCol="0" anchor="ctr"/>
          <a:lstStyle/>
          <a:p>
            <a:pPr marL="0" indent="0" algn="r">
              <a:buNone/>
            </a:pPr>
            <a:r>
              <a:rPr lang="en-US" sz="18000" b="1" dirty="0">
                <a:solidFill>
                  <a:srgbClr val="00A896"/>
                </a:solidFill>
                <a:latin typeface="Cambria" pitchFamily="34" charset="0"/>
                <a:ea typeface="Cambria" pitchFamily="34" charset="-122"/>
                <a:cs typeface="Cambria" pitchFamily="34" charset="-120"/>
              </a:rPr>
              <a:t>015</a:t>
            </a:r>
            <a:endParaRPr lang="en-US" sz="18000" dirty="0"/>
          </a:p>
        </p:txBody>
      </p:sp>
      <p:sp>
        <p:nvSpPr>
          <p:cNvPr id="3" name="Shape 1"/>
          <p:cNvSpPr/>
          <p:nvPr/>
        </p:nvSpPr>
        <p:spPr>
          <a:xfrm>
            <a:off x="548640" y="1280160"/>
            <a:ext cx="54864" cy="2011680"/>
          </a:xfrm>
          <a:prstGeom prst="rect">
            <a:avLst/>
          </a:prstGeom>
          <a:solidFill>
            <a:srgbClr val="02C39A"/>
          </a:solidFill>
          <a:ln w="12700">
            <a:solidFill>
              <a:srgbClr val="02C39A"/>
            </a:solidFill>
            <a:prstDash val="solid"/>
          </a:ln>
        </p:spPr>
        <p:txBody>
          <a:bodyPr/>
          <a:lstStyle/>
          <a:p>
            <a:endParaRPr lang="en-US"/>
          </a:p>
        </p:txBody>
      </p:sp>
      <p:sp>
        <p:nvSpPr>
          <p:cNvPr id="4" name="Text 2"/>
          <p:cNvSpPr/>
          <p:nvPr/>
        </p:nvSpPr>
        <p:spPr>
          <a:xfrm>
            <a:off x="822960" y="1463040"/>
            <a:ext cx="6400800" cy="1280160"/>
          </a:xfrm>
          <a:prstGeom prst="rect">
            <a:avLst/>
          </a:prstGeom>
          <a:noFill/>
          <a:ln/>
        </p:spPr>
        <p:txBody>
          <a:bodyPr wrap="square" lIns="0" tIns="0" rIns="0" bIns="0" rtlCol="0" anchor="ctr"/>
          <a:lstStyle/>
          <a:p>
            <a:pPr marL="0" indent="0" algn="l">
              <a:buNone/>
            </a:pPr>
            <a:r>
              <a:rPr lang="en-US" sz="3600" b="1" dirty="0">
                <a:solidFill>
                  <a:srgbClr val="FFFFFF"/>
                </a:solidFill>
                <a:latin typeface="Cambria" pitchFamily="34" charset="0"/>
                <a:ea typeface="Cambria" pitchFamily="34" charset="-122"/>
                <a:cs typeface="Cambria" pitchFamily="34" charset="-120"/>
              </a:rPr>
              <a:t>From Alignment to Pilot Launch</a:t>
            </a:r>
            <a:endParaRPr lang="en-US" sz="3600" dirty="0"/>
          </a:p>
        </p:txBody>
      </p:sp>
      <p:sp>
        <p:nvSpPr>
          <p:cNvPr id="5" name="Text 3"/>
          <p:cNvSpPr/>
          <p:nvPr/>
        </p:nvSpPr>
        <p:spPr>
          <a:xfrm>
            <a:off x="822960" y="2926080"/>
            <a:ext cx="5486400" cy="548640"/>
          </a:xfrm>
          <a:prstGeom prst="rect">
            <a:avLst/>
          </a:prstGeom>
          <a:noFill/>
          <a:ln/>
        </p:spPr>
        <p:txBody>
          <a:bodyPr wrap="square" lIns="0" tIns="0" rIns="0" bIns="0" rtlCol="0" anchor="ctr"/>
          <a:lstStyle/>
          <a:p>
            <a:pPr marL="0" indent="0" algn="l">
              <a:buNone/>
            </a:pPr>
            <a:r>
              <a:rPr lang="en-US" sz="1600" dirty="0">
                <a:solidFill>
                  <a:srgbClr val="B2EAE8"/>
                </a:solidFill>
                <a:latin typeface="Calibri" pitchFamily="34" charset="0"/>
                <a:ea typeface="Calibri" pitchFamily="34" charset="-122"/>
                <a:cs typeface="Calibri" pitchFamily="34" charset="-120"/>
              </a:rPr>
              <a:t>Crisp steps to kickstart AI/ML platform acceleration at Autodesk.</a:t>
            </a:r>
            <a:endParaRPr lang="en-US" sz="1600" dirty="0"/>
          </a:p>
        </p:txBody>
      </p:sp>
      <p:sp>
        <p:nvSpPr>
          <p:cNvPr id="6" name="Text 4"/>
          <p:cNvSpPr/>
          <p:nvPr/>
        </p:nvSpPr>
        <p:spPr>
          <a:xfrm>
            <a:off x="8412480" y="4526280"/>
            <a:ext cx="548640" cy="182880"/>
          </a:xfrm>
          <a:prstGeom prst="rect">
            <a:avLst/>
          </a:prstGeom>
          <a:noFill/>
          <a:ln/>
        </p:spPr>
        <p:txBody>
          <a:bodyPr wrap="square" rtlCol="0" anchor="ctr"/>
          <a:lstStyle/>
          <a:p>
            <a:pPr marL="0" indent="0" algn="r">
              <a:buNone/>
            </a:pPr>
            <a:r>
              <a:rPr lang="en-US" sz="900" dirty="0">
                <a:solidFill>
                  <a:srgbClr val="B2EAE8"/>
                </a:solidFill>
                <a:latin typeface="Calibri" pitchFamily="34" charset="0"/>
                <a:ea typeface="Calibri" pitchFamily="34" charset="-122"/>
                <a:cs typeface="Calibri" pitchFamily="34" charset="-120"/>
              </a:rPr>
              <a:t>15 / 16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28090"/>
        </a:solidFill>
        <a:effectLst/>
      </p:bgPr>
    </p:bg>
    <p:spTree>
      <p:nvGrpSpPr>
        <p:cNvPr id="1" name=""/>
        <p:cNvGrpSpPr/>
        <p:nvPr/>
      </p:nvGrpSpPr>
      <p:grpSpPr>
        <a:xfrm>
          <a:off x="0" y="0"/>
          <a:ext cx="0" cy="0"/>
          <a:chOff x="0" y="0"/>
          <a:chExt cx="0" cy="0"/>
        </a:xfrm>
      </p:grpSpPr>
      <p:sp>
        <p:nvSpPr>
          <p:cNvPr id="2" name="Shape 0"/>
          <p:cNvSpPr/>
          <p:nvPr/>
        </p:nvSpPr>
        <p:spPr>
          <a:xfrm>
            <a:off x="-914400" y="2286000"/>
            <a:ext cx="4572000" cy="4572000"/>
          </a:xfrm>
          <a:prstGeom prst="ellipse">
            <a:avLst/>
          </a:prstGeom>
          <a:solidFill>
            <a:srgbClr val="02C39A">
              <a:alpha val="12000"/>
            </a:srgbClr>
          </a:solidFill>
          <a:ln w="12700">
            <a:solidFill>
              <a:srgbClr val="02C39A"/>
            </a:solidFill>
            <a:prstDash val="solid"/>
          </a:ln>
        </p:spPr>
        <p:txBody>
          <a:bodyPr/>
          <a:lstStyle/>
          <a:p>
            <a:endParaRPr lang="en-US"/>
          </a:p>
        </p:txBody>
      </p:sp>
      <p:sp>
        <p:nvSpPr>
          <p:cNvPr id="3" name="Shape 1"/>
          <p:cNvSpPr/>
          <p:nvPr/>
        </p:nvSpPr>
        <p:spPr>
          <a:xfrm>
            <a:off x="6858000" y="-914400"/>
            <a:ext cx="3200400" cy="3200400"/>
          </a:xfrm>
          <a:prstGeom prst="ellipse">
            <a:avLst/>
          </a:prstGeom>
          <a:solidFill>
            <a:srgbClr val="00A896">
              <a:alpha val="15000"/>
            </a:srgbClr>
          </a:solidFill>
          <a:ln w="12700">
            <a:solidFill>
              <a:srgbClr val="00A896"/>
            </a:solidFill>
            <a:prstDash val="solid"/>
          </a:ln>
        </p:spPr>
        <p:txBody>
          <a:bodyPr/>
          <a:lstStyle/>
          <a:p>
            <a:endParaRPr lang="en-US"/>
          </a:p>
        </p:txBody>
      </p:sp>
      <p:sp>
        <p:nvSpPr>
          <p:cNvPr id="4" name="Text 2"/>
          <p:cNvSpPr/>
          <p:nvPr/>
        </p:nvSpPr>
        <p:spPr>
          <a:xfrm>
            <a:off x="914400" y="914400"/>
            <a:ext cx="7315200" cy="274320"/>
          </a:xfrm>
          <a:prstGeom prst="rect">
            <a:avLst/>
          </a:prstGeom>
          <a:noFill/>
          <a:ln/>
        </p:spPr>
        <p:txBody>
          <a:bodyPr wrap="square" lIns="0" tIns="0" rIns="0" bIns="0" rtlCol="0" anchor="ctr"/>
          <a:lstStyle/>
          <a:p>
            <a:pPr marL="0" indent="0" algn="ctr">
              <a:buNone/>
            </a:pPr>
            <a:r>
              <a:rPr lang="en-US" sz="1000" b="1" kern="0" spc="500" dirty="0">
                <a:solidFill>
                  <a:srgbClr val="02C39A"/>
                </a:solidFill>
                <a:latin typeface="Calibri" pitchFamily="34" charset="0"/>
                <a:ea typeface="Calibri" pitchFamily="34" charset="-122"/>
                <a:cs typeface="Calibri" pitchFamily="34" charset="-120"/>
              </a:rPr>
              <a:t>NEXT STEPS</a:t>
            </a:r>
            <a:endParaRPr lang="en-US" sz="1000" dirty="0"/>
          </a:p>
        </p:txBody>
      </p:sp>
      <p:sp>
        <p:nvSpPr>
          <p:cNvPr id="5" name="Text 3"/>
          <p:cNvSpPr/>
          <p:nvPr/>
        </p:nvSpPr>
        <p:spPr>
          <a:xfrm>
            <a:off x="914400" y="1280160"/>
            <a:ext cx="7315200" cy="1371600"/>
          </a:xfrm>
          <a:prstGeom prst="rect">
            <a:avLst/>
          </a:prstGeom>
          <a:noFill/>
          <a:ln/>
        </p:spPr>
        <p:txBody>
          <a:bodyPr wrap="square" lIns="0" tIns="0" rIns="0" bIns="0"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Kickstart Autodesk MLOps and QE Pilot</a:t>
            </a:r>
            <a:endParaRPr lang="en-US" sz="3600" dirty="0"/>
          </a:p>
        </p:txBody>
      </p:sp>
      <p:sp>
        <p:nvSpPr>
          <p:cNvPr id="6" name="Text 4"/>
          <p:cNvSpPr/>
          <p:nvPr/>
        </p:nvSpPr>
        <p:spPr>
          <a:xfrm>
            <a:off x="1371600" y="2743200"/>
            <a:ext cx="6400800" cy="548640"/>
          </a:xfrm>
          <a:prstGeom prst="rect">
            <a:avLst/>
          </a:prstGeom>
          <a:noFill/>
          <a:ln/>
        </p:spPr>
        <p:txBody>
          <a:bodyPr wrap="square" lIns="0" tIns="0" rIns="0" bIns="0" rtlCol="0" anchor="ctr"/>
          <a:lstStyle/>
          <a:p>
            <a:pPr marL="0" indent="0" algn="ctr">
              <a:buNone/>
            </a:pPr>
            <a:r>
              <a:rPr lang="en-US" sz="1600" dirty="0">
                <a:solidFill>
                  <a:srgbClr val="B2EAE8"/>
                </a:solidFill>
                <a:latin typeface="Calibri" pitchFamily="34" charset="0"/>
                <a:ea typeface="Calibri" pitchFamily="34" charset="-122"/>
                <a:cs typeface="Calibri" pitchFamily="34" charset="-120"/>
              </a:rPr>
              <a:t>Book a 60-90 min scope workshop; launch a 6-8 week pilot.</a:t>
            </a:r>
            <a:endParaRPr lang="en-US" sz="1600" dirty="0"/>
          </a:p>
        </p:txBody>
      </p:sp>
      <p:sp>
        <p:nvSpPr>
          <p:cNvPr id="7" name="Shape 5"/>
          <p:cNvSpPr/>
          <p:nvPr/>
        </p:nvSpPr>
        <p:spPr>
          <a:xfrm>
            <a:off x="3291840" y="3520440"/>
            <a:ext cx="2560320" cy="548640"/>
          </a:xfrm>
          <a:prstGeom prst="roundRect">
            <a:avLst>
              <a:gd name="adj" fmla="val 16667"/>
            </a:avLst>
          </a:prstGeom>
          <a:solidFill>
            <a:srgbClr val="02C39A"/>
          </a:solidFill>
          <a:ln w="12700">
            <a:solidFill>
              <a:srgbClr val="02C39A"/>
            </a:solidFill>
            <a:prstDash val="solid"/>
          </a:ln>
        </p:spPr>
        <p:txBody>
          <a:bodyPr/>
          <a:lstStyle/>
          <a:p>
            <a:endParaRPr lang="en-US"/>
          </a:p>
        </p:txBody>
      </p:sp>
      <p:sp>
        <p:nvSpPr>
          <p:cNvPr id="8" name="Text 6"/>
          <p:cNvSpPr/>
          <p:nvPr/>
        </p:nvSpPr>
        <p:spPr>
          <a:xfrm>
            <a:off x="3291840" y="3520440"/>
            <a:ext cx="2560320" cy="548640"/>
          </a:xfrm>
          <a:prstGeom prst="rect">
            <a:avLst/>
          </a:prstGeom>
          <a:noFill/>
          <a:ln/>
        </p:spPr>
        <p:txBody>
          <a:bodyPr wrap="square" lIns="0" tIns="0" rIns="0" bIns="0" rtlCol="0" anchor="ctr"/>
          <a:lstStyle/>
          <a:p>
            <a:pPr marL="0" indent="0" algn="ctr">
              <a:buNone/>
            </a:pPr>
            <a:r>
              <a:rPr lang="en-US" sz="1400" b="1" dirty="0">
                <a:solidFill>
                  <a:srgbClr val="028090"/>
                </a:solidFill>
                <a:latin typeface="Calibri" pitchFamily="34" charset="0"/>
                <a:ea typeface="Calibri" pitchFamily="34" charset="-122"/>
                <a:cs typeface="Calibri" pitchFamily="34" charset="-120"/>
              </a:rPr>
              <a:t>Let's Talk  →</a:t>
            </a:r>
            <a:endParaRPr lang="en-US" sz="1400" dirty="0"/>
          </a:p>
        </p:txBody>
      </p:sp>
      <p:sp>
        <p:nvSpPr>
          <p:cNvPr id="9" name="Text 7"/>
          <p:cNvSpPr/>
          <p:nvPr/>
        </p:nvSpPr>
        <p:spPr>
          <a:xfrm>
            <a:off x="8412480" y="4526280"/>
            <a:ext cx="548640" cy="182880"/>
          </a:xfrm>
          <a:prstGeom prst="rect">
            <a:avLst/>
          </a:prstGeom>
          <a:noFill/>
          <a:ln/>
        </p:spPr>
        <p:txBody>
          <a:bodyPr wrap="square" rtlCol="0" anchor="ctr"/>
          <a:lstStyle/>
          <a:p>
            <a:pPr marL="0" indent="0" algn="r">
              <a:buNone/>
            </a:pPr>
            <a:r>
              <a:rPr lang="en-US" sz="900" dirty="0">
                <a:solidFill>
                  <a:srgbClr val="B2EAE8"/>
                </a:solidFill>
                <a:latin typeface="Calibri" pitchFamily="34" charset="0"/>
                <a:ea typeface="Calibri" pitchFamily="34" charset="-122"/>
                <a:cs typeface="Calibri" pitchFamily="34" charset="-120"/>
              </a:rPr>
              <a:t>16 / 16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1981</Words>
  <Application>Microsoft Macintosh PowerPoint</Application>
  <PresentationFormat>On-screen Show (16:9)</PresentationFormat>
  <Paragraphs>181</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Autodesk AI/ML Platform Acceleration Proposal</dc:title>
  <dc:subject>PptxGenJS Presentation</dc:subject>
  <dc:creator>Sales Brain</dc:creator>
  <cp:lastModifiedBy>Bhavya Singhal</cp:lastModifiedBy>
  <cp:revision>2</cp:revision>
  <dcterms:created xsi:type="dcterms:W3CDTF">2026-06-22T06:28:38Z</dcterms:created>
  <dcterms:modified xsi:type="dcterms:W3CDTF">2026-06-22T06:33:13Z</dcterms:modified>
</cp:coreProperties>
</file>