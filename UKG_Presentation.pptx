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align on UKG’s challenges and AI/ML vision, then map our approach across MLOps, SRE, and CI/CD. I’ll share proof, including 78% faster regression cycles and zero-production-defect releases, before we cover the plan, pricing,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UKG is advancing workforce analytics and automation, but production-grade MLOps across clouds and consistent SRE/CI/CD practices remain uneven. You also need high availability and low latency, backed by robust automated and performance testing to cut defects and move faster. We’re zeroed in on these pain points to align with your reality.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we’ll unlock predictive workforce insights at UKG: a unified MLOps and SRE backbone—pipelines, feature store, registry, QA, CI/CD, and monitoring—built for scale. We roll out governed models and GenAI HR assistants safely, while our CI/CD-integrated QA and SRE practices improve reliability, latency, and release velocity.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anchor reliability with SRE—clear SLIs/SLOs, error budgets, and autoscaling—while hardening with chaos and performance testing for low latency. On speed, our CI/CD with Selenium, TestNG, and Jenkins enables shift-left QA and trunk-based releases; UKG already saw 78% faster regression cycles and three consecutive zero-defect go-lives. This lets us scale AI/ML safely across multi-cloud and accelerate predictive workforce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UKG, we embedded QA automation into CI/CD and added SRE guardrails. That delivered 78% faster regression cycles and zero production defects across three consecutive releases. We also operationalized MLOps for predictive workforce analytics to boost reliability and release velocity.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lead with AI/ML and production-grade MLOps to elevate predictive workforce analytics, while SRE and CI/CD harden reliability and efficiency. This phased plan reduces risk - pilots prove value before we scale, with weekly OKRs steering each workstream. We'll track uptime, latency, model performance, release velocity, and escaped defects to prove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kept this simple: three tiers that match your scope and maturity. Core and Plus provide 8–15 FTEs with managed QE to accelerate AI/MLOps, while Managed Service delivers outcomes across SRE, testing, and automation. We’ll finalize pricing after the workshop and lock in outcome-based SLAs for quality, reliability, and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aligns, let's lock the scoping workshop for next week. We'll confirm decision owners and approvals, finalize scope and milestones, and set the kickoff date. Our team can mobilize within two weeks for UKG, with AI/MLOps focus backed by proven QA and SRE.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8090"/>
        </a:solidFill>
      </p:bgPr>
    </p:bg>
    <p:spTree>
      <p:nvGrpSpPr>
        <p:cNvPr id="1" name=""/>
        <p:cNvGrpSpPr/>
        <p:nvPr/>
      </p:nvGrpSpPr>
      <p:grpSpPr>
        <a:xfrm>
          <a:off x="0" y="0"/>
          <a:ext cx="0" cy="0"/>
          <a:chOff x="0" y="0"/>
          <a:chExt cx="0" cy="0"/>
        </a:xfrm>
      </p:grpSpPr>
      <p:sp>
        <p:nvSpPr>
          <p:cNvPr id="2" name="Text 0"/>
          <p:cNvSpPr/>
          <p:nvPr/>
        </p:nvSpPr>
        <p:spPr>
          <a:xfrm>
            <a:off x="548640" y="1280160"/>
            <a:ext cx="8046720" cy="1463040"/>
          </a:xfrm>
          <a:prstGeom prst="rect">
            <a:avLst/>
          </a:prstGeom>
          <a:noFill/>
          <a:ln/>
        </p:spPr>
        <p:txBody>
          <a:bodyPr wrap="square" lIns="0" tIns="0" rIns="0" bIns="0" rtlCol="0" anchor="ctr"/>
          <a:lstStyle/>
          <a:p>
            <a:pPr algn="l" indent="0" marL="0">
              <a:buNone/>
            </a:pPr>
            <a:r>
              <a:rPr lang="en-US" sz="4400" b="1" dirty="0">
                <a:solidFill>
                  <a:srgbClr val="FFFFFF"/>
                </a:solidFill>
                <a:latin typeface="Cambria" pitchFamily="34" charset="0"/>
                <a:ea typeface="Cambria" pitchFamily="34" charset="-122"/>
                <a:cs typeface="Cambria" pitchFamily="34" charset="-120"/>
              </a:rPr>
              <a:t>AI/MLOps Acceleration for UKG</a:t>
            </a:r>
            <a:endParaRPr lang="en-US" sz="4400" dirty="0"/>
          </a:p>
        </p:txBody>
      </p:sp>
      <p:sp>
        <p:nvSpPr>
          <p:cNvPr id="3" name="Text 1"/>
          <p:cNvSpPr/>
          <p:nvPr/>
        </p:nvSpPr>
        <p:spPr>
          <a:xfrm>
            <a:off x="548640" y="2834640"/>
            <a:ext cx="6400800" cy="731520"/>
          </a:xfrm>
          <a:prstGeom prst="rect">
            <a:avLst/>
          </a:prstGeom>
          <a:noFill/>
          <a:ln/>
        </p:spPr>
        <p:txBody>
          <a:bodyPr wrap="square" lIns="0" tIns="0" rIns="0" bIns="0" rtlCol="0" anchor="ctr"/>
          <a:lstStyle/>
          <a:p>
            <a:pPr algn="l" indent="0" marL="0">
              <a:buNone/>
            </a:pPr>
            <a:r>
              <a:rPr lang="en-US" sz="2000" dirty="0">
                <a:solidFill>
                  <a:srgbClr val="00A896"/>
                </a:solidFill>
                <a:latin typeface="Calibri" pitchFamily="34" charset="0"/>
                <a:ea typeface="Calibri" pitchFamily="34" charset="-122"/>
                <a:cs typeface="Calibri" pitchFamily="34" charset="-120"/>
              </a:rPr>
              <a:t>Accelerate AI-driven HR with CI/CD-integrated QA and SRE</a:t>
            </a:r>
            <a:endParaRPr lang="en-US" sz="2000" dirty="0"/>
          </a:p>
        </p:txBody>
      </p:sp>
      <p:sp>
        <p:nvSpPr>
          <p:cNvPr id="4" name="Shape 2"/>
          <p:cNvSpPr/>
          <p:nvPr/>
        </p:nvSpPr>
        <p:spPr>
          <a:xfrm>
            <a:off x="548640" y="4023360"/>
            <a:ext cx="2560320" cy="457200"/>
          </a:xfrm>
          <a:prstGeom prst="roundRect">
            <a:avLst>
              <a:gd name="adj" fmla="val 16000"/>
            </a:avLst>
          </a:prstGeom>
          <a:solidFill>
            <a:srgbClr val="02C39A"/>
          </a:solidFill>
          <a:ln/>
        </p:spPr>
      </p:sp>
      <p:sp>
        <p:nvSpPr>
          <p:cNvPr id="5" name="Text 3"/>
          <p:cNvSpPr/>
          <p:nvPr/>
        </p:nvSpPr>
        <p:spPr>
          <a:xfrm>
            <a:off x="548640" y="4023360"/>
            <a:ext cx="2560320" cy="457200"/>
          </a:xfrm>
          <a:prstGeom prst="rect">
            <a:avLst/>
          </a:prstGeom>
          <a:noFill/>
          <a:ln/>
        </p:spPr>
        <p:txBody>
          <a:bodyPr wrap="square" lIns="0" tIns="0" rIns="0" bIns="0" rtlCol="0" anchor="ctr"/>
          <a:lstStyle/>
          <a:p>
            <a:pPr algn="ctr" indent="0" marL="0">
              <a:buNone/>
            </a:pPr>
            <a:r>
              <a:rPr lang="en-US" sz="1200" b="1" dirty="0">
                <a:solidFill>
                  <a:srgbClr val="028090"/>
                </a:solidFill>
                <a:latin typeface="Calibri" pitchFamily="34" charset="0"/>
                <a:ea typeface="Calibri" pitchFamily="34" charset="-122"/>
                <a:cs typeface="Calibri" pitchFamily="34" charset="-120"/>
              </a:rPr>
              <a:t>Prepared for UKG</a:t>
            </a:r>
            <a:endParaRPr lang="en-US" sz="1200" dirty="0"/>
          </a:p>
        </p:txBody>
      </p:sp>
      <p:sp>
        <p:nvSpPr>
          <p:cNvPr id="6" name="Text 4"/>
          <p:cNvSpPr/>
          <p:nvPr/>
        </p:nvSpPr>
        <p:spPr>
          <a:xfrm>
            <a:off x="8046720" y="4663440"/>
            <a:ext cx="914400" cy="274320"/>
          </a:xfrm>
          <a:prstGeom prst="rect">
            <a:avLst/>
          </a:prstGeom>
          <a:noFill/>
          <a:ln/>
        </p:spPr>
        <p:txBody>
          <a:bodyPr wrap="square" rtlCol="0" anchor="ctr"/>
          <a:lstStyle/>
          <a:p>
            <a:pPr algn="r" indent="0" marL="0">
              <a:buNone/>
            </a:pPr>
            <a:r>
              <a:rPr lang="en-US" sz="1000" dirty="0">
                <a:solidFill>
                  <a:srgbClr val="00A896"/>
                </a:solidFill>
                <a:latin typeface="Calibri" pitchFamily="34" charset="0"/>
                <a:ea typeface="Calibri" pitchFamily="34" charset="-122"/>
                <a:cs typeface="Calibri" pitchFamily="34" charset="-120"/>
              </a:rPr>
              <a:t>1 / 11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AFA"/>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rgbClr val="028090"/>
                </a:solidFill>
                <a:latin typeface="Cambria" pitchFamily="34" charset="0"/>
                <a:ea typeface="Cambria" pitchFamily="34" charset="-122"/>
                <a:cs typeface="Cambria" pitchFamily="34" charset="-120"/>
              </a:rPr>
              <a:t>Today’s Agenda: Challenges, Vision, Proof, Plan</a:t>
            </a:r>
            <a:endParaRPr lang="en-US" sz="3000" dirty="0"/>
          </a:p>
        </p:txBody>
      </p:sp>
      <p:sp>
        <p:nvSpPr>
          <p:cNvPr id="3" name="Text 1"/>
          <p:cNvSpPr/>
          <p:nvPr/>
        </p:nvSpPr>
        <p:spPr>
          <a:xfrm>
            <a:off x="457200" y="1005840"/>
            <a:ext cx="8229600" cy="457200"/>
          </a:xfrm>
          <a:prstGeom prst="rect">
            <a:avLst/>
          </a:prstGeom>
          <a:noFill/>
          <a:ln/>
        </p:spPr>
        <p:txBody>
          <a:bodyPr wrap="square" lIns="0" tIns="0" rIns="0" bIns="0" rtlCol="0" anchor="ctr"/>
          <a:lstStyle/>
          <a:p>
            <a:pPr algn="l" indent="0" marL="0">
              <a:buNone/>
            </a:pPr>
            <a:r>
              <a:rPr lang="en-US" sz="1600" i="1" dirty="0">
                <a:solidFill>
                  <a:srgbClr val="374151"/>
                </a:solidFill>
                <a:latin typeface="Calibri" pitchFamily="34" charset="0"/>
                <a:ea typeface="Calibri" pitchFamily="34" charset="-122"/>
                <a:cs typeface="Calibri" pitchFamily="34" charset="-120"/>
              </a:rPr>
              <a:t>Roadmap for UKG’s executive conversation</a:t>
            </a:r>
            <a:endParaRPr lang="en-US" sz="1600" dirty="0"/>
          </a:p>
        </p:txBody>
      </p:sp>
      <p:sp>
        <p:nvSpPr>
          <p:cNvPr id="4" name="Text 2"/>
          <p:cNvSpPr/>
          <p:nvPr/>
        </p:nvSpPr>
        <p:spPr>
          <a:xfrm>
            <a:off x="457200" y="1600200"/>
            <a:ext cx="8229600" cy="3200400"/>
          </a:xfrm>
          <a:prstGeom prst="rect">
            <a:avLst/>
          </a:prstGeom>
          <a:noFill/>
          <a:ln/>
        </p:spPr>
        <p:txBody>
          <a:bodyPr wrap="square" rtlCol="0" anchor="t"/>
          <a:lstStyle/>
          <a:p>
            <a:pPr marL="342900" indent="-342900">
              <a:spcAft>
                <a:spcPts val="1000"/>
              </a:spcAft>
              <a:buSzPct val="100000"/>
              <a:buChar char="•"/>
            </a:pPr>
            <a:r>
              <a:rPr lang="en-US" sz="1800" dirty="0">
                <a:solidFill>
                  <a:srgbClr val="374151"/>
                </a:solidFill>
                <a:latin typeface="Calibri" pitchFamily="34" charset="0"/>
                <a:ea typeface="Calibri" pitchFamily="34" charset="-122"/>
                <a:cs typeface="Calibri" pitchFamily="34" charset="-120"/>
              </a:rPr>
              <a:t>Challenges at UKG and AI/ML vision</a:t>
            </a:r>
            <a:endParaRPr lang="en-US" sz="1800" dirty="0"/>
          </a:p>
          <a:p>
            <a:pPr marL="342900" indent="-342900">
              <a:spcAft>
                <a:spcPts val="1000"/>
              </a:spcAft>
              <a:buSzPct val="100000"/>
              <a:buChar char="•"/>
            </a:pPr>
            <a:r>
              <a:rPr lang="en-US" sz="1800" dirty="0">
                <a:solidFill>
                  <a:srgbClr val="374151"/>
                </a:solidFill>
                <a:latin typeface="Calibri" pitchFamily="34" charset="0"/>
                <a:ea typeface="Calibri" pitchFamily="34" charset="-122"/>
                <a:cs typeface="Calibri" pitchFamily="34" charset="-120"/>
              </a:rPr>
              <a:t>Solution overview: MLOps, SRE, CI/CD acceleration</a:t>
            </a:r>
            <a:endParaRPr lang="en-US" sz="1800" dirty="0"/>
          </a:p>
          <a:p>
            <a:pPr marL="342900" indent="-342900">
              <a:spcAft>
                <a:spcPts val="1000"/>
              </a:spcAft>
              <a:buSzPct val="100000"/>
              <a:buChar char="•"/>
            </a:pPr>
            <a:r>
              <a:rPr lang="en-US" sz="1800" dirty="0">
                <a:solidFill>
                  <a:srgbClr val="374151"/>
                </a:solidFill>
                <a:latin typeface="Calibri" pitchFamily="34" charset="0"/>
                <a:ea typeface="Calibri" pitchFamily="34" charset="-122"/>
                <a:cs typeface="Calibri" pitchFamily="34" charset="-120"/>
              </a:rPr>
              <a:t>Proof and case study: 78% faster regression cycles</a:t>
            </a:r>
            <a:endParaRPr lang="en-US" sz="1800" dirty="0"/>
          </a:p>
          <a:p>
            <a:pPr marL="342900" indent="-342900">
              <a:spcAft>
                <a:spcPts val="1000"/>
              </a:spcAft>
              <a:buSzPct val="100000"/>
              <a:buChar char="•"/>
            </a:pPr>
            <a:r>
              <a:rPr lang="en-US" sz="1800" dirty="0">
                <a:solidFill>
                  <a:srgbClr val="374151"/>
                </a:solidFill>
                <a:latin typeface="Calibri" pitchFamily="34" charset="0"/>
                <a:ea typeface="Calibri" pitchFamily="34" charset="-122"/>
                <a:cs typeface="Calibri" pitchFamily="34" charset="-120"/>
              </a:rPr>
              <a:t>Plan, pricing, and next steps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8090"/>
        </a:solidFill>
      </p:bgPr>
    </p:bg>
    <p:spTree>
      <p:nvGrpSpPr>
        <p:cNvPr id="1" name=""/>
        <p:cNvGrpSpPr/>
        <p:nvPr/>
      </p:nvGrpSpPr>
      <p:grpSpPr>
        <a:xfrm>
          <a:off x="0" y="0"/>
          <a:ext cx="0" cy="0"/>
          <a:chOff x="0" y="0"/>
          <a:chExt cx="0" cy="0"/>
        </a:xfrm>
      </p:grpSpPr>
      <p:sp>
        <p:nvSpPr>
          <p:cNvPr id="2" name="Text 0"/>
          <p:cNvSpPr/>
          <p:nvPr/>
        </p:nvSpPr>
        <p:spPr>
          <a:xfrm>
            <a:off x="548640" y="1645920"/>
            <a:ext cx="8046720" cy="1280160"/>
          </a:xfrm>
          <a:prstGeom prst="rect">
            <a:avLst/>
          </a:prstGeom>
          <a:noFill/>
          <a:ln/>
        </p:spPr>
        <p:txBody>
          <a:bodyPr wrap="square" lIns="0" tIns="0" rIns="0" bIns="0" rtlCol="0" anchor="ctr"/>
          <a:lstStyle/>
          <a:p>
            <a:pPr algn="l" indent="0" marL="0">
              <a:buNone/>
            </a:pPr>
            <a:r>
              <a:rPr lang="en-US" sz="3600" b="1" dirty="0">
                <a:solidFill>
                  <a:srgbClr val="FFFFFF"/>
                </a:solidFill>
                <a:latin typeface="Cambria" pitchFamily="34" charset="0"/>
                <a:ea typeface="Cambria" pitchFamily="34" charset="-122"/>
                <a:cs typeface="Cambria" pitchFamily="34" charset="-120"/>
              </a:rPr>
              <a:t>UKG’s Opportunity: Predictive Analytics, Velocity, Reliabili</a:t>
            </a:r>
            <a:endParaRPr lang="en-US" sz="3600" dirty="0"/>
          </a:p>
        </p:txBody>
      </p:sp>
      <p:sp>
        <p:nvSpPr>
          <p:cNvPr id="3" name="Text 1"/>
          <p:cNvSpPr/>
          <p:nvPr/>
        </p:nvSpPr>
        <p:spPr>
          <a:xfrm>
            <a:off x="548640" y="3017520"/>
            <a:ext cx="6400800" cy="548640"/>
          </a:xfrm>
          <a:prstGeom prst="rect">
            <a:avLst/>
          </a:prstGeom>
          <a:noFill/>
          <a:ln/>
        </p:spPr>
        <p:txBody>
          <a:bodyPr wrap="square" lIns="0" tIns="0" rIns="0" bIns="0" rtlCol="0" anchor="ctr"/>
          <a:lstStyle/>
          <a:p>
            <a:pPr algn="l" indent="0" marL="0">
              <a:buNone/>
            </a:pPr>
            <a:r>
              <a:rPr lang="en-US" sz="1800" dirty="0">
                <a:solidFill>
                  <a:srgbClr val="00A896"/>
                </a:solidFill>
                <a:latin typeface="Calibri" pitchFamily="34" charset="0"/>
                <a:ea typeface="Calibri" pitchFamily="34" charset="-122"/>
                <a:cs typeface="Calibri" pitchFamily="34" charset="-120"/>
              </a:rPr>
              <a:t>ty. AI/ML with MLOps to scale insights and releases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AFA"/>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2C39A"/>
          </a:solidFill>
          <a:ln/>
        </p:spPr>
      </p:sp>
      <p:sp>
        <p:nvSpPr>
          <p:cNvPr id="3" name="Text 1"/>
          <p:cNvSpPr/>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028090"/>
                </a:solidFill>
                <a:latin typeface="Cambria" pitchFamily="34" charset="0"/>
                <a:ea typeface="Cambria" pitchFamily="34" charset="-122"/>
                <a:cs typeface="Cambria" pitchFamily="34" charset="-120"/>
              </a:rPr>
              <a:t>UKG Production MLOps and Reliability Gaps</a:t>
            </a:r>
            <a:endParaRPr lang="en-US" sz="2800" dirty="0"/>
          </a:p>
        </p:txBody>
      </p:sp>
      <p:sp>
        <p:nvSpPr>
          <p:cNvPr id="4" name="Text 2"/>
          <p:cNvSpPr/>
          <p:nvPr/>
        </p:nvSpPr>
        <p:spPr>
          <a:xfrm>
            <a:off x="457200" y="1097280"/>
            <a:ext cx="4114800" cy="3200400"/>
          </a:xfrm>
          <a:prstGeom prst="rect">
            <a:avLst/>
          </a:prstGeom>
          <a:noFill/>
          <a:ln/>
        </p:spPr>
        <p:txBody>
          <a:bodyPr wrap="square" rtlCol="0" anchor="t"/>
          <a:lstStyle/>
          <a:p>
            <a:pPr marL="342900" indent="-342900">
              <a:spcAft>
                <a:spcPts val="800"/>
              </a:spcAft>
              <a:buSzPct val="100000"/>
              <a:buChar char="•"/>
            </a:pPr>
            <a:r>
              <a:rPr lang="en-US" sz="1600" dirty="0">
                <a:solidFill>
                  <a:srgbClr val="374151"/>
                </a:solidFill>
                <a:latin typeface="Calibri" pitchFamily="34" charset="0"/>
                <a:ea typeface="Calibri" pitchFamily="34" charset="-122"/>
                <a:cs typeface="Calibri" pitchFamily="34" charset="-120"/>
              </a:rPr>
              <a:t>Production-scale MLOps across multi-cloud remains fragmented and manual.</a:t>
            </a:r>
            <a:endParaRPr lang="en-US" sz="1600" dirty="0"/>
          </a:p>
          <a:p>
            <a:pPr marL="342900" indent="-342900">
              <a:spcAft>
                <a:spcPts val="800"/>
              </a:spcAft>
              <a:buSzPct val="100000"/>
              <a:buChar char="•"/>
            </a:pPr>
            <a:r>
              <a:rPr lang="en-US" sz="1600" dirty="0">
                <a:solidFill>
                  <a:srgbClr val="374151"/>
                </a:solidFill>
                <a:latin typeface="Calibri" pitchFamily="34" charset="0"/>
                <a:ea typeface="Calibri" pitchFamily="34" charset="-122"/>
                <a:cs typeface="Calibri" pitchFamily="34" charset="-120"/>
              </a:rPr>
              <a:t>SRE and CI/CD maturity gaps hinder reliability and rollout velocity.</a:t>
            </a:r>
            <a:endParaRPr lang="en-US" sz="1600" dirty="0"/>
          </a:p>
          <a:p>
            <a:pPr marL="342900" indent="-342900">
              <a:spcAft>
                <a:spcPts val="800"/>
              </a:spcAft>
              <a:buSzPct val="100000"/>
              <a:buChar char="•"/>
            </a:pPr>
            <a:r>
              <a:rPr lang="en-US" sz="1600" dirty="0">
                <a:solidFill>
                  <a:srgbClr val="374151"/>
                </a:solidFill>
                <a:latin typeface="Calibri" pitchFamily="34" charset="0"/>
                <a:ea typeface="Calibri" pitchFamily="34" charset="-122"/>
                <a:cs typeface="Calibri" pitchFamily="34" charset="-120"/>
              </a:rPr>
              <a:t>High availability and low latency required for workforce analytics workloads.</a:t>
            </a:r>
            <a:endParaRPr lang="en-US" sz="1600" dirty="0"/>
          </a:p>
        </p:txBody>
      </p:sp>
      <p:sp>
        <p:nvSpPr>
          <p:cNvPr id="5" name="Shape 3"/>
          <p:cNvSpPr/>
          <p:nvPr/>
        </p:nvSpPr>
        <p:spPr>
          <a:xfrm>
            <a:off x="5029200" y="1097280"/>
            <a:ext cx="3657600" cy="2286000"/>
          </a:xfrm>
          <a:prstGeom prst="roundRect">
            <a:avLst/>
          </a:prstGeom>
          <a:solidFill>
            <a:srgbClr val="000000"/>
          </a:solidFill>
          <a:ln/>
          <a:effectLst>
            <a:outerShdw sx="100000" sy="100000" kx="0" ky="0" algn="bl" rotWithShape="0" blurRad="101600" dist="38100" dir="2700000">
              <a:srgbClr val="000000">
                <a:alpha val="10000"/>
              </a:srgbClr>
            </a:outerShdw>
          </a:effectLst>
        </p:spPr>
      </p:sp>
      <p:sp>
        <p:nvSpPr>
          <p:cNvPr id="6" name="Text 4"/>
          <p:cNvSpPr/>
          <p:nvPr/>
        </p:nvSpPr>
        <p:spPr>
          <a:xfrm>
            <a:off x="5029200" y="1371600"/>
            <a:ext cx="3657600" cy="1097280"/>
          </a:xfrm>
          <a:prstGeom prst="rect">
            <a:avLst/>
          </a:prstGeom>
          <a:noFill/>
          <a:ln/>
        </p:spPr>
        <p:txBody>
          <a:bodyPr wrap="square" lIns="0" tIns="0" rIns="0" bIns="0" rtlCol="0" anchor="ctr"/>
          <a:lstStyle/>
          <a:p>
            <a:pPr algn="ctr" indent="0" marL="0">
              <a:buNone/>
            </a:pPr>
            <a:r>
              <a:rPr lang="en-US" sz="6400" b="1" dirty="0">
                <a:solidFill>
                  <a:srgbClr val="02C39A"/>
                </a:solidFill>
                <a:latin typeface="Cambria" pitchFamily="34" charset="0"/>
                <a:ea typeface="Cambria" pitchFamily="34" charset="-122"/>
                <a:cs typeface="Cambria" pitchFamily="34" charset="-120"/>
              </a:rPr>
              <a:t>85%</a:t>
            </a:r>
            <a:endParaRPr lang="en-US" sz="6400" dirty="0"/>
          </a:p>
        </p:txBody>
      </p:sp>
      <p:sp>
        <p:nvSpPr>
          <p:cNvPr id="7" name="Text 5"/>
          <p:cNvSpPr/>
          <p:nvPr/>
        </p:nvSpPr>
        <p:spPr>
          <a:xfrm>
            <a:off x="5029200" y="2560320"/>
            <a:ext cx="3657600" cy="548640"/>
          </a:xfrm>
          <a:prstGeom prst="rect">
            <a:avLst/>
          </a:prstGeom>
          <a:noFill/>
          <a:ln/>
        </p:spPr>
        <p:txBody>
          <a:bodyPr wrap="square" lIns="0" tIns="0" rIns="0" bIns="0" rtlCol="0" anchor="ctr"/>
          <a:lstStyle/>
          <a:p>
            <a:pPr algn="ctr" indent="0" marL="0">
              <a:buNone/>
            </a:pPr>
            <a:r>
              <a:rPr lang="en-US" sz="1400" dirty="0">
                <a:solidFill>
                  <a:srgbClr val="374151"/>
                </a:solidFill>
                <a:latin typeface="Calibri" pitchFamily="34" charset="0"/>
                <a:ea typeface="Calibri" pitchFamily="34" charset="-122"/>
                <a:cs typeface="Calibri" pitchFamily="34" charset="-120"/>
              </a:rPr>
              <a:t>alignment with UKG priorities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AFA"/>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2C39A"/>
          </a:solidFill>
          <a:ln/>
        </p:spPr>
      </p:sp>
      <p:sp>
        <p:nvSpPr>
          <p:cNvPr id="3" name="Text 1"/>
          <p:cNvSpPr/>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028090"/>
                </a:solidFill>
                <a:latin typeface="Cambria" pitchFamily="34" charset="0"/>
                <a:ea typeface="Cambria" pitchFamily="34" charset="-122"/>
                <a:cs typeface="Cambria" pitchFamily="34" charset="-120"/>
              </a:rPr>
              <a:t>Unified AI/ML MLOps for Predictive Workforce Analytics</a:t>
            </a:r>
            <a:endParaRPr lang="en-US" sz="2800" dirty="0"/>
          </a:p>
        </p:txBody>
      </p:sp>
      <p:sp>
        <p:nvSpPr>
          <p:cNvPr id="4" name="Text 2"/>
          <p:cNvSpPr/>
          <p:nvPr/>
        </p:nvSpPr>
        <p:spPr>
          <a:xfrm>
            <a:off x="457200" y="1097280"/>
            <a:ext cx="4114800" cy="3200400"/>
          </a:xfrm>
          <a:prstGeom prst="rect">
            <a:avLst/>
          </a:prstGeom>
          <a:noFill/>
          <a:ln/>
        </p:spPr>
        <p:txBody>
          <a:bodyPr wrap="square" rtlCol="0" anchor="t"/>
          <a:lstStyle/>
          <a:p>
            <a:pPr marL="342900" indent="-342900">
              <a:spcAft>
                <a:spcPts val="800"/>
              </a:spcAft>
              <a:buSzPct val="100000"/>
              <a:buChar char="•"/>
            </a:pPr>
            <a:r>
              <a:rPr lang="en-US" sz="1600" dirty="0">
                <a:solidFill>
                  <a:srgbClr val="374151"/>
                </a:solidFill>
                <a:latin typeface="Calibri" pitchFamily="34" charset="0"/>
                <a:ea typeface="Calibri" pitchFamily="34" charset="-122"/>
                <a:cs typeface="Calibri" pitchFamily="34" charset="-120"/>
              </a:rPr>
              <a:t>Unified MLOps and SRE: pipelines, feature store, registry, QA, CI/CD, monitoring</a:t>
            </a:r>
            <a:endParaRPr lang="en-US" sz="1600" dirty="0"/>
          </a:p>
          <a:p>
            <a:pPr marL="342900" indent="-342900">
              <a:spcAft>
                <a:spcPts val="800"/>
              </a:spcAft>
              <a:buSzPct val="100000"/>
              <a:buChar char="•"/>
            </a:pPr>
            <a:r>
              <a:rPr lang="en-US" sz="1600" dirty="0">
                <a:solidFill>
                  <a:srgbClr val="374151"/>
                </a:solidFill>
                <a:latin typeface="Calibri" pitchFamily="34" charset="0"/>
                <a:ea typeface="Calibri" pitchFamily="34" charset="-122"/>
                <a:cs typeface="Calibri" pitchFamily="34" charset="-120"/>
              </a:rPr>
              <a:t>Predictive workforce analytics embedded across HCM and WFM workflows</a:t>
            </a:r>
            <a:endParaRPr lang="en-US" sz="1600" dirty="0"/>
          </a:p>
          <a:p>
            <a:pPr marL="342900" indent="-342900">
              <a:spcAft>
                <a:spcPts val="800"/>
              </a:spcAft>
              <a:buSzPct val="100000"/>
              <a:buChar char="•"/>
            </a:pPr>
            <a:r>
              <a:rPr lang="en-US" sz="1600" dirty="0">
                <a:solidFill>
                  <a:srgbClr val="374151"/>
                </a:solidFill>
                <a:latin typeface="Calibri" pitchFamily="34" charset="0"/>
                <a:ea typeface="Calibri" pitchFamily="34" charset="-122"/>
                <a:cs typeface="Calibri" pitchFamily="34" charset="-120"/>
              </a:rPr>
              <a:t>Governed rollout, model risk controls, audit-ready lineage</a:t>
            </a:r>
            <a:endParaRPr lang="en-US" sz="1600" dirty="0"/>
          </a:p>
        </p:txBody>
      </p:sp>
      <p:sp>
        <p:nvSpPr>
          <p:cNvPr id="5" name="Shape 3"/>
          <p:cNvSpPr/>
          <p:nvPr/>
        </p:nvSpPr>
        <p:spPr>
          <a:xfrm>
            <a:off x="5029200" y="1097280"/>
            <a:ext cx="3657600" cy="2286000"/>
          </a:xfrm>
          <a:prstGeom prst="roundRect">
            <a:avLst/>
          </a:prstGeom>
          <a:solidFill>
            <a:srgbClr val="000000"/>
          </a:solidFill>
          <a:ln/>
          <a:effectLst>
            <a:outerShdw sx="100000" sy="100000" kx="0" ky="0" algn="bl" rotWithShape="0" blurRad="101600" dist="38100" dir="2700000">
              <a:srgbClr val="000000">
                <a:alpha val="10000"/>
              </a:srgbClr>
            </a:outerShdw>
          </a:effectLst>
        </p:spPr>
      </p:sp>
      <p:sp>
        <p:nvSpPr>
          <p:cNvPr id="6" name="Text 4"/>
          <p:cNvSpPr/>
          <p:nvPr/>
        </p:nvSpPr>
        <p:spPr>
          <a:xfrm>
            <a:off x="5029200" y="1371600"/>
            <a:ext cx="3657600" cy="1097280"/>
          </a:xfrm>
          <a:prstGeom prst="rect">
            <a:avLst/>
          </a:prstGeom>
          <a:noFill/>
          <a:ln/>
        </p:spPr>
        <p:txBody>
          <a:bodyPr wrap="square" lIns="0" tIns="0" rIns="0" bIns="0" rtlCol="0" anchor="ctr"/>
          <a:lstStyle/>
          <a:p>
            <a:pPr algn="ctr" indent="0" marL="0">
              <a:buNone/>
            </a:pPr>
            <a:r>
              <a:rPr lang="en-US" sz="6400" b="1" dirty="0">
                <a:solidFill>
                  <a:srgbClr val="02C39A"/>
                </a:solidFill>
                <a:latin typeface="Cambria" pitchFamily="34" charset="0"/>
                <a:ea typeface="Cambria" pitchFamily="34" charset="-122"/>
                <a:cs typeface="Cambria" pitchFamily="34" charset="-120"/>
              </a:rPr>
              <a:t>78%</a:t>
            </a:r>
            <a:endParaRPr lang="en-US" sz="6400" dirty="0"/>
          </a:p>
        </p:txBody>
      </p:sp>
      <p:sp>
        <p:nvSpPr>
          <p:cNvPr id="7" name="Text 5"/>
          <p:cNvSpPr/>
          <p:nvPr/>
        </p:nvSpPr>
        <p:spPr>
          <a:xfrm>
            <a:off x="5029200" y="2560320"/>
            <a:ext cx="3657600" cy="548640"/>
          </a:xfrm>
          <a:prstGeom prst="rect">
            <a:avLst/>
          </a:prstGeom>
          <a:noFill/>
          <a:ln/>
        </p:spPr>
        <p:txBody>
          <a:bodyPr wrap="square" lIns="0" tIns="0" rIns="0" bIns="0" rtlCol="0" anchor="ctr"/>
          <a:lstStyle/>
          <a:p>
            <a:pPr algn="ctr" indent="0" marL="0">
              <a:buNone/>
            </a:pPr>
            <a:r>
              <a:rPr lang="en-US" sz="1400" dirty="0">
                <a:solidFill>
                  <a:srgbClr val="374151"/>
                </a:solidFill>
                <a:latin typeface="Calibri" pitchFamily="34" charset="0"/>
                <a:ea typeface="Calibri" pitchFamily="34" charset="-122"/>
                <a:cs typeface="Calibri" pitchFamily="34" charset="-120"/>
              </a:rPr>
              <a:t>faster regression cycles at UKG</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AFA"/>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2C39A"/>
          </a:solidFill>
          <a:ln/>
        </p:spPr>
      </p:sp>
      <p:sp>
        <p:nvSpPr>
          <p:cNvPr id="3" name="Text 1"/>
          <p:cNvSpPr/>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028090"/>
                </a:solidFill>
                <a:latin typeface="Cambria" pitchFamily="34" charset="0"/>
                <a:ea typeface="Cambria" pitchFamily="34" charset="-122"/>
                <a:cs typeface="Cambria" pitchFamily="34" charset="-120"/>
              </a:rPr>
              <a:t>Scale Reliability And Velocity With SRE + MLOps</a:t>
            </a:r>
            <a:endParaRPr lang="en-US" sz="2800" dirty="0"/>
          </a:p>
        </p:txBody>
      </p:sp>
      <p:sp>
        <p:nvSpPr>
          <p:cNvPr id="4" name="Text 2"/>
          <p:cNvSpPr/>
          <p:nvPr/>
        </p:nvSpPr>
        <p:spPr>
          <a:xfrm>
            <a:off x="457200" y="1097280"/>
            <a:ext cx="4114800" cy="3200400"/>
          </a:xfrm>
          <a:prstGeom prst="rect">
            <a:avLst/>
          </a:prstGeom>
          <a:noFill/>
          <a:ln/>
        </p:spPr>
        <p:txBody>
          <a:bodyPr wrap="square" rtlCol="0" anchor="t"/>
          <a:lstStyle/>
          <a:p>
            <a:pPr marL="342900" indent="-342900">
              <a:spcAft>
                <a:spcPts val="800"/>
              </a:spcAft>
              <a:buSzPct val="100000"/>
              <a:buChar char="•"/>
            </a:pPr>
            <a:r>
              <a:rPr lang="en-US" sz="1600" dirty="0">
                <a:solidFill>
                  <a:srgbClr val="374151"/>
                </a:solidFill>
                <a:latin typeface="Calibri" pitchFamily="34" charset="0"/>
                <a:ea typeface="Calibri" pitchFamily="34" charset="-122"/>
                <a:cs typeface="Calibri" pitchFamily="34" charset="-120"/>
              </a:rPr>
              <a:t>Production-grade MLOps for predictive analytics, multi-cloud pipelines and governance</a:t>
            </a:r>
            <a:endParaRPr lang="en-US" sz="1600" dirty="0"/>
          </a:p>
          <a:p>
            <a:pPr marL="342900" indent="-342900">
              <a:spcAft>
                <a:spcPts val="800"/>
              </a:spcAft>
              <a:buSzPct val="100000"/>
              <a:buChar char="•"/>
            </a:pPr>
            <a:r>
              <a:rPr lang="en-US" sz="1600" dirty="0">
                <a:solidFill>
                  <a:srgbClr val="374151"/>
                </a:solidFill>
                <a:latin typeface="Calibri" pitchFamily="34" charset="0"/>
                <a:ea typeface="Calibri" pitchFamily="34" charset="-122"/>
                <a:cs typeface="Calibri" pitchFamily="34" charset="-120"/>
              </a:rPr>
              <a:t>SRE with SLIs/SLOs, error budgets, autoscaling, chaos and performance testing</a:t>
            </a:r>
            <a:endParaRPr lang="en-US" sz="1600" dirty="0"/>
          </a:p>
          <a:p>
            <a:pPr marL="342900" indent="-342900">
              <a:spcAft>
                <a:spcPts val="800"/>
              </a:spcAft>
              <a:buSzPct val="100000"/>
              <a:buChar char="•"/>
            </a:pPr>
            <a:r>
              <a:rPr lang="en-US" sz="1600" dirty="0">
                <a:solidFill>
                  <a:srgbClr val="374151"/>
                </a:solidFill>
                <a:latin typeface="Calibri" pitchFamily="34" charset="0"/>
                <a:ea typeface="Calibri" pitchFamily="34" charset="-122"/>
                <a:cs typeface="Calibri" pitchFamily="34" charset="-120"/>
              </a:rPr>
              <a:t>CI/CD and QA automation: Selenium, TestNG, Jenkins; shift-left, trunk-based releases</a:t>
            </a:r>
            <a:endParaRPr lang="en-US" sz="1600" dirty="0"/>
          </a:p>
        </p:txBody>
      </p:sp>
      <p:sp>
        <p:nvSpPr>
          <p:cNvPr id="5" name="Shape 3"/>
          <p:cNvSpPr/>
          <p:nvPr/>
        </p:nvSpPr>
        <p:spPr>
          <a:xfrm>
            <a:off x="5029200" y="1097280"/>
            <a:ext cx="3657600" cy="2286000"/>
          </a:xfrm>
          <a:prstGeom prst="roundRect">
            <a:avLst/>
          </a:prstGeom>
          <a:solidFill>
            <a:srgbClr val="000000"/>
          </a:solidFill>
          <a:ln/>
          <a:effectLst>
            <a:outerShdw sx="100000" sy="100000" kx="0" ky="0" algn="bl" rotWithShape="0" blurRad="101600" dist="38100" dir="2700000">
              <a:srgbClr val="000000">
                <a:alpha val="10000"/>
              </a:srgbClr>
            </a:outerShdw>
          </a:effectLst>
        </p:spPr>
      </p:sp>
      <p:sp>
        <p:nvSpPr>
          <p:cNvPr id="6" name="Text 4"/>
          <p:cNvSpPr/>
          <p:nvPr/>
        </p:nvSpPr>
        <p:spPr>
          <a:xfrm>
            <a:off x="5029200" y="1371600"/>
            <a:ext cx="3657600" cy="1097280"/>
          </a:xfrm>
          <a:prstGeom prst="rect">
            <a:avLst/>
          </a:prstGeom>
          <a:noFill/>
          <a:ln/>
        </p:spPr>
        <p:txBody>
          <a:bodyPr wrap="square" lIns="0" tIns="0" rIns="0" bIns="0" rtlCol="0" anchor="ctr"/>
          <a:lstStyle/>
          <a:p>
            <a:pPr algn="ctr" indent="0" marL="0">
              <a:buNone/>
            </a:pPr>
            <a:r>
              <a:rPr lang="en-US" sz="6400" b="1" dirty="0">
                <a:solidFill>
                  <a:srgbClr val="02C39A"/>
                </a:solidFill>
                <a:latin typeface="Cambria" pitchFamily="34" charset="0"/>
                <a:ea typeface="Cambria" pitchFamily="34" charset="-122"/>
                <a:cs typeface="Cambria" pitchFamily="34" charset="-120"/>
              </a:rPr>
              <a:t>78%</a:t>
            </a:r>
            <a:endParaRPr lang="en-US" sz="6400" dirty="0"/>
          </a:p>
        </p:txBody>
      </p:sp>
      <p:sp>
        <p:nvSpPr>
          <p:cNvPr id="7" name="Text 5"/>
          <p:cNvSpPr/>
          <p:nvPr/>
        </p:nvSpPr>
        <p:spPr>
          <a:xfrm>
            <a:off x="5029200" y="2560320"/>
            <a:ext cx="3657600" cy="548640"/>
          </a:xfrm>
          <a:prstGeom prst="rect">
            <a:avLst/>
          </a:prstGeom>
          <a:noFill/>
          <a:ln/>
        </p:spPr>
        <p:txBody>
          <a:bodyPr wrap="square" lIns="0" tIns="0" rIns="0" bIns="0" rtlCol="0" anchor="ctr"/>
          <a:lstStyle/>
          <a:p>
            <a:pPr algn="ctr" indent="0" marL="0">
              <a:buNone/>
            </a:pPr>
            <a:r>
              <a:rPr lang="en-US" sz="1400" dirty="0">
                <a:solidFill>
                  <a:srgbClr val="374151"/>
                </a:solidFill>
                <a:latin typeface="Calibri" pitchFamily="34" charset="0"/>
                <a:ea typeface="Calibri" pitchFamily="34" charset="-122"/>
                <a:cs typeface="Calibri" pitchFamily="34" charset="-120"/>
              </a:rPr>
              <a:t>faster regression cycles at UKG</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AFA"/>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l" indent="0" marL="0">
              <a:buNone/>
            </a:pPr>
            <a:r>
              <a:rPr lang="en-US" sz="2800" b="1" dirty="0">
                <a:solidFill>
                  <a:srgbClr val="028090"/>
                </a:solidFill>
                <a:latin typeface="Cambria" pitchFamily="34" charset="0"/>
                <a:ea typeface="Cambria" pitchFamily="34" charset="-122"/>
                <a:cs typeface="Cambria" pitchFamily="34" charset="-120"/>
              </a:rPr>
              <a:t>UKG: Faster Releases, Zero Defects Case Study</a:t>
            </a:r>
            <a:endParaRPr lang="en-US" sz="2800" dirty="0"/>
          </a:p>
        </p:txBody>
      </p:sp>
      <p:sp>
        <p:nvSpPr>
          <p:cNvPr id="3" name="Shape 1"/>
          <p:cNvSpPr/>
          <p:nvPr/>
        </p:nvSpPr>
        <p:spPr>
          <a:xfrm>
            <a:off x="365760" y="1005840"/>
            <a:ext cx="8412480" cy="1645920"/>
          </a:xfrm>
          <a:prstGeom prst="roundRect">
            <a:avLst>
              <a:gd name="adj" fmla="val 5556"/>
            </a:avLst>
          </a:prstGeom>
          <a:solidFill>
            <a:srgbClr val="000000"/>
          </a:solidFill>
          <a:ln/>
          <a:effectLst>
            <a:outerShdw sx="100000" sy="100000" kx="0" ky="0" algn="bl" rotWithShape="0" blurRad="76200" dist="25400" dir="2700000">
              <a:srgbClr val="000000">
                <a:alpha val="8000"/>
              </a:srgbClr>
            </a:outerShdw>
          </a:effectLst>
        </p:spPr>
      </p:sp>
      <p:sp>
        <p:nvSpPr>
          <p:cNvPr id="4" name="Text 2"/>
          <p:cNvSpPr/>
          <p:nvPr/>
        </p:nvSpPr>
        <p:spPr>
          <a:xfrm>
            <a:off x="548640" y="1097280"/>
            <a:ext cx="8046720" cy="1463040"/>
          </a:xfrm>
          <a:prstGeom prst="rect">
            <a:avLst/>
          </a:prstGeom>
          <a:noFill/>
          <a:ln/>
        </p:spPr>
        <p:txBody>
          <a:bodyPr wrap="square" lIns="0" tIns="0" rIns="0" bIns="0" rtlCol="0" anchor="ctr"/>
          <a:lstStyle/>
          <a:p>
            <a:pPr indent="0" marL="0">
              <a:buNone/>
            </a:pPr>
            <a:r>
              <a:rPr lang="en-US" sz="1700" i="1" dirty="0">
                <a:solidFill>
                  <a:srgbClr val="374151"/>
                </a:solidFill>
                <a:latin typeface="Calibri" pitchFamily="34" charset="0"/>
                <a:ea typeface="Calibri" pitchFamily="34" charset="-122"/>
                <a:cs typeface="Calibri" pitchFamily="34" charset="-120"/>
              </a:rPr>
              <a:t>AI/ML MLOps, CI/CD QA, and SRE at scale</a:t>
            </a:r>
            <a:endParaRPr lang="en-US" sz="1700" dirty="0"/>
          </a:p>
        </p:txBody>
      </p:sp>
      <p:sp>
        <p:nvSpPr>
          <p:cNvPr id="5" name="Text 3"/>
          <p:cNvSpPr/>
          <p:nvPr/>
        </p:nvSpPr>
        <p:spPr>
          <a:xfrm>
            <a:off x="457200" y="2834640"/>
            <a:ext cx="8229600" cy="2011680"/>
          </a:xfrm>
          <a:prstGeom prst="rect">
            <a:avLst/>
          </a:prstGeom>
          <a:noFill/>
          <a:ln/>
        </p:spPr>
        <p:txBody>
          <a:bodyPr wrap="square" rtlCol="0" anchor="ctr"/>
          <a:lstStyle/>
          <a:p>
            <a:pPr marL="342900" indent="-342900">
              <a:spcAft>
                <a:spcPts val="800"/>
              </a:spcAft>
              <a:buSzPct val="100000"/>
              <a:buChar char="•"/>
            </a:pPr>
            <a:r>
              <a:rPr lang="en-US" sz="1500" dirty="0">
                <a:solidFill>
                  <a:srgbClr val="374151"/>
                </a:solidFill>
                <a:latin typeface="Calibri" pitchFamily="34" charset="0"/>
                <a:ea typeface="Calibri" pitchFamily="34" charset="-122"/>
                <a:cs typeface="Calibri" pitchFamily="34" charset="-120"/>
              </a:rPr>
              <a:t>78% faster regression cycles using Selenium, TestNG, Jenkins</a:t>
            </a:r>
            <a:endParaRPr lang="en-US" sz="1500" dirty="0"/>
          </a:p>
          <a:p>
            <a:pPr marL="342900" indent="-342900">
              <a:spcAft>
                <a:spcPts val="800"/>
              </a:spcAft>
              <a:buSzPct val="100000"/>
              <a:buChar char="•"/>
            </a:pPr>
            <a:r>
              <a:rPr lang="en-US" sz="1500" dirty="0">
                <a:solidFill>
                  <a:srgbClr val="374151"/>
                </a:solidFill>
                <a:latin typeface="Calibri" pitchFamily="34" charset="0"/>
                <a:ea typeface="Calibri" pitchFamily="34" charset="-122"/>
                <a:cs typeface="Calibri" pitchFamily="34" charset="-120"/>
              </a:rPr>
              <a:t>Zero production defects across three consecutive releases</a:t>
            </a:r>
            <a:endParaRPr lang="en-US" sz="1500" dirty="0"/>
          </a:p>
          <a:p>
            <a:pPr marL="342900" indent="-342900">
              <a:spcAft>
                <a:spcPts val="800"/>
              </a:spcAft>
              <a:buSzPct val="100000"/>
              <a:buChar char="•"/>
            </a:pPr>
            <a:r>
              <a:rPr lang="en-US" sz="1500" dirty="0">
                <a:solidFill>
                  <a:srgbClr val="374151"/>
                </a:solidFill>
                <a:latin typeface="Calibri" pitchFamily="34" charset="0"/>
                <a:ea typeface="Calibri" pitchFamily="34" charset="-122"/>
                <a:cs typeface="Calibri" pitchFamily="34" charset="-120"/>
              </a:rPr>
              <a:t>CI/CD QA and SRE guardrails improved reliability, velocity</a:t>
            </a:r>
            <a:endParaRPr lang="en-US" sz="1500" dirty="0"/>
          </a:p>
          <a:p>
            <a:pPr marL="342900" indent="-342900">
              <a:spcAft>
                <a:spcPts val="800"/>
              </a:spcAft>
              <a:buSzPct val="100000"/>
              <a:buChar char="•"/>
            </a:pPr>
            <a:r>
              <a:rPr lang="en-US" sz="1500" dirty="0">
                <a:solidFill>
                  <a:srgbClr val="374151"/>
                </a:solidFill>
                <a:latin typeface="Calibri" pitchFamily="34" charset="0"/>
                <a:ea typeface="Calibri" pitchFamily="34" charset="-122"/>
                <a:cs typeface="Calibri" pitchFamily="34" charset="-120"/>
              </a:rPr>
              <a:t>Production-grade MLOps accelerated predictive workforce analytics delivery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8090"/>
        </a:solidFill>
      </p:bgPr>
    </p:bg>
    <p:spTree>
      <p:nvGrpSpPr>
        <p:cNvPr id="1" name=""/>
        <p:cNvGrpSpPr/>
        <p:nvPr/>
      </p:nvGrpSpPr>
      <p:grpSpPr>
        <a:xfrm>
          <a:off x="0" y="0"/>
          <a:ext cx="0" cy="0"/>
          <a:chOff x="0" y="0"/>
          <a:chExt cx="0" cy="0"/>
        </a:xfrm>
      </p:grpSpPr>
      <p:sp>
        <p:nvSpPr>
          <p:cNvPr id="2" name="Text 0"/>
          <p:cNvSpPr/>
          <p:nvPr/>
        </p:nvSpPr>
        <p:spPr>
          <a:xfrm>
            <a:off x="548640" y="1645920"/>
            <a:ext cx="8046720" cy="1280160"/>
          </a:xfrm>
          <a:prstGeom prst="rect">
            <a:avLst/>
          </a:prstGeom>
          <a:noFill/>
          <a:ln/>
        </p:spPr>
        <p:txBody>
          <a:bodyPr wrap="square" lIns="0" tIns="0" rIns="0" bIns="0" rtlCol="0" anchor="ctr"/>
          <a:lstStyle/>
          <a:p>
            <a:pPr algn="l" indent="0" marL="0">
              <a:buNone/>
            </a:pPr>
            <a:r>
              <a:rPr lang="en-US" sz="3600" b="1" dirty="0">
                <a:solidFill>
                  <a:srgbClr val="FFFFFF"/>
                </a:solidFill>
                <a:latin typeface="Cambria" pitchFamily="34" charset="0"/>
                <a:ea typeface="Cambria" pitchFamily="34" charset="-122"/>
                <a:cs typeface="Cambria" pitchFamily="34" charset="-120"/>
              </a:rPr>
              <a:t>Execution Roadmap to Value</a:t>
            </a:r>
            <a:endParaRPr lang="en-US" sz="3600" dirty="0"/>
          </a:p>
        </p:txBody>
      </p:sp>
      <p:sp>
        <p:nvSpPr>
          <p:cNvPr id="3" name="Text 1"/>
          <p:cNvSpPr/>
          <p:nvPr/>
        </p:nvSpPr>
        <p:spPr>
          <a:xfrm>
            <a:off x="548640" y="3017520"/>
            <a:ext cx="6400800" cy="548640"/>
          </a:xfrm>
          <a:prstGeom prst="rect">
            <a:avLst/>
          </a:prstGeom>
          <a:noFill/>
          <a:ln/>
        </p:spPr>
        <p:txBody>
          <a:bodyPr wrap="square" lIns="0" tIns="0" rIns="0" bIns="0" rtlCol="0" anchor="ctr"/>
          <a:lstStyle/>
          <a:p>
            <a:pPr algn="l" indent="0" marL="0">
              <a:buNone/>
            </a:pPr>
            <a:r>
              <a:rPr lang="en-US" sz="1800" dirty="0">
                <a:solidFill>
                  <a:srgbClr val="00A896"/>
                </a:solidFill>
                <a:latin typeface="Calibri" pitchFamily="34" charset="0"/>
                <a:ea typeface="Calibri" pitchFamily="34" charset="-122"/>
                <a:cs typeface="Calibri" pitchFamily="34" charset="-120"/>
              </a:rPr>
              <a:t>AI/ML MLOps, QA, and SRE for UKG</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AFA"/>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2C39A"/>
          </a:solidFill>
          <a:ln/>
        </p:spPr>
      </p:sp>
      <p:sp>
        <p:nvSpPr>
          <p:cNvPr id="3" name="Text 1"/>
          <p:cNvSpPr/>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028090"/>
                </a:solidFill>
                <a:latin typeface="Cambria" pitchFamily="34" charset="0"/>
                <a:ea typeface="Cambria" pitchFamily="34" charset="-122"/>
                <a:cs typeface="Cambria" pitchFamily="34" charset="-120"/>
              </a:rPr>
              <a:t>Phased Rollout, Workstreams, Success Metrics</a:t>
            </a:r>
            <a:endParaRPr lang="en-US" sz="2800" dirty="0"/>
          </a:p>
        </p:txBody>
      </p:sp>
      <p:sp>
        <p:nvSpPr>
          <p:cNvPr id="4" name="Text 2"/>
          <p:cNvSpPr/>
          <p:nvPr/>
        </p:nvSpPr>
        <p:spPr>
          <a:xfrm>
            <a:off x="457200" y="1097280"/>
            <a:ext cx="4114800" cy="3200400"/>
          </a:xfrm>
          <a:prstGeom prst="rect">
            <a:avLst/>
          </a:prstGeom>
          <a:noFill/>
          <a:ln/>
        </p:spPr>
        <p:txBody>
          <a:bodyPr wrap="square" rtlCol="0" anchor="t"/>
          <a:lstStyle/>
          <a:p>
            <a:pPr marL="342900" indent="-342900">
              <a:spcAft>
                <a:spcPts val="800"/>
              </a:spcAft>
              <a:buSzPct val="100000"/>
              <a:buChar char="•"/>
            </a:pPr>
            <a:r>
              <a:rPr lang="en-US" sz="1600" dirty="0">
                <a:solidFill>
                  <a:srgbClr val="374151"/>
                </a:solidFill>
                <a:latin typeface="Calibri" pitchFamily="34" charset="0"/>
                <a:ea typeface="Calibri" pitchFamily="34" charset="-122"/>
                <a:cs typeface="Calibri" pitchFamily="34" charset="-120"/>
              </a:rPr>
              <a:t>Phases: 0-2w discovery; 3-8w pilots; 9-24w scale.</a:t>
            </a:r>
            <a:endParaRPr lang="en-US" sz="1600" dirty="0"/>
          </a:p>
          <a:p>
            <a:pPr marL="342900" indent="-342900">
              <a:spcAft>
                <a:spcPts val="800"/>
              </a:spcAft>
              <a:buSzPct val="100000"/>
              <a:buChar char="•"/>
            </a:pPr>
            <a:r>
              <a:rPr lang="en-US" sz="1600" dirty="0">
                <a:solidFill>
                  <a:srgbClr val="374151"/>
                </a:solidFill>
                <a:latin typeface="Calibri" pitchFamily="34" charset="0"/>
                <a:ea typeface="Calibri" pitchFamily="34" charset="-122"/>
                <a:cs typeface="Calibri" pitchFamily="34" charset="-120"/>
              </a:rPr>
              <a:t>Workstreams: MLOps, SRE, QE/Perf, Enablement; weekly OKRs per team.</a:t>
            </a:r>
            <a:endParaRPr lang="en-US" sz="1600" dirty="0"/>
          </a:p>
          <a:p>
            <a:pPr marL="342900" indent="-342900">
              <a:spcAft>
                <a:spcPts val="800"/>
              </a:spcAft>
              <a:buSzPct val="100000"/>
              <a:buChar char="•"/>
            </a:pPr>
            <a:r>
              <a:rPr lang="en-US" sz="1600" dirty="0">
                <a:solidFill>
                  <a:srgbClr val="374151"/>
                </a:solidFill>
                <a:latin typeface="Calibri" pitchFamily="34" charset="0"/>
                <a:ea typeface="Calibri" pitchFamily="34" charset="-122"/>
                <a:cs typeface="Calibri" pitchFamily="34" charset="-120"/>
              </a:rPr>
              <a:t>Metrics: model accuracy, latency p95, uptime, release velocity, defect escape.</a:t>
            </a:r>
            <a:endParaRPr lang="en-US" sz="1600" dirty="0"/>
          </a:p>
        </p:txBody>
      </p:sp>
      <p:sp>
        <p:nvSpPr>
          <p:cNvPr id="5" name="Shape 3"/>
          <p:cNvSpPr/>
          <p:nvPr/>
        </p:nvSpPr>
        <p:spPr>
          <a:xfrm>
            <a:off x="5029200" y="1097280"/>
            <a:ext cx="3657600" cy="2286000"/>
          </a:xfrm>
          <a:prstGeom prst="roundRect">
            <a:avLst/>
          </a:prstGeom>
          <a:solidFill>
            <a:srgbClr val="000000"/>
          </a:solidFill>
          <a:ln/>
          <a:effectLst>
            <a:outerShdw sx="100000" sy="100000" kx="0" ky="0" algn="bl" rotWithShape="0" blurRad="101600" dist="38100" dir="2700000">
              <a:srgbClr val="000000">
                <a:alpha val="10000"/>
              </a:srgbClr>
            </a:outerShdw>
          </a:effectLst>
        </p:spPr>
      </p:sp>
      <p:sp>
        <p:nvSpPr>
          <p:cNvPr id="6" name="Text 4"/>
          <p:cNvSpPr/>
          <p:nvPr/>
        </p:nvSpPr>
        <p:spPr>
          <a:xfrm>
            <a:off x="5029200" y="1371600"/>
            <a:ext cx="3657600" cy="1097280"/>
          </a:xfrm>
          <a:prstGeom prst="rect">
            <a:avLst/>
          </a:prstGeom>
          <a:noFill/>
          <a:ln/>
        </p:spPr>
        <p:txBody>
          <a:bodyPr wrap="square" lIns="0" tIns="0" rIns="0" bIns="0" rtlCol="0" anchor="ctr"/>
          <a:lstStyle/>
          <a:p>
            <a:pPr algn="ctr" indent="0" marL="0">
              <a:buNone/>
            </a:pPr>
            <a:r>
              <a:rPr lang="en-US" sz="6400" b="1" dirty="0">
                <a:solidFill>
                  <a:srgbClr val="02C39A"/>
                </a:solidFill>
                <a:latin typeface="Cambria" pitchFamily="34" charset="0"/>
                <a:ea typeface="Cambria" pitchFamily="34" charset="-122"/>
                <a:cs typeface="Cambria" pitchFamily="34" charset="-120"/>
              </a:rPr>
              <a:t>78%</a:t>
            </a:r>
            <a:endParaRPr lang="en-US" sz="6400" dirty="0"/>
          </a:p>
        </p:txBody>
      </p:sp>
      <p:sp>
        <p:nvSpPr>
          <p:cNvPr id="7" name="Text 5"/>
          <p:cNvSpPr/>
          <p:nvPr/>
        </p:nvSpPr>
        <p:spPr>
          <a:xfrm>
            <a:off x="5029200" y="2560320"/>
            <a:ext cx="3657600" cy="548640"/>
          </a:xfrm>
          <a:prstGeom prst="rect">
            <a:avLst/>
          </a:prstGeom>
          <a:noFill/>
          <a:ln/>
        </p:spPr>
        <p:txBody>
          <a:bodyPr wrap="square" lIns="0" tIns="0" rIns="0" bIns="0" rtlCol="0" anchor="ctr"/>
          <a:lstStyle/>
          <a:p>
            <a:pPr algn="ctr" indent="0" marL="0">
              <a:buNone/>
            </a:pPr>
            <a:r>
              <a:rPr lang="en-US" sz="1400" dirty="0">
                <a:solidFill>
                  <a:srgbClr val="374151"/>
                </a:solidFill>
                <a:latin typeface="Calibri" pitchFamily="34" charset="0"/>
                <a:ea typeface="Calibri" pitchFamily="34" charset="-122"/>
                <a:cs typeface="Calibri" pitchFamily="34" charset="-120"/>
              </a:rPr>
              <a:t>faster regression cycles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AFA"/>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rgbClr val="028090"/>
                </a:solidFill>
                <a:latin typeface="Cambria" pitchFamily="34" charset="0"/>
                <a:ea typeface="Cambria" pitchFamily="34" charset="-122"/>
                <a:cs typeface="Cambria" pitchFamily="34" charset="-120"/>
              </a:rPr>
              <a:t>Pricing Options Aligned to Outcomes and SLAs</a:t>
            </a:r>
            <a:endParaRPr lang="en-US" sz="3000" dirty="0"/>
          </a:p>
        </p:txBody>
      </p:sp>
      <p:sp>
        <p:nvSpPr>
          <p:cNvPr id="3" name="Text 1"/>
          <p:cNvSpPr/>
          <p:nvPr/>
        </p:nvSpPr>
        <p:spPr>
          <a:xfrm>
            <a:off x="457200" y="1005840"/>
            <a:ext cx="8229600" cy="457200"/>
          </a:xfrm>
          <a:prstGeom prst="rect">
            <a:avLst/>
          </a:prstGeom>
          <a:noFill/>
          <a:ln/>
        </p:spPr>
        <p:txBody>
          <a:bodyPr wrap="square" lIns="0" tIns="0" rIns="0" bIns="0" rtlCol="0" anchor="ctr"/>
          <a:lstStyle/>
          <a:p>
            <a:pPr algn="l" indent="0" marL="0">
              <a:buNone/>
            </a:pPr>
            <a:r>
              <a:rPr lang="en-US" sz="1600" i="1" dirty="0">
                <a:solidFill>
                  <a:srgbClr val="374151"/>
                </a:solidFill>
                <a:latin typeface="Calibri" pitchFamily="34" charset="0"/>
                <a:ea typeface="Calibri" pitchFamily="34" charset="-122"/>
                <a:cs typeface="Calibri" pitchFamily="34" charset="-120"/>
              </a:rPr>
              <a:t>Flexible tiers for UKG’s AI/MLOps and SRE goals</a:t>
            </a:r>
            <a:endParaRPr lang="en-US" sz="1600" dirty="0"/>
          </a:p>
        </p:txBody>
      </p:sp>
      <p:sp>
        <p:nvSpPr>
          <p:cNvPr id="4" name="Text 2"/>
          <p:cNvSpPr/>
          <p:nvPr/>
        </p:nvSpPr>
        <p:spPr>
          <a:xfrm>
            <a:off x="457200" y="1600200"/>
            <a:ext cx="8229600" cy="3200400"/>
          </a:xfrm>
          <a:prstGeom prst="rect">
            <a:avLst/>
          </a:prstGeom>
          <a:noFill/>
          <a:ln/>
        </p:spPr>
        <p:txBody>
          <a:bodyPr wrap="square" rtlCol="0" anchor="t"/>
          <a:lstStyle/>
          <a:p>
            <a:pPr marL="342900" indent="-342900">
              <a:spcAft>
                <a:spcPts val="1000"/>
              </a:spcAft>
              <a:buSzPct val="100000"/>
              <a:buChar char="•"/>
            </a:pPr>
            <a:r>
              <a:rPr lang="en-US" sz="1800" dirty="0">
                <a:solidFill>
                  <a:srgbClr val="374151"/>
                </a:solidFill>
                <a:latin typeface="Calibri" pitchFamily="34" charset="0"/>
                <a:ea typeface="Calibri" pitchFamily="34" charset="-122"/>
                <a:cs typeface="Calibri" pitchFamily="34" charset="-120"/>
              </a:rPr>
              <a:t>Core: 8–10 FTE for AI/MLOps and SRE enablement.</a:t>
            </a:r>
            <a:endParaRPr lang="en-US" sz="1800" dirty="0"/>
          </a:p>
          <a:p>
            <a:pPr marL="342900" indent="-342900">
              <a:spcAft>
                <a:spcPts val="1000"/>
              </a:spcAft>
              <a:buSzPct val="100000"/>
              <a:buChar char="•"/>
            </a:pPr>
            <a:r>
              <a:rPr lang="en-US" sz="1800" dirty="0">
                <a:solidFill>
                  <a:srgbClr val="374151"/>
                </a:solidFill>
                <a:latin typeface="Calibri" pitchFamily="34" charset="0"/>
                <a:ea typeface="Calibri" pitchFamily="34" charset="-122"/>
                <a:cs typeface="Calibri" pitchFamily="34" charset="-120"/>
              </a:rPr>
              <a:t>Plus: 12–15 FTE + managed QE, CI/CD-integrated testing.</a:t>
            </a:r>
            <a:endParaRPr lang="en-US" sz="1800" dirty="0"/>
          </a:p>
          <a:p>
            <a:pPr marL="342900" indent="-342900">
              <a:spcAft>
                <a:spcPts val="1000"/>
              </a:spcAft>
              <a:buSzPct val="100000"/>
              <a:buChar char="•"/>
            </a:pPr>
            <a:r>
              <a:rPr lang="en-US" sz="1800" dirty="0">
                <a:solidFill>
                  <a:srgbClr val="374151"/>
                </a:solidFill>
                <a:latin typeface="Calibri" pitchFamily="34" charset="0"/>
                <a:ea typeface="Calibri" pitchFamily="34" charset="-122"/>
                <a:cs typeface="Calibri" pitchFamily="34" charset="-120"/>
              </a:rPr>
              <a:t>Managed Service: outcomes-based SRE, MLOps, and automation at scale.</a:t>
            </a:r>
            <a:endParaRPr lang="en-US" sz="1800" dirty="0"/>
          </a:p>
          <a:p>
            <a:pPr marL="342900" indent="-342900">
              <a:spcAft>
                <a:spcPts val="1000"/>
              </a:spcAft>
              <a:buSzPct val="100000"/>
              <a:buChar char="•"/>
            </a:pPr>
            <a:r>
              <a:rPr lang="en-US" sz="1800" dirty="0">
                <a:solidFill>
                  <a:srgbClr val="374151"/>
                </a:solidFill>
                <a:latin typeface="Calibri" pitchFamily="34" charset="0"/>
                <a:ea typeface="Calibri" pitchFamily="34" charset="-122"/>
                <a:cs typeface="Calibri" pitchFamily="34" charset="-120"/>
              </a:rPr>
              <a:t>Final pricing post-workshop; SLAs on quality, reliability, latency.</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28090"/>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Commit to AI MLOps, Kickoff in 2 Weeks</a:t>
            </a:r>
            <a:endParaRPr lang="en-US" sz="3000" dirty="0"/>
          </a:p>
        </p:txBody>
      </p:sp>
      <p:sp>
        <p:nvSpPr>
          <p:cNvPr id="3" name="Text 1"/>
          <p:cNvSpPr/>
          <p:nvPr/>
        </p:nvSpPr>
        <p:spPr>
          <a:xfrm>
            <a:off x="457200" y="1188720"/>
            <a:ext cx="8229600" cy="3200400"/>
          </a:xfrm>
          <a:prstGeom prst="rect">
            <a:avLst/>
          </a:prstGeom>
          <a:noFill/>
          <a:ln/>
        </p:spPr>
        <p:txBody>
          <a:bodyPr wrap="square" rtlCol="0" anchor="t"/>
          <a:lstStyle/>
          <a:p>
            <a:pPr marL="342900" indent="-342900">
              <a:spcAft>
                <a:spcPts val="1000"/>
              </a:spcAft>
              <a:buSzPct val="100000"/>
              <a:buChar char="•"/>
            </a:pPr>
            <a:r>
              <a:rPr lang="en-US" sz="1800" dirty="0">
                <a:solidFill>
                  <a:srgbClr val="E8EDF5"/>
                </a:solidFill>
                <a:latin typeface="Calibri" pitchFamily="34" charset="0"/>
                <a:ea typeface="Calibri" pitchFamily="34" charset="-122"/>
                <a:cs typeface="Calibri" pitchFamily="34" charset="-120"/>
              </a:rPr>
              <a:t>Schedule 2-hour technical scoping workshop next week.</a:t>
            </a:r>
            <a:endParaRPr lang="en-US" sz="1800" dirty="0"/>
          </a:p>
          <a:p>
            <a:pPr marL="342900" indent="-342900">
              <a:spcAft>
                <a:spcPts val="1000"/>
              </a:spcAft>
              <a:buSzPct val="100000"/>
              <a:buChar char="•"/>
            </a:pPr>
            <a:r>
              <a:rPr lang="en-US" sz="1800" dirty="0">
                <a:solidFill>
                  <a:srgbClr val="E8EDF5"/>
                </a:solidFill>
                <a:latin typeface="Calibri" pitchFamily="34" charset="0"/>
                <a:ea typeface="Calibri" pitchFamily="34" charset="-122"/>
                <a:cs typeface="Calibri" pitchFamily="34" charset="-120"/>
              </a:rPr>
              <a:t>Confirm decision owners and approval timeline.</a:t>
            </a:r>
            <a:endParaRPr lang="en-US" sz="1800" dirty="0"/>
          </a:p>
          <a:p>
            <a:pPr marL="342900" indent="-342900">
              <a:spcAft>
                <a:spcPts val="1000"/>
              </a:spcAft>
              <a:buSzPct val="100000"/>
              <a:buChar char="•"/>
            </a:pPr>
            <a:r>
              <a:rPr lang="en-US" sz="1800" dirty="0">
                <a:solidFill>
                  <a:srgbClr val="E8EDF5"/>
                </a:solidFill>
                <a:latin typeface="Calibri" pitchFamily="34" charset="0"/>
                <a:ea typeface="Calibri" pitchFamily="34" charset="-122"/>
                <a:cs typeface="Calibri" pitchFamily="34" charset="-120"/>
              </a:rPr>
              <a:t>Finalize scope, milestones, and kickoff date.</a:t>
            </a:r>
            <a:endParaRPr lang="en-US" sz="1800" dirty="0"/>
          </a:p>
          <a:p>
            <a:pPr marL="342900" indent="-342900">
              <a:spcAft>
                <a:spcPts val="1000"/>
              </a:spcAft>
              <a:buSzPct val="100000"/>
              <a:buChar char="•"/>
            </a:pPr>
            <a:r>
              <a:rPr lang="en-US" sz="1800" dirty="0">
                <a:solidFill>
                  <a:srgbClr val="E8EDF5"/>
                </a:solidFill>
                <a:latin typeface="Calibri" pitchFamily="34" charset="0"/>
                <a:ea typeface="Calibri" pitchFamily="34" charset="-122"/>
                <a:cs typeface="Calibri" pitchFamily="34" charset="-120"/>
              </a:rPr>
              <a:t>Mobilize delivery team within two weeks.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UKG AI + MLOps Acceleration Proposal</dc:title>
  <dc:subject>PptxGenJS Presentation</dc:subject>
  <dc:creator>Sales Brain PPT Builder</dc:creator>
  <cp:lastModifiedBy>Sales Brain PPT Builder</cp:lastModifiedBy>
  <cp:revision>1</cp:revision>
  <dcterms:created xsi:type="dcterms:W3CDTF">2026-06-18T12:52:34Z</dcterms:created>
  <dcterms:modified xsi:type="dcterms:W3CDTF">2026-06-18T12:52:34Z</dcterms:modified>
</cp:coreProperties>
</file>